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We are [group name/members], and our proposed capstone project is BarberBook PH, an online appointment and haircut preference system for local barbershops. In the next few minutes we will show you the problem we observed, what the system will do, the theories behind it, what other studies have done, and how we plan to build and evaluate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problems we observed. [Share one real story from your interview here.] Notice that the third problem, explaining the haircut, is the one most booking systems ignore. That will be our main selling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DataReportal and the DTI. The point is simple: customers are ready for online booking, and barbershops are micro enterprises that need something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BarberBook PH. It is web-based, so it opens in any phone browser with no download. The four key features are the time slot booking, the style gallery, saved preferences, and the owner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six research questions. Questions 1 and 2 are answered by the interview, observation, and survey. Question 3 becomes our feature list. Question 4 is answered by the developed system. Questions 5 and 6 come from the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the feature list directly from the problems. If a panelist asks why a feature exists, we can point to the problem it 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box in one sentence. TAM by Davis 1989: usefulness and ease of use. DeLone and McLean 2003: quality leads to use, satisfaction, and benefits. Maister 1985: uncertain waits feel longer. ISO/IEC 25010: the basis of our evaluation questionnaire.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is what we need: knowledge, software, and hardware. Process is Agile development in three sprints, then evaluation. Output is the system and its acceptability results. The feedback arrow means user comments go back into improving the system after every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screens. Emphasize screen 3: the saved haircut preferences. Also mention that taken slots on screen 4 are hidden automatically, which prevents double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Chapter 2 has 46 references. The foreign studies show barbershops in Indonesia and Malaysia already face the same problems. The local studies show that online reservation systems are well accepted by Filipino users when evaluated with ISO 25010.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contribution. Existing systems handle the schedule. We also handle the haircut itself, through the gallery and saved preferences, which the literature shows is important for customer satisfaction and loyalty in personal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Delimitations protect the study. If asked why there is no online payment: most local barbershops still collect cash, a payment gateway adds fees and security requirements, and our focus is waiting, scheduling, and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Agile because the owner will likely have new requests after seeing the first version. The gold dots are the three development sprints. All tools are free, which keeps the system affordable for a micro enterprise.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evaluation instrument is adapted from ISO/IEC 25010. Respondents rate each item from 1 to 4. We compute the weighted mean per criterion and interpret it using this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like the adviser's guidance on the final title. Option 1 is our recommendation because it already matches our research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open the floor. Refer to the "Questions Your Panel Will Probably Ask" section of the group guide to prepare.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slideLayout" Target="../slideLayouts/slideLayout1.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slideLayout" Target="../slideLayouts/slideLayout1.xml"/><Relationship Id="rId1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A17"/>
        </a:solidFill>
      </p:bgPr>
    </p:bg>
    <p:spTree>
      <p:nvGrpSpPr>
        <p:cNvPr id="1" name=""/>
        <p:cNvGrpSpPr/>
        <p:nvPr/>
      </p:nvGrpSpPr>
      <p:grpSpPr>
        <a:xfrm>
          <a:off x="0" y="0"/>
          <a:ext cx="0" cy="0"/>
          <a:chOff x="0" y="0"/>
          <a:chExt cx="0" cy="0"/>
        </a:xfrm>
      </p:grpSpPr>
      <p:pic>
        <p:nvPicPr>
          <p:cNvPr id="2" name="Image 0" descr="img/hero.jpg">    </p:cNvPr>
          <p:cNvPicPr>
            <a:picLocks noChangeAspect="1"/>
          </p:cNvPicPr>
          <p:nvPr/>
        </p:nvPicPr>
        <p:blipFill>
          <a:blip r:embed="rId1"/>
          <a:stretch>
            <a:fillRect/>
          </a:stretch>
        </p:blipFill>
        <p:spPr>
          <a:xfrm>
            <a:off x="5806440" y="320040"/>
            <a:ext cx="6217920" cy="6217920"/>
          </a:xfrm>
          <a:prstGeom prst="rect">
            <a:avLst/>
          </a:prstGeom>
        </p:spPr>
      </p:pic>
      <p:sp>
        <p:nvSpPr>
          <p:cNvPr id="3" name="Text 0"/>
          <p:cNvSpPr txBox="1"/>
          <p:nvPr/>
        </p:nvSpPr>
        <p:spPr>
          <a:xfrm>
            <a:off x="548640" y="822960"/>
            <a:ext cx="5486400" cy="36576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CAPSTONE PROJECT PROPOSAL  |  PRELIMINARY PRESENTATION</a:t>
            </a:r>
            <a:endParaRPr lang="en-US" sz="1200" dirty="0"/>
          </a:p>
        </p:txBody>
      </p:sp>
      <p:sp>
        <p:nvSpPr>
          <p:cNvPr id="4" name="Text 1"/>
          <p:cNvSpPr txBox="1"/>
          <p:nvPr/>
        </p:nvSpPr>
        <p:spPr>
          <a:xfrm>
            <a:off x="548640" y="1325880"/>
            <a:ext cx="5486400" cy="100584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BarberBook PH</a:t>
            </a:r>
            <a:endParaRPr lang="en-US" sz="5600" dirty="0"/>
          </a:p>
        </p:txBody>
      </p:sp>
      <p:sp>
        <p:nvSpPr>
          <p:cNvPr id="5" name="Text 2"/>
          <p:cNvSpPr txBox="1"/>
          <p:nvPr/>
        </p:nvSpPr>
        <p:spPr>
          <a:xfrm>
            <a:off x="548640" y="2377440"/>
            <a:ext cx="5120640" cy="1005840"/>
          </a:xfrm>
          <a:prstGeom prst="rect">
            <a:avLst/>
          </a:prstGeom>
          <a:noFill/>
          <a:ln/>
        </p:spPr>
        <p:txBody>
          <a:bodyPr wrap="square" lIns="0" tIns="0" rIns="0" bIns="0" rtlCol="0" anchor="ctr"/>
          <a:lstStyle/>
          <a:p>
            <a:pPr indent="0" marL="0">
              <a:buNone/>
            </a:pPr>
            <a:r>
              <a:rPr lang="en-US" sz="2200" dirty="0">
                <a:solidFill>
                  <a:srgbClr val="F3E7D9"/>
                </a:solidFill>
                <a:latin typeface="Calibri" pitchFamily="34" charset="0"/>
                <a:ea typeface="Calibri" pitchFamily="34" charset="-122"/>
                <a:cs typeface="Calibri" pitchFamily="34" charset="-120"/>
              </a:rPr>
              <a:t>An Online Appointment and Haircut Preference System for Local Barbershops</a:t>
            </a:r>
            <a:endParaRPr lang="en-US" sz="2200" dirty="0"/>
          </a:p>
        </p:txBody>
      </p:sp>
      <p:sp>
        <p:nvSpPr>
          <p:cNvPr id="6" name="Text 3"/>
          <p:cNvSpPr txBox="1"/>
          <p:nvPr/>
        </p:nvSpPr>
        <p:spPr>
          <a:xfrm>
            <a:off x="548640" y="3794760"/>
            <a:ext cx="5120640" cy="2377440"/>
          </a:xfrm>
          <a:prstGeom prst="rect">
            <a:avLst/>
          </a:prstGeom>
          <a:noFill/>
          <a:ln/>
        </p:spPr>
        <p:txBody>
          <a:bodyPr wrap="square" lIns="0" tIns="0" rIns="0" bIns="0" rtlCol="0" anchor="t"/>
          <a:lstStyle/>
          <a:p>
            <a:pPr indent="0" marL="0">
              <a:buNone/>
            </a:pPr>
            <a:r>
              <a:rPr lang="en-US" sz="1400" b="1" dirty="0">
                <a:solidFill>
                  <a:srgbClr val="C9A227"/>
                </a:solidFill>
                <a:latin typeface="Calibri" pitchFamily="34" charset="0"/>
                <a:ea typeface="Calibri" pitchFamily="34" charset="-122"/>
                <a:cs typeface="Calibri" pitchFamily="34" charset="-120"/>
              </a:rPr>
              <a:t>Proponents</a:t>
            </a:r>
            <a:endParaRPr lang="en-US" sz="1400" dirty="0"/>
          </a:p>
          <a:p>
            <a:pPr indent="0" marL="0">
              <a:buNone/>
            </a:pPr>
            <a:r>
              <a:rPr lang="en-US" sz="1400" dirty="0">
                <a:solidFill>
                  <a:srgbClr val="1B1A17"/>
                </a:solidFill>
                <a:highlight>
                  <a:srgbClr val="FFFF00"/>
                </a:highlight>
                <a:latin typeface="Calibri" pitchFamily="34" charset="0"/>
                <a:ea typeface="Calibri" pitchFamily="34" charset="-122"/>
                <a:cs typeface="Calibri" pitchFamily="34" charset="-120"/>
              </a:rPr>
              <a:t>[Member 1]  ·  [Member 2]  ·  [Member 3]  ·  [Member 4]</a:t>
            </a:r>
            <a:endParaRPr lang="en-US" sz="1400" dirty="0"/>
          </a:p>
          <a:p>
            <a:pPr indent="0" marL="0">
              <a:buNone/>
            </a:pPr>
            <a:r>
              <a:rPr lang="en-US" sz="800" dirty="0">
                <a:solidFill>
                  <a:srgbClr val="FFFFFF"/>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C9A227"/>
                </a:solidFill>
                <a:latin typeface="Calibri" pitchFamily="34" charset="0"/>
                <a:ea typeface="Calibri" pitchFamily="34" charset="-122"/>
                <a:cs typeface="Calibri" pitchFamily="34" charset="-120"/>
              </a:rPr>
              <a:t>Adviser</a:t>
            </a:r>
            <a:endParaRPr lang="en-US" sz="1400" dirty="0"/>
          </a:p>
          <a:p>
            <a:pPr indent="0" marL="0">
              <a:buNone/>
            </a:pPr>
            <a:r>
              <a:rPr lang="en-US" sz="1400" dirty="0">
                <a:solidFill>
                  <a:srgbClr val="1B1A17"/>
                </a:solidFill>
                <a:highlight>
                  <a:srgbClr val="FFFF00"/>
                </a:highlight>
                <a:latin typeface="Calibri" pitchFamily="34" charset="0"/>
                <a:ea typeface="Calibri" pitchFamily="34" charset="-122"/>
                <a:cs typeface="Calibri" pitchFamily="34" charset="-120"/>
              </a:rPr>
              <a:t>[Name of Adviser]</a:t>
            </a:r>
            <a:endParaRPr lang="en-US" sz="1400" dirty="0"/>
          </a:p>
          <a:p>
            <a:pPr indent="0" marL="0">
              <a:buNone/>
            </a:pPr>
            <a:r>
              <a:rPr lang="en-US" sz="800" dirty="0">
                <a:solidFill>
                  <a:srgbClr val="FFFFFF"/>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1B1A17"/>
                </a:solidFill>
                <a:highlight>
                  <a:srgbClr val="FFFF00"/>
                </a:highlight>
                <a:latin typeface="Calibri" pitchFamily="34" charset="0"/>
                <a:ea typeface="Calibri" pitchFamily="34" charset="-122"/>
                <a:cs typeface="Calibri" pitchFamily="34" charset="-120"/>
              </a:rPr>
              <a:t>[College / Department], [Name of School]</a:t>
            </a:r>
            <a:endParaRPr lang="en-US" sz="1400" dirty="0"/>
          </a:p>
          <a:p>
            <a:pPr indent="0" marL="0">
              <a:buNone/>
            </a:pPr>
            <a:r>
              <a:rPr lang="en-US" sz="1400" dirty="0">
                <a:solidFill>
                  <a:srgbClr val="B9B2A6"/>
                </a:solidFill>
                <a:latin typeface="Calibri" pitchFamily="34" charset="0"/>
                <a:ea typeface="Calibri" pitchFamily="34" charset="-122"/>
                <a:cs typeface="Calibri" pitchFamily="34" charset="-120"/>
              </a:rPr>
              <a:t>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B1A17"/>
                </a:solidFill>
                <a:latin typeface="Cambria" pitchFamily="34" charset="0"/>
                <a:ea typeface="Cambria" pitchFamily="34" charset="-122"/>
                <a:cs typeface="Cambria" pitchFamily="34" charset="-120"/>
              </a:rPr>
              <a:t>The problem we saw at the barbershop</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F6A60"/>
                </a:solidFill>
                <a:latin typeface="Calibri" pitchFamily="34" charset="0"/>
                <a:ea typeface="Calibri" pitchFamily="34" charset="-122"/>
                <a:cs typeface="Calibri" pitchFamily="34" charset="-120"/>
              </a:rPr>
              <a:t>Walk-ins, chat reservations, and a notebook are still the "system" in most local shops</a:t>
            </a:r>
            <a:endParaRPr lang="en-US" sz="1600" dirty="0"/>
          </a:p>
        </p:txBody>
      </p:sp>
      <p:pic>
        <p:nvPicPr>
          <p:cNvPr id="4" name="Image 0" descr="img/waiting.png">    </p:cNvPr>
          <p:cNvPicPr>
            <a:picLocks noChangeAspect="1"/>
          </p:cNvPicPr>
          <p:nvPr/>
        </p:nvPicPr>
        <p:blipFill>
          <a:blip r:embed="rId1"/>
          <a:stretch>
            <a:fillRect/>
          </a:stretch>
        </p:blipFill>
        <p:spPr>
          <a:xfrm>
            <a:off x="548640" y="1783080"/>
            <a:ext cx="5577840" cy="3569818"/>
          </a:xfrm>
          <a:prstGeom prst="rect">
            <a:avLst/>
          </a:prstGeom>
        </p:spPr>
      </p:pic>
      <p:sp>
        <p:nvSpPr>
          <p:cNvPr id="5" name="Shape 2"/>
          <p:cNvSpPr/>
          <p:nvPr/>
        </p:nvSpPr>
        <p:spPr>
          <a:xfrm>
            <a:off x="6492240" y="1691640"/>
            <a:ext cx="566928" cy="566928"/>
          </a:xfrm>
          <a:prstGeom prst="ellipse">
            <a:avLst/>
          </a:prstGeom>
          <a:solidFill>
            <a:srgbClr val="8A5A2B"/>
          </a:solidFill>
          <a:ln w="12700">
            <a:solidFill>
              <a:srgbClr val="8A5A2B"/>
            </a:solidFill>
            <a:prstDash val="solid"/>
          </a:ln>
        </p:spPr>
      </p:sp>
      <p:pic>
        <p:nvPicPr>
          <p:cNvPr id="6" name="Image 1" descr="preencoded.png">    </p:cNvPr>
          <p:cNvPicPr>
            <a:picLocks noChangeAspect="1"/>
          </p:cNvPicPr>
          <p:nvPr/>
        </p:nvPicPr>
        <p:blipFill>
          <a:blip r:embed="rId2"/>
          <a:stretch>
            <a:fillRect/>
          </a:stretch>
        </p:blipFill>
        <p:spPr>
          <a:xfrm>
            <a:off x="6633972" y="1833372"/>
            <a:ext cx="283464" cy="283464"/>
          </a:xfrm>
          <a:prstGeom prst="rect">
            <a:avLst/>
          </a:prstGeom>
        </p:spPr>
      </p:pic>
      <p:sp>
        <p:nvSpPr>
          <p:cNvPr id="7" name="Text 3"/>
          <p:cNvSpPr txBox="1"/>
          <p:nvPr/>
        </p:nvSpPr>
        <p:spPr>
          <a:xfrm>
            <a:off x="7223760" y="1618488"/>
            <a:ext cx="4480560" cy="822960"/>
          </a:xfrm>
          <a:prstGeom prst="rect">
            <a:avLst/>
          </a:prstGeom>
          <a:noFill/>
          <a:ln/>
        </p:spPr>
        <p:txBody>
          <a:bodyPr wrap="square" lIns="0" tIns="0" rIns="0" bIns="0" rtlCol="0" anchor="t"/>
          <a:lstStyle/>
          <a:p>
            <a:pPr indent="0" marL="0">
              <a:buNone/>
            </a:pPr>
            <a:r>
              <a:rPr lang="en-US" sz="1600" b="1" dirty="0">
                <a:solidFill>
                  <a:srgbClr val="1B1A17"/>
                </a:solidFill>
                <a:latin typeface="Calibri" pitchFamily="34" charset="0"/>
                <a:ea typeface="Calibri" pitchFamily="34" charset="-122"/>
                <a:cs typeface="Calibri" pitchFamily="34" charset="-120"/>
              </a:rPr>
              <a:t>Long, uncertain waiting</a:t>
            </a:r>
            <a:endParaRPr lang="en-US" sz="1600" dirty="0"/>
          </a:p>
          <a:p>
            <a:pPr indent="0" marL="0">
              <a:buNone/>
            </a:pPr>
            <a:r>
              <a:rPr lang="en-US" sz="1250" dirty="0">
                <a:solidFill>
                  <a:srgbClr val="6F6A60"/>
                </a:solidFill>
                <a:latin typeface="Calibri" pitchFamily="34" charset="0"/>
                <a:ea typeface="Calibri" pitchFamily="34" charset="-122"/>
                <a:cs typeface="Calibri" pitchFamily="34" charset="-120"/>
              </a:rPr>
              <a:t>1 to 2 hours on weekends, paydays, and before school events or fiestas.</a:t>
            </a:r>
            <a:endParaRPr lang="en-US" sz="1600" dirty="0"/>
          </a:p>
        </p:txBody>
      </p:sp>
      <p:sp>
        <p:nvSpPr>
          <p:cNvPr id="8" name="Shape 4"/>
          <p:cNvSpPr/>
          <p:nvPr/>
        </p:nvSpPr>
        <p:spPr>
          <a:xfrm>
            <a:off x="6492240" y="2587752"/>
            <a:ext cx="566928" cy="566928"/>
          </a:xfrm>
          <a:prstGeom prst="ellipse">
            <a:avLst/>
          </a:prstGeom>
          <a:solidFill>
            <a:srgbClr val="8A5A2B"/>
          </a:solidFill>
          <a:ln w="12700">
            <a:solidFill>
              <a:srgbClr val="8A5A2B"/>
            </a:solidFill>
            <a:prstDash val="solid"/>
          </a:ln>
        </p:spPr>
      </p:sp>
      <p:pic>
        <p:nvPicPr>
          <p:cNvPr id="9" name="Image 2" descr="preencoded.png">    </p:cNvPr>
          <p:cNvPicPr>
            <a:picLocks noChangeAspect="1"/>
          </p:cNvPicPr>
          <p:nvPr/>
        </p:nvPicPr>
        <p:blipFill>
          <a:blip r:embed="rId3"/>
          <a:stretch>
            <a:fillRect/>
          </a:stretch>
        </p:blipFill>
        <p:spPr>
          <a:xfrm>
            <a:off x="6633972" y="2729484"/>
            <a:ext cx="283464" cy="283464"/>
          </a:xfrm>
          <a:prstGeom prst="rect">
            <a:avLst/>
          </a:prstGeom>
        </p:spPr>
      </p:pic>
      <p:sp>
        <p:nvSpPr>
          <p:cNvPr id="10" name="Text 5"/>
          <p:cNvSpPr txBox="1"/>
          <p:nvPr/>
        </p:nvSpPr>
        <p:spPr>
          <a:xfrm>
            <a:off x="7223760" y="2514600"/>
            <a:ext cx="4480560" cy="822960"/>
          </a:xfrm>
          <a:prstGeom prst="rect">
            <a:avLst/>
          </a:prstGeom>
          <a:noFill/>
          <a:ln/>
        </p:spPr>
        <p:txBody>
          <a:bodyPr wrap="square" lIns="0" tIns="0" rIns="0" bIns="0" rtlCol="0" anchor="t"/>
          <a:lstStyle/>
          <a:p>
            <a:pPr indent="0" marL="0">
              <a:buNone/>
            </a:pPr>
            <a:r>
              <a:rPr lang="en-US" sz="1600" b="1" dirty="0">
                <a:solidFill>
                  <a:srgbClr val="1B1A17"/>
                </a:solidFill>
                <a:latin typeface="Calibri" pitchFamily="34" charset="0"/>
                <a:ea typeface="Calibri" pitchFamily="34" charset="-122"/>
                <a:cs typeface="Calibri" pitchFamily="34" charset="-120"/>
              </a:rPr>
              <a:t>Overlapping reservations</a:t>
            </a:r>
            <a:endParaRPr lang="en-US" sz="1600" dirty="0"/>
          </a:p>
          <a:p>
            <a:pPr indent="0" marL="0">
              <a:buNone/>
            </a:pPr>
            <a:r>
              <a:rPr lang="en-US" sz="1250" dirty="0">
                <a:solidFill>
                  <a:srgbClr val="6F6A60"/>
                </a:solidFill>
                <a:latin typeface="Calibri" pitchFamily="34" charset="0"/>
                <a:ea typeface="Calibri" pitchFamily="34" charset="-122"/>
                <a:cs typeface="Calibri" pitchFamily="34" charset="-120"/>
              </a:rPr>
              <a:t>Bookings through Messenger or text get buried, and two customers end up in the same slot.</a:t>
            </a:r>
            <a:endParaRPr lang="en-US" sz="1600" dirty="0"/>
          </a:p>
        </p:txBody>
      </p:sp>
      <p:sp>
        <p:nvSpPr>
          <p:cNvPr id="11" name="Shape 6"/>
          <p:cNvSpPr/>
          <p:nvPr/>
        </p:nvSpPr>
        <p:spPr>
          <a:xfrm>
            <a:off x="6492240" y="3483864"/>
            <a:ext cx="566928" cy="566928"/>
          </a:xfrm>
          <a:prstGeom prst="ellipse">
            <a:avLst/>
          </a:prstGeom>
          <a:solidFill>
            <a:srgbClr val="8A5A2B"/>
          </a:solidFill>
          <a:ln w="12700">
            <a:solidFill>
              <a:srgbClr val="8A5A2B"/>
            </a:solidFill>
            <a:prstDash val="solid"/>
          </a:ln>
        </p:spPr>
      </p:sp>
      <p:pic>
        <p:nvPicPr>
          <p:cNvPr id="12" name="Image 3" descr="preencoded.png">    </p:cNvPr>
          <p:cNvPicPr>
            <a:picLocks noChangeAspect="1"/>
          </p:cNvPicPr>
          <p:nvPr/>
        </p:nvPicPr>
        <p:blipFill>
          <a:blip r:embed="rId4"/>
          <a:stretch>
            <a:fillRect/>
          </a:stretch>
        </p:blipFill>
        <p:spPr>
          <a:xfrm>
            <a:off x="6633972" y="3625596"/>
            <a:ext cx="283464" cy="283464"/>
          </a:xfrm>
          <a:prstGeom prst="rect">
            <a:avLst/>
          </a:prstGeom>
        </p:spPr>
      </p:pic>
      <p:sp>
        <p:nvSpPr>
          <p:cNvPr id="13" name="Text 7"/>
          <p:cNvSpPr txBox="1"/>
          <p:nvPr/>
        </p:nvSpPr>
        <p:spPr>
          <a:xfrm>
            <a:off x="7223760" y="3410712"/>
            <a:ext cx="4480560" cy="822960"/>
          </a:xfrm>
          <a:prstGeom prst="rect">
            <a:avLst/>
          </a:prstGeom>
          <a:noFill/>
          <a:ln/>
        </p:spPr>
        <p:txBody>
          <a:bodyPr wrap="square" lIns="0" tIns="0" rIns="0" bIns="0" rtlCol="0" anchor="t"/>
          <a:lstStyle/>
          <a:p>
            <a:pPr indent="0" marL="0">
              <a:buNone/>
            </a:pPr>
            <a:r>
              <a:rPr lang="en-US" sz="1600" b="1" dirty="0">
                <a:solidFill>
                  <a:srgbClr val="1B1A17"/>
                </a:solidFill>
                <a:latin typeface="Calibri" pitchFamily="34" charset="0"/>
                <a:ea typeface="Calibri" pitchFamily="34" charset="-122"/>
                <a:cs typeface="Calibri" pitchFamily="34" charset="-120"/>
              </a:rPr>
              <a:t>Hard to explain the haircut</a:t>
            </a:r>
            <a:endParaRPr lang="en-US" sz="1600" dirty="0"/>
          </a:p>
          <a:p>
            <a:pPr indent="0" marL="0">
              <a:buNone/>
            </a:pPr>
            <a:r>
              <a:rPr lang="en-US" sz="1250" dirty="0">
                <a:solidFill>
                  <a:srgbClr val="6F6A60"/>
                </a:solidFill>
                <a:latin typeface="Calibri" pitchFamily="34" charset="0"/>
                <a:ea typeface="Calibri" pitchFamily="34" charset="-122"/>
                <a:cs typeface="Calibri" pitchFamily="34" charset="-120"/>
              </a:rPr>
              <a:t>"Semi-kalbo," "short on the sides," "yung dati lang po." Nothing is written down.</a:t>
            </a:r>
            <a:endParaRPr lang="en-US" sz="1600" dirty="0"/>
          </a:p>
        </p:txBody>
      </p:sp>
      <p:sp>
        <p:nvSpPr>
          <p:cNvPr id="14" name="Shape 8"/>
          <p:cNvSpPr/>
          <p:nvPr/>
        </p:nvSpPr>
        <p:spPr>
          <a:xfrm>
            <a:off x="6492240" y="4379976"/>
            <a:ext cx="566928" cy="566928"/>
          </a:xfrm>
          <a:prstGeom prst="ellipse">
            <a:avLst/>
          </a:prstGeom>
          <a:solidFill>
            <a:srgbClr val="8A5A2B"/>
          </a:solidFill>
          <a:ln w="12700">
            <a:solidFill>
              <a:srgbClr val="8A5A2B"/>
            </a:solidFill>
            <a:prstDash val="solid"/>
          </a:ln>
        </p:spPr>
      </p:sp>
      <p:pic>
        <p:nvPicPr>
          <p:cNvPr id="15" name="Image 4" descr="preencoded.png">    </p:cNvPr>
          <p:cNvPicPr>
            <a:picLocks noChangeAspect="1"/>
          </p:cNvPicPr>
          <p:nvPr/>
        </p:nvPicPr>
        <p:blipFill>
          <a:blip r:embed="rId5"/>
          <a:stretch>
            <a:fillRect/>
          </a:stretch>
        </p:blipFill>
        <p:spPr>
          <a:xfrm>
            <a:off x="6633972" y="4521708"/>
            <a:ext cx="283464" cy="283464"/>
          </a:xfrm>
          <a:prstGeom prst="rect">
            <a:avLst/>
          </a:prstGeom>
        </p:spPr>
      </p:pic>
      <p:sp>
        <p:nvSpPr>
          <p:cNvPr id="16" name="Text 9"/>
          <p:cNvSpPr txBox="1"/>
          <p:nvPr/>
        </p:nvSpPr>
        <p:spPr>
          <a:xfrm>
            <a:off x="7223760" y="4306824"/>
            <a:ext cx="4480560" cy="822960"/>
          </a:xfrm>
          <a:prstGeom prst="rect">
            <a:avLst/>
          </a:prstGeom>
          <a:noFill/>
          <a:ln/>
        </p:spPr>
        <p:txBody>
          <a:bodyPr wrap="square" lIns="0" tIns="0" rIns="0" bIns="0" rtlCol="0" anchor="t"/>
          <a:lstStyle/>
          <a:p>
            <a:pPr indent="0" marL="0">
              <a:buNone/>
            </a:pPr>
            <a:r>
              <a:rPr lang="en-US" sz="1600" b="1" dirty="0">
                <a:solidFill>
                  <a:srgbClr val="1B1A17"/>
                </a:solidFill>
                <a:latin typeface="Calibri" pitchFamily="34" charset="0"/>
                <a:ea typeface="Calibri" pitchFamily="34" charset="-122"/>
                <a:cs typeface="Calibri" pitchFamily="34" charset="-120"/>
              </a:rPr>
              <a:t>Forgotten appointments</a:t>
            </a:r>
            <a:endParaRPr lang="en-US" sz="1600" dirty="0"/>
          </a:p>
          <a:p>
            <a:pPr indent="0" marL="0">
              <a:buNone/>
            </a:pPr>
            <a:r>
              <a:rPr lang="en-US" sz="1250" dirty="0">
                <a:solidFill>
                  <a:srgbClr val="6F6A60"/>
                </a:solidFill>
                <a:latin typeface="Calibri" pitchFamily="34" charset="0"/>
                <a:ea typeface="Calibri" pitchFamily="34" charset="-122"/>
                <a:cs typeface="Calibri" pitchFamily="34" charset="-120"/>
              </a:rPr>
              <a:t>No confirmation or reminder, so reserved slots go to waste.</a:t>
            </a:r>
            <a:endParaRPr lang="en-US" sz="1600" dirty="0"/>
          </a:p>
        </p:txBody>
      </p:sp>
      <p:sp>
        <p:nvSpPr>
          <p:cNvPr id="17" name="Shape 10"/>
          <p:cNvSpPr/>
          <p:nvPr/>
        </p:nvSpPr>
        <p:spPr>
          <a:xfrm>
            <a:off x="6492240" y="5276088"/>
            <a:ext cx="566928" cy="566928"/>
          </a:xfrm>
          <a:prstGeom prst="ellipse">
            <a:avLst/>
          </a:prstGeom>
          <a:solidFill>
            <a:srgbClr val="8A5A2B"/>
          </a:solidFill>
          <a:ln w="12700">
            <a:solidFill>
              <a:srgbClr val="8A5A2B"/>
            </a:solidFill>
            <a:prstDash val="solid"/>
          </a:ln>
        </p:spPr>
      </p:sp>
      <p:pic>
        <p:nvPicPr>
          <p:cNvPr id="18" name="Image 5" descr="preencoded.png">    </p:cNvPr>
          <p:cNvPicPr>
            <a:picLocks noChangeAspect="1"/>
          </p:cNvPicPr>
          <p:nvPr/>
        </p:nvPicPr>
        <p:blipFill>
          <a:blip r:embed="rId6"/>
          <a:stretch>
            <a:fillRect/>
          </a:stretch>
        </p:blipFill>
        <p:spPr>
          <a:xfrm>
            <a:off x="6633972" y="5417820"/>
            <a:ext cx="283464" cy="283464"/>
          </a:xfrm>
          <a:prstGeom prst="rect">
            <a:avLst/>
          </a:prstGeom>
        </p:spPr>
      </p:pic>
      <p:sp>
        <p:nvSpPr>
          <p:cNvPr id="19" name="Text 11"/>
          <p:cNvSpPr txBox="1"/>
          <p:nvPr/>
        </p:nvSpPr>
        <p:spPr>
          <a:xfrm>
            <a:off x="7223760" y="5202936"/>
            <a:ext cx="4480560" cy="822960"/>
          </a:xfrm>
          <a:prstGeom prst="rect">
            <a:avLst/>
          </a:prstGeom>
          <a:noFill/>
          <a:ln/>
        </p:spPr>
        <p:txBody>
          <a:bodyPr wrap="square" lIns="0" tIns="0" rIns="0" bIns="0" rtlCol="0" anchor="t"/>
          <a:lstStyle/>
          <a:p>
            <a:pPr indent="0" marL="0">
              <a:buNone/>
            </a:pPr>
            <a:r>
              <a:rPr lang="en-US" sz="1600" b="1" dirty="0">
                <a:solidFill>
                  <a:srgbClr val="1B1A17"/>
                </a:solidFill>
                <a:latin typeface="Calibri" pitchFamily="34" charset="0"/>
                <a:ea typeface="Calibri" pitchFamily="34" charset="-122"/>
                <a:cs typeface="Calibri" pitchFamily="34" charset="-120"/>
              </a:rPr>
              <a:t>No organized customer records</a:t>
            </a:r>
            <a:endParaRPr lang="en-US" sz="1600" dirty="0"/>
          </a:p>
          <a:p>
            <a:pPr indent="0" marL="0">
              <a:buNone/>
            </a:pPr>
            <a:r>
              <a:rPr lang="en-US" sz="1250" dirty="0">
                <a:solidFill>
                  <a:srgbClr val="6F6A60"/>
                </a:solidFill>
                <a:latin typeface="Calibri" pitchFamily="34" charset="0"/>
                <a:ea typeface="Calibri" pitchFamily="34" charset="-122"/>
                <a:cs typeface="Calibri" pitchFamily="34" charset="-120"/>
              </a:rPr>
              <a:t>The owner can't easily see weekly customers, regulars, or the most requested barber.</a:t>
            </a:r>
            <a:endParaRPr lang="en-US" sz="1600" dirty="0"/>
          </a:p>
        </p:txBody>
      </p:sp>
      <p:sp>
        <p:nvSpPr>
          <p:cNvPr id="20" name="Text 12"/>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000" i="1" dirty="0">
                <a:solidFill>
                  <a:srgbClr val="6F6A60"/>
                </a:solidFill>
                <a:latin typeface="Calibri" pitchFamily="34" charset="0"/>
                <a:ea typeface="Calibri" pitchFamily="34" charset="-122"/>
                <a:cs typeface="Calibri" pitchFamily="34" charset="-120"/>
              </a:rPr>
              <a:t>Based on the proponents' initial observation. Replace the waiting-time figure with your actual interview data from the partner barbershop.</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B1A17"/>
                </a:solidFill>
                <a:latin typeface="Cambria" pitchFamily="34" charset="0"/>
                <a:ea typeface="Cambria" pitchFamily="34" charset="-122"/>
                <a:cs typeface="Cambria" pitchFamily="34" charset="-120"/>
              </a:rPr>
              <a:t>Why this matters now</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F6A60"/>
                </a:solidFill>
                <a:latin typeface="Calibri" pitchFamily="34" charset="0"/>
                <a:ea typeface="Calibri" pitchFamily="34" charset="-122"/>
                <a:cs typeface="Calibri" pitchFamily="34" charset="-120"/>
              </a:rPr>
              <a:t>Customers are already online, and barbershops are part of the MSME backbone</a:t>
            </a:r>
            <a:endParaRPr lang="en-US" sz="1600" dirty="0"/>
          </a:p>
        </p:txBody>
      </p:sp>
      <p:sp>
        <p:nvSpPr>
          <p:cNvPr id="4" name="Shape 2"/>
          <p:cNvSpPr/>
          <p:nvPr/>
        </p:nvSpPr>
        <p:spPr>
          <a:xfrm>
            <a:off x="548640" y="1783080"/>
            <a:ext cx="2606040" cy="2926080"/>
          </a:xfrm>
          <a:prstGeom prst="roundRect">
            <a:avLst>
              <a:gd name="adj" fmla="val 4211"/>
            </a:avLst>
          </a:prstGeom>
          <a:solidFill>
            <a:srgbClr val="1B1A17"/>
          </a:solidFill>
          <a:ln w="12700">
            <a:solidFill>
              <a:srgbClr val="1B1A17"/>
            </a:solidFill>
            <a:prstDash val="solid"/>
          </a:ln>
        </p:spPr>
      </p:sp>
      <p:sp>
        <p:nvSpPr>
          <p:cNvPr id="5" name="Text 3"/>
          <p:cNvSpPr txBox="1"/>
          <p:nvPr/>
        </p:nvSpPr>
        <p:spPr>
          <a:xfrm>
            <a:off x="777240" y="2011680"/>
            <a:ext cx="2194560" cy="914400"/>
          </a:xfrm>
          <a:prstGeom prst="rect">
            <a:avLst/>
          </a:prstGeom>
          <a:noFill/>
          <a:ln/>
        </p:spPr>
        <p:txBody>
          <a:bodyPr wrap="square" lIns="0" tIns="0" rIns="0" bIns="0" rtlCol="0" anchor="ctr"/>
          <a:lstStyle/>
          <a:p>
            <a:pPr indent="0" marL="0">
              <a:buNone/>
            </a:pPr>
            <a:r>
              <a:rPr lang="en-US" sz="4400" b="1" dirty="0">
                <a:solidFill>
                  <a:srgbClr val="C9A227"/>
                </a:solidFill>
                <a:latin typeface="Cambria" pitchFamily="34" charset="0"/>
                <a:ea typeface="Cambria" pitchFamily="34" charset="-122"/>
                <a:cs typeface="Cambria" pitchFamily="34" charset="-120"/>
              </a:rPr>
              <a:t>98M</a:t>
            </a:r>
            <a:endParaRPr lang="en-US" sz="4400" dirty="0"/>
          </a:p>
        </p:txBody>
      </p:sp>
      <p:sp>
        <p:nvSpPr>
          <p:cNvPr id="6" name="Text 4"/>
          <p:cNvSpPr txBox="1"/>
          <p:nvPr/>
        </p:nvSpPr>
        <p:spPr>
          <a:xfrm>
            <a:off x="777240" y="2971800"/>
            <a:ext cx="2194560" cy="7315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internet users in the Philippines</a:t>
            </a:r>
            <a:endParaRPr lang="en-US" sz="1500" dirty="0"/>
          </a:p>
        </p:txBody>
      </p:sp>
      <p:sp>
        <p:nvSpPr>
          <p:cNvPr id="7" name="Text 5"/>
          <p:cNvSpPr txBox="1"/>
          <p:nvPr/>
        </p:nvSpPr>
        <p:spPr>
          <a:xfrm>
            <a:off x="777240" y="3703320"/>
            <a:ext cx="2194560" cy="548640"/>
          </a:xfrm>
          <a:prstGeom prst="rect">
            <a:avLst/>
          </a:prstGeom>
          <a:noFill/>
          <a:ln/>
        </p:spPr>
        <p:txBody>
          <a:bodyPr wrap="square" lIns="0" tIns="0" rIns="0" bIns="0" rtlCol="0" anchor="t"/>
          <a:lstStyle/>
          <a:p>
            <a:pPr indent="0" marL="0">
              <a:buNone/>
            </a:pPr>
            <a:r>
              <a:rPr lang="en-US" sz="1200" dirty="0">
                <a:solidFill>
                  <a:srgbClr val="D9D2C6"/>
                </a:solidFill>
                <a:latin typeface="Calibri" pitchFamily="34" charset="0"/>
                <a:ea typeface="Calibri" pitchFamily="34" charset="-122"/>
                <a:cs typeface="Calibri" pitchFamily="34" charset="-120"/>
              </a:rPr>
              <a:t>83.8% of the population</a:t>
            </a:r>
            <a:endParaRPr lang="en-US" sz="1200" dirty="0"/>
          </a:p>
        </p:txBody>
      </p:sp>
      <p:sp>
        <p:nvSpPr>
          <p:cNvPr id="8" name="Text 6"/>
          <p:cNvSpPr txBox="1"/>
          <p:nvPr/>
        </p:nvSpPr>
        <p:spPr>
          <a:xfrm>
            <a:off x="777240" y="4297680"/>
            <a:ext cx="2194560" cy="274320"/>
          </a:xfrm>
          <a:prstGeom prst="rect">
            <a:avLst/>
          </a:prstGeom>
          <a:noFill/>
          <a:ln/>
        </p:spPr>
        <p:txBody>
          <a:bodyPr wrap="square" lIns="0" tIns="0" rIns="0" bIns="0" rtlCol="0" anchor="ctr"/>
          <a:lstStyle/>
          <a:p>
            <a:pPr indent="0" marL="0">
              <a:buNone/>
            </a:pPr>
            <a:r>
              <a:rPr lang="en-US" sz="1000" i="1" dirty="0">
                <a:solidFill>
                  <a:srgbClr val="B9B2A6"/>
                </a:solidFill>
                <a:latin typeface="Calibri" pitchFamily="34" charset="0"/>
                <a:ea typeface="Calibri" pitchFamily="34" charset="-122"/>
                <a:cs typeface="Calibri" pitchFamily="34" charset="-120"/>
              </a:rPr>
              <a:t>Kemp (2026)</a:t>
            </a:r>
            <a:endParaRPr lang="en-US" sz="1000" dirty="0"/>
          </a:p>
        </p:txBody>
      </p:sp>
      <p:sp>
        <p:nvSpPr>
          <p:cNvPr id="9" name="Shape 7"/>
          <p:cNvSpPr/>
          <p:nvPr/>
        </p:nvSpPr>
        <p:spPr>
          <a:xfrm>
            <a:off x="3364992" y="1783080"/>
            <a:ext cx="2606040" cy="2926080"/>
          </a:xfrm>
          <a:prstGeom prst="roundRect">
            <a:avLst>
              <a:gd name="adj" fmla="val 4211"/>
            </a:avLst>
          </a:prstGeom>
          <a:solidFill>
            <a:srgbClr val="1B1A17"/>
          </a:solidFill>
          <a:ln w="12700">
            <a:solidFill>
              <a:srgbClr val="1B1A17"/>
            </a:solidFill>
            <a:prstDash val="solid"/>
          </a:ln>
        </p:spPr>
      </p:sp>
      <p:sp>
        <p:nvSpPr>
          <p:cNvPr id="10" name="Text 8"/>
          <p:cNvSpPr txBox="1"/>
          <p:nvPr/>
        </p:nvSpPr>
        <p:spPr>
          <a:xfrm>
            <a:off x="3593592" y="2011680"/>
            <a:ext cx="2194560" cy="914400"/>
          </a:xfrm>
          <a:prstGeom prst="rect">
            <a:avLst/>
          </a:prstGeom>
          <a:noFill/>
          <a:ln/>
        </p:spPr>
        <p:txBody>
          <a:bodyPr wrap="square" lIns="0" tIns="0" rIns="0" bIns="0" rtlCol="0" anchor="ctr"/>
          <a:lstStyle/>
          <a:p>
            <a:pPr indent="0" marL="0">
              <a:buNone/>
            </a:pPr>
            <a:r>
              <a:rPr lang="en-US" sz="4400" b="1" dirty="0">
                <a:solidFill>
                  <a:srgbClr val="C9A227"/>
                </a:solidFill>
                <a:latin typeface="Cambria" pitchFamily="34" charset="0"/>
                <a:ea typeface="Cambria" pitchFamily="34" charset="-122"/>
                <a:cs typeface="Cambria" pitchFamily="34" charset="-120"/>
              </a:rPr>
              <a:t>137M</a:t>
            </a:r>
            <a:endParaRPr lang="en-US" sz="4400" dirty="0"/>
          </a:p>
        </p:txBody>
      </p:sp>
      <p:sp>
        <p:nvSpPr>
          <p:cNvPr id="11" name="Text 9"/>
          <p:cNvSpPr txBox="1"/>
          <p:nvPr/>
        </p:nvSpPr>
        <p:spPr>
          <a:xfrm>
            <a:off x="3593592" y="2971800"/>
            <a:ext cx="2194560" cy="7315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cellular mobile connections</a:t>
            </a:r>
            <a:endParaRPr lang="en-US" sz="1500" dirty="0"/>
          </a:p>
        </p:txBody>
      </p:sp>
      <p:sp>
        <p:nvSpPr>
          <p:cNvPr id="12" name="Text 10"/>
          <p:cNvSpPr txBox="1"/>
          <p:nvPr/>
        </p:nvSpPr>
        <p:spPr>
          <a:xfrm>
            <a:off x="3593592" y="3703320"/>
            <a:ext cx="2194560" cy="548640"/>
          </a:xfrm>
          <a:prstGeom prst="rect">
            <a:avLst/>
          </a:prstGeom>
          <a:noFill/>
          <a:ln/>
        </p:spPr>
        <p:txBody>
          <a:bodyPr wrap="square" lIns="0" tIns="0" rIns="0" bIns="0" rtlCol="0" anchor="t"/>
          <a:lstStyle/>
          <a:p>
            <a:pPr indent="0" marL="0">
              <a:buNone/>
            </a:pPr>
            <a:r>
              <a:rPr lang="en-US" sz="1200" dirty="0">
                <a:solidFill>
                  <a:srgbClr val="D9D2C6"/>
                </a:solidFill>
                <a:latin typeface="Calibri" pitchFamily="34" charset="0"/>
                <a:ea typeface="Calibri" pitchFamily="34" charset="-122"/>
                <a:cs typeface="Calibri" pitchFamily="34" charset="-120"/>
              </a:rPr>
              <a:t>more connections than people</a:t>
            </a:r>
            <a:endParaRPr lang="en-US" sz="1200" dirty="0"/>
          </a:p>
        </p:txBody>
      </p:sp>
      <p:sp>
        <p:nvSpPr>
          <p:cNvPr id="13" name="Text 11"/>
          <p:cNvSpPr txBox="1"/>
          <p:nvPr/>
        </p:nvSpPr>
        <p:spPr>
          <a:xfrm>
            <a:off x="3593592" y="4297680"/>
            <a:ext cx="2194560" cy="274320"/>
          </a:xfrm>
          <a:prstGeom prst="rect">
            <a:avLst/>
          </a:prstGeom>
          <a:noFill/>
          <a:ln/>
        </p:spPr>
        <p:txBody>
          <a:bodyPr wrap="square" lIns="0" tIns="0" rIns="0" bIns="0" rtlCol="0" anchor="ctr"/>
          <a:lstStyle/>
          <a:p>
            <a:pPr indent="0" marL="0">
              <a:buNone/>
            </a:pPr>
            <a:r>
              <a:rPr lang="en-US" sz="1000" i="1" dirty="0">
                <a:solidFill>
                  <a:srgbClr val="B9B2A6"/>
                </a:solidFill>
                <a:latin typeface="Calibri" pitchFamily="34" charset="0"/>
                <a:ea typeface="Calibri" pitchFamily="34" charset="-122"/>
                <a:cs typeface="Calibri" pitchFamily="34" charset="-120"/>
              </a:rPr>
              <a:t>Kemp (2026)</a:t>
            </a:r>
            <a:endParaRPr lang="en-US" sz="1000" dirty="0"/>
          </a:p>
        </p:txBody>
      </p:sp>
      <p:sp>
        <p:nvSpPr>
          <p:cNvPr id="14" name="Shape 12"/>
          <p:cNvSpPr/>
          <p:nvPr/>
        </p:nvSpPr>
        <p:spPr>
          <a:xfrm>
            <a:off x="6181344" y="1783080"/>
            <a:ext cx="2606040" cy="2926080"/>
          </a:xfrm>
          <a:prstGeom prst="roundRect">
            <a:avLst>
              <a:gd name="adj" fmla="val 4211"/>
            </a:avLst>
          </a:prstGeom>
          <a:solidFill>
            <a:srgbClr val="F3E7D9"/>
          </a:solidFill>
          <a:ln w="12700">
            <a:solidFill>
              <a:srgbClr val="F3E7D9"/>
            </a:solidFill>
            <a:prstDash val="solid"/>
          </a:ln>
        </p:spPr>
      </p:sp>
      <p:sp>
        <p:nvSpPr>
          <p:cNvPr id="15" name="Text 13"/>
          <p:cNvSpPr txBox="1"/>
          <p:nvPr/>
        </p:nvSpPr>
        <p:spPr>
          <a:xfrm>
            <a:off x="6409944" y="2011680"/>
            <a:ext cx="2194560" cy="914400"/>
          </a:xfrm>
          <a:prstGeom prst="rect">
            <a:avLst/>
          </a:prstGeom>
          <a:noFill/>
          <a:ln/>
        </p:spPr>
        <p:txBody>
          <a:bodyPr wrap="square" lIns="0" tIns="0" rIns="0" bIns="0" rtlCol="0" anchor="ctr"/>
          <a:lstStyle/>
          <a:p>
            <a:pPr indent="0" marL="0">
              <a:buNone/>
            </a:pPr>
            <a:r>
              <a:rPr lang="en-US" sz="4400" b="1" dirty="0">
                <a:solidFill>
                  <a:srgbClr val="8A5A2B"/>
                </a:solidFill>
                <a:latin typeface="Cambria" pitchFamily="34" charset="0"/>
                <a:ea typeface="Cambria" pitchFamily="34" charset="-122"/>
                <a:cs typeface="Cambria" pitchFamily="34" charset="-120"/>
              </a:rPr>
              <a:t>99.63%</a:t>
            </a:r>
            <a:endParaRPr lang="en-US" sz="4400" dirty="0"/>
          </a:p>
        </p:txBody>
      </p:sp>
      <p:sp>
        <p:nvSpPr>
          <p:cNvPr id="16" name="Text 14"/>
          <p:cNvSpPr txBox="1"/>
          <p:nvPr/>
        </p:nvSpPr>
        <p:spPr>
          <a:xfrm>
            <a:off x="6409944" y="2971800"/>
            <a:ext cx="2194560" cy="731520"/>
          </a:xfrm>
          <a:prstGeom prst="rect">
            <a:avLst/>
          </a:prstGeom>
          <a:noFill/>
          <a:ln/>
        </p:spPr>
        <p:txBody>
          <a:bodyPr wrap="square" lIns="0" tIns="0" rIns="0" bIns="0" rtlCol="0" anchor="t"/>
          <a:lstStyle/>
          <a:p>
            <a:pPr indent="0" marL="0">
              <a:buNone/>
            </a:pPr>
            <a:r>
              <a:rPr lang="en-US" sz="1500" b="1" dirty="0">
                <a:solidFill>
                  <a:srgbClr val="1B1A17"/>
                </a:solidFill>
                <a:latin typeface="Calibri" pitchFamily="34" charset="0"/>
                <a:ea typeface="Calibri" pitchFamily="34" charset="-122"/>
                <a:cs typeface="Calibri" pitchFamily="34" charset="-120"/>
              </a:rPr>
              <a:t>of Philippine businesses are MSMEs</a:t>
            </a:r>
            <a:endParaRPr lang="en-US" sz="1500" dirty="0"/>
          </a:p>
        </p:txBody>
      </p:sp>
      <p:sp>
        <p:nvSpPr>
          <p:cNvPr id="17" name="Text 15"/>
          <p:cNvSpPr txBox="1"/>
          <p:nvPr/>
        </p:nvSpPr>
        <p:spPr>
          <a:xfrm>
            <a:off x="6409944" y="3703320"/>
            <a:ext cx="2194560" cy="548640"/>
          </a:xfrm>
          <a:prstGeom prst="rect">
            <a:avLst/>
          </a:prstGeom>
          <a:noFill/>
          <a:ln/>
        </p:spPr>
        <p:txBody>
          <a:bodyPr wrap="square" lIns="0" tIns="0" rIns="0" bIns="0" rtlCol="0" anchor="t"/>
          <a:lstStyle/>
          <a:p>
            <a:pPr indent="0" marL="0">
              <a:buNone/>
            </a:pPr>
            <a:r>
              <a:rPr lang="en-US" sz="1200" dirty="0">
                <a:solidFill>
                  <a:srgbClr val="6F6A60"/>
                </a:solidFill>
                <a:latin typeface="Calibri" pitchFamily="34" charset="0"/>
                <a:ea typeface="Calibri" pitchFamily="34" charset="-122"/>
                <a:cs typeface="Calibri" pitchFamily="34" charset="-120"/>
              </a:rPr>
              <a:t>1,241,733 of 1,246,373 enterprises (2023)</a:t>
            </a:r>
            <a:endParaRPr lang="en-US" sz="1200" dirty="0"/>
          </a:p>
        </p:txBody>
      </p:sp>
      <p:sp>
        <p:nvSpPr>
          <p:cNvPr id="18" name="Text 16"/>
          <p:cNvSpPr txBox="1"/>
          <p:nvPr/>
        </p:nvSpPr>
        <p:spPr>
          <a:xfrm>
            <a:off x="6409944" y="4297680"/>
            <a:ext cx="2194560" cy="274320"/>
          </a:xfrm>
          <a:prstGeom prst="rect">
            <a:avLst/>
          </a:prstGeom>
          <a:noFill/>
          <a:ln/>
        </p:spPr>
        <p:txBody>
          <a:bodyPr wrap="square" lIns="0" tIns="0" rIns="0" bIns="0" rtlCol="0" anchor="ctr"/>
          <a:lstStyle/>
          <a:p>
            <a:pPr indent="0" marL="0">
              <a:buNone/>
            </a:pPr>
            <a:r>
              <a:rPr lang="en-US" sz="1000" i="1" dirty="0">
                <a:solidFill>
                  <a:srgbClr val="6F6A60"/>
                </a:solidFill>
                <a:latin typeface="Calibri" pitchFamily="34" charset="0"/>
                <a:ea typeface="Calibri" pitchFamily="34" charset="-122"/>
                <a:cs typeface="Calibri" pitchFamily="34" charset="-120"/>
              </a:rPr>
              <a:t>DTI (n.d.)</a:t>
            </a:r>
            <a:endParaRPr lang="en-US" sz="1000" dirty="0"/>
          </a:p>
        </p:txBody>
      </p:sp>
      <p:sp>
        <p:nvSpPr>
          <p:cNvPr id="19" name="Shape 17"/>
          <p:cNvSpPr/>
          <p:nvPr/>
        </p:nvSpPr>
        <p:spPr>
          <a:xfrm>
            <a:off x="8997696" y="1783080"/>
            <a:ext cx="2606040" cy="2926080"/>
          </a:xfrm>
          <a:prstGeom prst="roundRect">
            <a:avLst>
              <a:gd name="adj" fmla="val 4211"/>
            </a:avLst>
          </a:prstGeom>
          <a:solidFill>
            <a:srgbClr val="F3E7D9"/>
          </a:solidFill>
          <a:ln w="12700">
            <a:solidFill>
              <a:srgbClr val="F3E7D9"/>
            </a:solidFill>
            <a:prstDash val="solid"/>
          </a:ln>
        </p:spPr>
      </p:sp>
      <p:sp>
        <p:nvSpPr>
          <p:cNvPr id="20" name="Text 18"/>
          <p:cNvSpPr txBox="1"/>
          <p:nvPr/>
        </p:nvSpPr>
        <p:spPr>
          <a:xfrm>
            <a:off x="9226296" y="2011680"/>
            <a:ext cx="2194560" cy="914400"/>
          </a:xfrm>
          <a:prstGeom prst="rect">
            <a:avLst/>
          </a:prstGeom>
          <a:noFill/>
          <a:ln/>
        </p:spPr>
        <p:txBody>
          <a:bodyPr wrap="square" lIns="0" tIns="0" rIns="0" bIns="0" rtlCol="0" anchor="ctr"/>
          <a:lstStyle/>
          <a:p>
            <a:pPr indent="0" marL="0">
              <a:buNone/>
            </a:pPr>
            <a:r>
              <a:rPr lang="en-US" sz="4400" b="1" dirty="0">
                <a:solidFill>
                  <a:srgbClr val="8A5A2B"/>
                </a:solidFill>
                <a:latin typeface="Cambria" pitchFamily="34" charset="0"/>
                <a:ea typeface="Cambria" pitchFamily="34" charset="-122"/>
                <a:cs typeface="Cambria" pitchFamily="34" charset="-120"/>
              </a:rPr>
              <a:t>90.43%</a:t>
            </a:r>
            <a:endParaRPr lang="en-US" sz="4400" dirty="0"/>
          </a:p>
        </p:txBody>
      </p:sp>
      <p:sp>
        <p:nvSpPr>
          <p:cNvPr id="21" name="Text 19"/>
          <p:cNvSpPr txBox="1"/>
          <p:nvPr/>
        </p:nvSpPr>
        <p:spPr>
          <a:xfrm>
            <a:off x="9226296" y="2971800"/>
            <a:ext cx="2194560" cy="731520"/>
          </a:xfrm>
          <a:prstGeom prst="rect">
            <a:avLst/>
          </a:prstGeom>
          <a:noFill/>
          <a:ln/>
        </p:spPr>
        <p:txBody>
          <a:bodyPr wrap="square" lIns="0" tIns="0" rIns="0" bIns="0" rtlCol="0" anchor="t"/>
          <a:lstStyle/>
          <a:p>
            <a:pPr indent="0" marL="0">
              <a:buNone/>
            </a:pPr>
            <a:r>
              <a:rPr lang="en-US" sz="1500" b="1" dirty="0">
                <a:solidFill>
                  <a:srgbClr val="1B1A17"/>
                </a:solidFill>
                <a:latin typeface="Calibri" pitchFamily="34" charset="0"/>
                <a:ea typeface="Calibri" pitchFamily="34" charset="-122"/>
                <a:cs typeface="Calibri" pitchFamily="34" charset="-120"/>
              </a:rPr>
              <a:t>are micro enterprises</a:t>
            </a:r>
            <a:endParaRPr lang="en-US" sz="1500" dirty="0"/>
          </a:p>
        </p:txBody>
      </p:sp>
      <p:sp>
        <p:nvSpPr>
          <p:cNvPr id="22" name="Text 20"/>
          <p:cNvSpPr txBox="1"/>
          <p:nvPr/>
        </p:nvSpPr>
        <p:spPr>
          <a:xfrm>
            <a:off x="9226296" y="3703320"/>
            <a:ext cx="2194560" cy="548640"/>
          </a:xfrm>
          <a:prstGeom prst="rect">
            <a:avLst/>
          </a:prstGeom>
          <a:noFill/>
          <a:ln/>
        </p:spPr>
        <p:txBody>
          <a:bodyPr wrap="square" lIns="0" tIns="0" rIns="0" bIns="0" rtlCol="0" anchor="t"/>
          <a:lstStyle/>
          <a:p>
            <a:pPr indent="0" marL="0">
              <a:buNone/>
            </a:pPr>
            <a:r>
              <a:rPr lang="en-US" sz="1200" dirty="0">
                <a:solidFill>
                  <a:srgbClr val="6F6A60"/>
                </a:solidFill>
                <a:latin typeface="Calibri" pitchFamily="34" charset="0"/>
                <a:ea typeface="Calibri" pitchFamily="34" charset="-122"/>
                <a:cs typeface="Calibri" pitchFamily="34" charset="-120"/>
              </a:rPr>
              <a:t>small budgets, little room for paid software</a:t>
            </a:r>
            <a:endParaRPr lang="en-US" sz="1200" dirty="0"/>
          </a:p>
        </p:txBody>
      </p:sp>
      <p:sp>
        <p:nvSpPr>
          <p:cNvPr id="23" name="Text 21"/>
          <p:cNvSpPr txBox="1"/>
          <p:nvPr/>
        </p:nvSpPr>
        <p:spPr>
          <a:xfrm>
            <a:off x="9226296" y="4297680"/>
            <a:ext cx="2194560" cy="274320"/>
          </a:xfrm>
          <a:prstGeom prst="rect">
            <a:avLst/>
          </a:prstGeom>
          <a:noFill/>
          <a:ln/>
        </p:spPr>
        <p:txBody>
          <a:bodyPr wrap="square" lIns="0" tIns="0" rIns="0" bIns="0" rtlCol="0" anchor="ctr"/>
          <a:lstStyle/>
          <a:p>
            <a:pPr indent="0" marL="0">
              <a:buNone/>
            </a:pPr>
            <a:r>
              <a:rPr lang="en-US" sz="1000" i="1" dirty="0">
                <a:solidFill>
                  <a:srgbClr val="6F6A60"/>
                </a:solidFill>
                <a:latin typeface="Calibri" pitchFamily="34" charset="0"/>
                <a:ea typeface="Calibri" pitchFamily="34" charset="-122"/>
                <a:cs typeface="Calibri" pitchFamily="34" charset="-120"/>
              </a:rPr>
              <a:t>DTI (n.d.)</a:t>
            </a:r>
            <a:endParaRPr lang="en-US" sz="1000" dirty="0"/>
          </a:p>
        </p:txBody>
      </p:sp>
      <p:sp>
        <p:nvSpPr>
          <p:cNvPr id="24" name="Text 22"/>
          <p:cNvSpPr txBox="1"/>
          <p:nvPr/>
        </p:nvSpPr>
        <p:spPr>
          <a:xfrm>
            <a:off x="548640" y="5029200"/>
            <a:ext cx="11064240" cy="822960"/>
          </a:xfrm>
          <a:prstGeom prst="rect">
            <a:avLst/>
          </a:prstGeom>
          <a:noFill/>
          <a:ln/>
        </p:spPr>
        <p:txBody>
          <a:bodyPr wrap="square" lIns="0" tIns="0" rIns="0" bIns="0" rtlCol="0" anchor="ctr"/>
          <a:lstStyle/>
          <a:p>
            <a:pPr indent="0" marL="0">
              <a:buNone/>
            </a:pPr>
            <a:r>
              <a:rPr lang="en-US" sz="1700" b="1" dirty="0">
                <a:solidFill>
                  <a:srgbClr val="8A5A2B"/>
                </a:solidFill>
                <a:latin typeface="Calibri" pitchFamily="34" charset="0"/>
                <a:ea typeface="Calibri" pitchFamily="34" charset="-122"/>
                <a:cs typeface="Calibri" pitchFamily="34" charset="-120"/>
              </a:rPr>
              <a:t>So what? </a:t>
            </a:r>
            <a:pPr indent="0" marL="0">
              <a:buNone/>
            </a:pPr>
            <a:r>
              <a:rPr lang="en-US" sz="1700" dirty="0">
                <a:solidFill>
                  <a:srgbClr val="1B1A17"/>
                </a:solidFill>
                <a:latin typeface="Calibri" pitchFamily="34" charset="0"/>
                <a:ea typeface="Calibri" pitchFamily="34" charset="-122"/>
                <a:cs typeface="Calibri" pitchFamily="34" charset="-120"/>
              </a:rPr>
              <a:t>Filipino customers already book rides, food, and bills on their phones. A free, web-based booking tool built for small barbershops fits both the customer's habits and the owner's budget.</a:t>
            </a:r>
            <a:endParaRPr lang="en-US" sz="1700" dirty="0"/>
          </a:p>
        </p:txBody>
      </p:sp>
      <p:sp>
        <p:nvSpPr>
          <p:cNvPr id="25" name="Text 23"/>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000" i="1" dirty="0">
                <a:solidFill>
                  <a:srgbClr val="6F6A60"/>
                </a:solidFill>
                <a:latin typeface="Calibri" pitchFamily="34" charset="0"/>
                <a:ea typeface="Calibri" pitchFamily="34" charset="-122"/>
                <a:cs typeface="Calibri" pitchFamily="34" charset="-120"/>
              </a:rPr>
              <a:t>Sources: Kemp, S. (2026). Digital 2026: The Philippines. DataReportal. | Department of Trade and Industry. (n.d.). 2023 Philippine MSME statistics.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B1A17"/>
                </a:solidFill>
                <a:latin typeface="Cambria" pitchFamily="34" charset="0"/>
                <a:ea typeface="Cambria" pitchFamily="34" charset="-122"/>
                <a:cs typeface="Cambria" pitchFamily="34" charset="-120"/>
              </a:rPr>
              <a:t>Introducing BarberBook PH</a:t>
            </a:r>
            <a:endParaRPr lang="en-US" sz="3400" dirty="0"/>
          </a:p>
        </p:txBody>
      </p:sp>
      <p:sp>
        <p:nvSpPr>
          <p:cNvPr id="3" name="Text 1"/>
          <p:cNvSpPr txBox="1"/>
          <p:nvPr/>
        </p:nvSpPr>
        <p:spPr>
          <a:xfrm>
            <a:off x="548640" y="1234440"/>
            <a:ext cx="4846320" cy="1188720"/>
          </a:xfrm>
          <a:prstGeom prst="rect">
            <a:avLst/>
          </a:prstGeom>
          <a:noFill/>
          <a:ln/>
        </p:spPr>
        <p:txBody>
          <a:bodyPr wrap="square" lIns="0" tIns="0" rIns="0" bIns="0" rtlCol="0" anchor="t"/>
          <a:lstStyle/>
          <a:p>
            <a:pPr indent="0" marL="0">
              <a:buNone/>
            </a:pPr>
            <a:r>
              <a:rPr lang="en-US" sz="1800" dirty="0">
                <a:solidFill>
                  <a:srgbClr val="1B1A17"/>
                </a:solidFill>
                <a:latin typeface="Calibri" pitchFamily="34" charset="0"/>
                <a:ea typeface="Calibri" pitchFamily="34" charset="-122"/>
                <a:cs typeface="Calibri" pitchFamily="34" charset="-120"/>
              </a:rPr>
              <a:t>A mobile-friendly website where customers book a slot, pick their barber, and save exactly how they want their hair cut, before they even arrive.</a:t>
            </a:r>
            <a:endParaRPr lang="en-US" sz="1800" dirty="0"/>
          </a:p>
        </p:txBody>
      </p:sp>
      <p:sp>
        <p:nvSpPr>
          <p:cNvPr id="4" name="Shape 2"/>
          <p:cNvSpPr/>
          <p:nvPr/>
        </p:nvSpPr>
        <p:spPr>
          <a:xfrm>
            <a:off x="548640" y="2606040"/>
            <a:ext cx="548640" cy="548640"/>
          </a:xfrm>
          <a:prstGeom prst="ellipse">
            <a:avLst/>
          </a:prstGeom>
          <a:solidFill>
            <a:srgbClr val="8A5A2B"/>
          </a:solidFill>
          <a:ln w="12700">
            <a:solidFill>
              <a:srgbClr val="8A5A2B"/>
            </a:solidFill>
            <a:prstDash val="solid"/>
          </a:ln>
        </p:spPr>
      </p:sp>
      <p:pic>
        <p:nvPicPr>
          <p:cNvPr id="5" name="Image 0" descr="preencoded.png">    </p:cNvPr>
          <p:cNvPicPr>
            <a:picLocks noChangeAspect="1"/>
          </p:cNvPicPr>
          <p:nvPr/>
        </p:nvPicPr>
        <p:blipFill>
          <a:blip r:embed="rId1"/>
          <a:stretch>
            <a:fillRect/>
          </a:stretch>
        </p:blipFill>
        <p:spPr>
          <a:xfrm>
            <a:off x="685800" y="2743200"/>
            <a:ext cx="274320" cy="274320"/>
          </a:xfrm>
          <a:prstGeom prst="rect">
            <a:avLst/>
          </a:prstGeom>
        </p:spPr>
      </p:pic>
      <p:sp>
        <p:nvSpPr>
          <p:cNvPr id="6" name="Text 3"/>
          <p:cNvSpPr txBox="1"/>
          <p:nvPr/>
        </p:nvSpPr>
        <p:spPr>
          <a:xfrm>
            <a:off x="1280160" y="2560320"/>
            <a:ext cx="4114800" cy="822960"/>
          </a:xfrm>
          <a:prstGeom prst="rect">
            <a:avLst/>
          </a:prstGeom>
          <a:noFill/>
          <a:ln/>
        </p:spPr>
        <p:txBody>
          <a:bodyPr wrap="square" lIns="0" tIns="0" rIns="0" bIns="0" rtlCol="0" anchor="t"/>
          <a:lstStyle/>
          <a:p>
            <a:pPr indent="0" marL="0">
              <a:buNone/>
            </a:pPr>
            <a:r>
              <a:rPr lang="en-US" sz="1550" b="1" dirty="0">
                <a:solidFill>
                  <a:srgbClr val="1B1A17"/>
                </a:solidFill>
                <a:latin typeface="Calibri" pitchFamily="34" charset="0"/>
                <a:ea typeface="Calibri" pitchFamily="34" charset="-122"/>
                <a:cs typeface="Calibri" pitchFamily="34" charset="-120"/>
              </a:rPr>
              <a:t>Book a real time slot</a:t>
            </a:r>
            <a:endParaRPr lang="en-US" sz="1550" dirty="0"/>
          </a:p>
          <a:p>
            <a:pPr indent="0" marL="0">
              <a:buNone/>
            </a:pPr>
            <a:r>
              <a:rPr lang="en-US" sz="1250" dirty="0">
                <a:solidFill>
                  <a:srgbClr val="6F6A60"/>
                </a:solidFill>
                <a:latin typeface="Calibri" pitchFamily="34" charset="0"/>
                <a:ea typeface="Calibri" pitchFamily="34" charset="-122"/>
                <a:cs typeface="Calibri" pitchFamily="34" charset="-120"/>
              </a:rPr>
              <a:t>Taken slots are hidden, so double booking can't happen.</a:t>
            </a:r>
            <a:endParaRPr lang="en-US" sz="1550" dirty="0"/>
          </a:p>
        </p:txBody>
      </p:sp>
      <p:sp>
        <p:nvSpPr>
          <p:cNvPr id="7" name="Shape 4"/>
          <p:cNvSpPr/>
          <p:nvPr/>
        </p:nvSpPr>
        <p:spPr>
          <a:xfrm>
            <a:off x="548640" y="3538728"/>
            <a:ext cx="548640" cy="548640"/>
          </a:xfrm>
          <a:prstGeom prst="ellipse">
            <a:avLst/>
          </a:prstGeom>
          <a:solidFill>
            <a:srgbClr val="8A5A2B"/>
          </a:solidFill>
          <a:ln w="12700">
            <a:solidFill>
              <a:srgbClr val="8A5A2B"/>
            </a:solidFill>
            <a:prstDash val="solid"/>
          </a:ln>
        </p:spPr>
      </p:sp>
      <p:pic>
        <p:nvPicPr>
          <p:cNvPr id="8" name="Image 1" descr="preencoded.png">    </p:cNvPr>
          <p:cNvPicPr>
            <a:picLocks noChangeAspect="1"/>
          </p:cNvPicPr>
          <p:nvPr/>
        </p:nvPicPr>
        <p:blipFill>
          <a:blip r:embed="rId2"/>
          <a:stretch>
            <a:fillRect/>
          </a:stretch>
        </p:blipFill>
        <p:spPr>
          <a:xfrm>
            <a:off x="685800" y="3675888"/>
            <a:ext cx="274320" cy="274320"/>
          </a:xfrm>
          <a:prstGeom prst="rect">
            <a:avLst/>
          </a:prstGeom>
        </p:spPr>
      </p:pic>
      <p:sp>
        <p:nvSpPr>
          <p:cNvPr id="9" name="Text 5"/>
          <p:cNvSpPr txBox="1"/>
          <p:nvPr/>
        </p:nvSpPr>
        <p:spPr>
          <a:xfrm>
            <a:off x="1280160" y="3493008"/>
            <a:ext cx="4114800" cy="822960"/>
          </a:xfrm>
          <a:prstGeom prst="rect">
            <a:avLst/>
          </a:prstGeom>
          <a:noFill/>
          <a:ln/>
        </p:spPr>
        <p:txBody>
          <a:bodyPr wrap="square" lIns="0" tIns="0" rIns="0" bIns="0" rtlCol="0" anchor="t"/>
          <a:lstStyle/>
          <a:p>
            <a:pPr indent="0" marL="0">
              <a:buNone/>
            </a:pPr>
            <a:r>
              <a:rPr lang="en-US" sz="1550" b="1" dirty="0">
                <a:solidFill>
                  <a:srgbClr val="1B1A17"/>
                </a:solidFill>
                <a:latin typeface="Calibri" pitchFamily="34" charset="0"/>
                <a:ea typeface="Calibri" pitchFamily="34" charset="-122"/>
                <a:cs typeface="Calibri" pitchFamily="34" charset="-120"/>
              </a:rPr>
              <a:t>Choose a style from photos</a:t>
            </a:r>
            <a:endParaRPr lang="en-US" sz="1550" dirty="0"/>
          </a:p>
          <a:p>
            <a:pPr indent="0" marL="0">
              <a:buNone/>
            </a:pPr>
            <a:r>
              <a:rPr lang="en-US" sz="1250" dirty="0">
                <a:solidFill>
                  <a:srgbClr val="6F6A60"/>
                </a:solidFill>
                <a:latin typeface="Calibri" pitchFamily="34" charset="0"/>
                <a:ea typeface="Calibri" pitchFamily="34" charset="-122"/>
                <a:cs typeface="Calibri" pitchFamily="34" charset="-120"/>
              </a:rPr>
              <a:t>Trending, fades, classic, textured, or upload your own.</a:t>
            </a:r>
            <a:endParaRPr lang="en-US" sz="1550" dirty="0"/>
          </a:p>
        </p:txBody>
      </p:sp>
      <p:sp>
        <p:nvSpPr>
          <p:cNvPr id="10" name="Shape 6"/>
          <p:cNvSpPr/>
          <p:nvPr/>
        </p:nvSpPr>
        <p:spPr>
          <a:xfrm>
            <a:off x="548640" y="4471416"/>
            <a:ext cx="548640" cy="548640"/>
          </a:xfrm>
          <a:prstGeom prst="ellipse">
            <a:avLst/>
          </a:prstGeom>
          <a:solidFill>
            <a:srgbClr val="8A5A2B"/>
          </a:solidFill>
          <a:ln w="12700">
            <a:solidFill>
              <a:srgbClr val="8A5A2B"/>
            </a:solidFill>
            <a:prstDash val="solid"/>
          </a:ln>
        </p:spPr>
      </p:sp>
      <p:pic>
        <p:nvPicPr>
          <p:cNvPr id="11" name="Image 2" descr="preencoded.png">    </p:cNvPr>
          <p:cNvPicPr>
            <a:picLocks noChangeAspect="1"/>
          </p:cNvPicPr>
          <p:nvPr/>
        </p:nvPicPr>
        <p:blipFill>
          <a:blip r:embed="rId3"/>
          <a:stretch>
            <a:fillRect/>
          </a:stretch>
        </p:blipFill>
        <p:spPr>
          <a:xfrm>
            <a:off x="685800" y="4608576"/>
            <a:ext cx="274320" cy="274320"/>
          </a:xfrm>
          <a:prstGeom prst="rect">
            <a:avLst/>
          </a:prstGeom>
        </p:spPr>
      </p:pic>
      <p:sp>
        <p:nvSpPr>
          <p:cNvPr id="12" name="Text 7"/>
          <p:cNvSpPr txBox="1"/>
          <p:nvPr/>
        </p:nvSpPr>
        <p:spPr>
          <a:xfrm>
            <a:off x="1280160" y="4425696"/>
            <a:ext cx="4114800" cy="822960"/>
          </a:xfrm>
          <a:prstGeom prst="rect">
            <a:avLst/>
          </a:prstGeom>
          <a:noFill/>
          <a:ln/>
        </p:spPr>
        <p:txBody>
          <a:bodyPr wrap="square" lIns="0" tIns="0" rIns="0" bIns="0" rtlCol="0" anchor="t"/>
          <a:lstStyle/>
          <a:p>
            <a:pPr indent="0" marL="0">
              <a:buNone/>
            </a:pPr>
            <a:r>
              <a:rPr lang="en-US" sz="1550" b="1" dirty="0">
                <a:solidFill>
                  <a:srgbClr val="1B1A17"/>
                </a:solidFill>
                <a:latin typeface="Calibri" pitchFamily="34" charset="0"/>
                <a:ea typeface="Calibri" pitchFamily="34" charset="-122"/>
                <a:cs typeface="Calibri" pitchFamily="34" charset="-120"/>
              </a:rPr>
              <a:t>Save your preferences</a:t>
            </a:r>
            <a:endParaRPr lang="en-US" sz="1550" dirty="0"/>
          </a:p>
          <a:p>
            <a:pPr indent="0" marL="0">
              <a:buNone/>
            </a:pPr>
            <a:r>
              <a:rPr lang="en-US" sz="1250" dirty="0">
                <a:solidFill>
                  <a:srgbClr val="6F6A60"/>
                </a:solidFill>
                <a:latin typeface="Calibri" pitchFamily="34" charset="0"/>
                <a:ea typeface="Calibri" pitchFamily="34" charset="-122"/>
                <a:cs typeface="Calibri" pitchFamily="34" charset="-120"/>
              </a:rPr>
              <a:t>Guard number, length on top, beard trim, notes for the barber.</a:t>
            </a:r>
            <a:endParaRPr lang="en-US" sz="1550" dirty="0"/>
          </a:p>
        </p:txBody>
      </p:sp>
      <p:sp>
        <p:nvSpPr>
          <p:cNvPr id="13" name="Shape 8"/>
          <p:cNvSpPr/>
          <p:nvPr/>
        </p:nvSpPr>
        <p:spPr>
          <a:xfrm>
            <a:off x="548640" y="5404104"/>
            <a:ext cx="548640" cy="548640"/>
          </a:xfrm>
          <a:prstGeom prst="ellipse">
            <a:avLst/>
          </a:prstGeom>
          <a:solidFill>
            <a:srgbClr val="8A5A2B"/>
          </a:solidFill>
          <a:ln w="12700">
            <a:solidFill>
              <a:srgbClr val="8A5A2B"/>
            </a:solidFill>
            <a:prstDash val="solid"/>
          </a:ln>
        </p:spPr>
      </p:sp>
      <p:pic>
        <p:nvPicPr>
          <p:cNvPr id="14" name="Image 3" descr="preencoded.png">    </p:cNvPr>
          <p:cNvPicPr>
            <a:picLocks noChangeAspect="1"/>
          </p:cNvPicPr>
          <p:nvPr/>
        </p:nvPicPr>
        <p:blipFill>
          <a:blip r:embed="rId4"/>
          <a:stretch>
            <a:fillRect/>
          </a:stretch>
        </p:blipFill>
        <p:spPr>
          <a:xfrm>
            <a:off x="685800" y="5541264"/>
            <a:ext cx="274320" cy="274320"/>
          </a:xfrm>
          <a:prstGeom prst="rect">
            <a:avLst/>
          </a:prstGeom>
        </p:spPr>
      </p:pic>
      <p:sp>
        <p:nvSpPr>
          <p:cNvPr id="15" name="Text 9"/>
          <p:cNvSpPr txBox="1"/>
          <p:nvPr/>
        </p:nvSpPr>
        <p:spPr>
          <a:xfrm>
            <a:off x="1280160" y="5358384"/>
            <a:ext cx="4114800" cy="822960"/>
          </a:xfrm>
          <a:prstGeom prst="rect">
            <a:avLst/>
          </a:prstGeom>
          <a:noFill/>
          <a:ln/>
        </p:spPr>
        <p:txBody>
          <a:bodyPr wrap="square" lIns="0" tIns="0" rIns="0" bIns="0" rtlCol="0" anchor="t"/>
          <a:lstStyle/>
          <a:p>
            <a:pPr indent="0" marL="0">
              <a:buNone/>
            </a:pPr>
            <a:r>
              <a:rPr lang="en-US" sz="1550" b="1" dirty="0">
                <a:solidFill>
                  <a:srgbClr val="1B1A17"/>
                </a:solidFill>
                <a:latin typeface="Calibri" pitchFamily="34" charset="0"/>
                <a:ea typeface="Calibri" pitchFamily="34" charset="-122"/>
                <a:cs typeface="Calibri" pitchFamily="34" charset="-120"/>
              </a:rPr>
              <a:t>Give the owner a dashboard</a:t>
            </a:r>
            <a:endParaRPr lang="en-US" sz="1550" dirty="0"/>
          </a:p>
          <a:p>
            <a:pPr indent="0" marL="0">
              <a:buNone/>
            </a:pPr>
            <a:r>
              <a:rPr lang="en-US" sz="1250" dirty="0">
                <a:solidFill>
                  <a:srgbClr val="6F6A60"/>
                </a:solidFill>
                <a:latin typeface="Calibri" pitchFamily="34" charset="0"/>
                <a:ea typeface="Calibri" pitchFamily="34" charset="-122"/>
                <a:cs typeface="Calibri" pitchFamily="34" charset="-120"/>
              </a:rPr>
              <a:t>Daily queue, barber schedules, and simple booking reports.</a:t>
            </a:r>
            <a:endParaRPr lang="en-US" sz="1550" dirty="0"/>
          </a:p>
        </p:txBody>
      </p:sp>
      <p:pic>
        <p:nvPicPr>
          <p:cNvPr id="16" name="Image 4" descr="img/screen1.png">    </p:cNvPr>
          <p:cNvPicPr>
            <a:picLocks noChangeAspect="1"/>
          </p:cNvPicPr>
          <p:nvPr/>
        </p:nvPicPr>
        <p:blipFill>
          <a:blip r:embed="rId5"/>
          <a:stretch>
            <a:fillRect/>
          </a:stretch>
        </p:blipFill>
        <p:spPr>
          <a:xfrm>
            <a:off x="5806440" y="1097280"/>
            <a:ext cx="1920240" cy="3840480"/>
          </a:xfrm>
          <a:prstGeom prst="rect">
            <a:avLst/>
          </a:prstGeom>
          <a:effectLst>
            <a:outerShdw sx="100000" sy="100000" kx="0" ky="0" algn="bl" rotWithShape="0" blurRad="152400" dist="50800" dir="5400000">
              <a:srgbClr val="000000">
                <a:alpha val="25000"/>
              </a:srgbClr>
            </a:outerShdw>
          </a:effectLst>
        </p:spPr>
      </p:pic>
      <p:pic>
        <p:nvPicPr>
          <p:cNvPr id="17" name="Image 5" descr="img/screen2.png">    </p:cNvPr>
          <p:cNvPicPr>
            <a:picLocks noChangeAspect="1"/>
          </p:cNvPicPr>
          <p:nvPr/>
        </p:nvPicPr>
        <p:blipFill>
          <a:blip r:embed="rId6"/>
          <a:stretch>
            <a:fillRect/>
          </a:stretch>
        </p:blipFill>
        <p:spPr>
          <a:xfrm>
            <a:off x="7863840" y="777240"/>
            <a:ext cx="1920240" cy="3840480"/>
          </a:xfrm>
          <a:prstGeom prst="rect">
            <a:avLst/>
          </a:prstGeom>
          <a:effectLst>
            <a:outerShdw sx="100000" sy="100000" kx="0" ky="0" algn="bl" rotWithShape="0" blurRad="152400" dist="50800" dir="5400000">
              <a:srgbClr val="000000">
                <a:alpha val="25000"/>
              </a:srgbClr>
            </a:outerShdw>
          </a:effectLst>
        </p:spPr>
      </p:pic>
      <p:pic>
        <p:nvPicPr>
          <p:cNvPr id="18" name="Image 6" descr="img/screen6.png">    </p:cNvPr>
          <p:cNvPicPr>
            <a:picLocks noChangeAspect="1"/>
          </p:cNvPicPr>
          <p:nvPr/>
        </p:nvPicPr>
        <p:blipFill>
          <a:blip r:embed="rId7"/>
          <a:stretch>
            <a:fillRect/>
          </a:stretch>
        </p:blipFill>
        <p:spPr>
          <a:xfrm>
            <a:off x="9921240" y="1097280"/>
            <a:ext cx="1920240" cy="3840480"/>
          </a:xfrm>
          <a:prstGeom prst="rect">
            <a:avLst/>
          </a:prstGeom>
          <a:effectLst>
            <a:outerShdw sx="100000" sy="100000" kx="0" ky="0" algn="bl" rotWithShape="0" blurRad="152400" dist="50800" dir="5400000">
              <a:srgbClr val="000000">
                <a:alpha val="25000"/>
              </a:srgbClr>
            </a:outerShdw>
          </a:effectLst>
        </p:spPr>
      </p:pic>
      <p:sp>
        <p:nvSpPr>
          <p:cNvPr id="19" name="Text 10"/>
          <p:cNvSpPr txBox="1"/>
          <p:nvPr/>
        </p:nvSpPr>
        <p:spPr>
          <a:xfrm>
            <a:off x="5806440" y="5120640"/>
            <a:ext cx="6035040" cy="274320"/>
          </a:xfrm>
          <a:prstGeom prst="rect">
            <a:avLst/>
          </a:prstGeom>
          <a:noFill/>
          <a:ln/>
        </p:spPr>
        <p:txBody>
          <a:bodyPr wrap="square" lIns="0" tIns="0" rIns="0" bIns="0" rtlCol="0" anchor="ctr"/>
          <a:lstStyle/>
          <a:p>
            <a:pPr algn="ctr" indent="0" marL="0">
              <a:buNone/>
            </a:pPr>
            <a:r>
              <a:rPr lang="en-US" sz="1100" i="1" dirty="0">
                <a:solidFill>
                  <a:srgbClr val="6F6A60"/>
                </a:solidFill>
                <a:latin typeface="Calibri" pitchFamily="34" charset="0"/>
                <a:ea typeface="Calibri" pitchFamily="34" charset="-122"/>
                <a:cs typeface="Calibri" pitchFamily="34" charset="-120"/>
              </a:rPr>
              <a:t>Proposed screens (from the group's UI mockup)</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B1A17"/>
                </a:solidFill>
                <a:latin typeface="Cambria" pitchFamily="34" charset="0"/>
                <a:ea typeface="Cambria" pitchFamily="34" charset="-122"/>
                <a:cs typeface="Cambria" pitchFamily="34" charset="-120"/>
              </a:rPr>
              <a:t>Statement of the Problem</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F6A60"/>
                </a:solidFill>
                <a:latin typeface="Calibri" pitchFamily="34" charset="0"/>
                <a:ea typeface="Calibri" pitchFamily="34" charset="-122"/>
                <a:cs typeface="Calibri" pitchFamily="34" charset="-120"/>
              </a:rPr>
              <a:t>Six questions this study will answer</a:t>
            </a:r>
            <a:endParaRPr lang="en-US" sz="1600" dirty="0"/>
          </a:p>
        </p:txBody>
      </p:sp>
      <p:sp>
        <p:nvSpPr>
          <p:cNvPr id="4" name="Shape 2"/>
          <p:cNvSpPr/>
          <p:nvPr/>
        </p:nvSpPr>
        <p:spPr>
          <a:xfrm>
            <a:off x="548640" y="1783080"/>
            <a:ext cx="3520440" cy="2011680"/>
          </a:xfrm>
          <a:prstGeom prst="roundRect">
            <a:avLst>
              <a:gd name="adj" fmla="val 4545"/>
            </a:avLst>
          </a:prstGeom>
          <a:solidFill>
            <a:srgbClr val="F3E7D9"/>
          </a:solidFill>
          <a:ln w="12700">
            <a:solidFill>
              <a:srgbClr val="E4E0D8"/>
            </a:solidFill>
            <a:prstDash val="solid"/>
          </a:ln>
        </p:spPr>
      </p:sp>
      <p:sp>
        <p:nvSpPr>
          <p:cNvPr id="5" name="Text 3"/>
          <p:cNvSpPr txBox="1"/>
          <p:nvPr/>
        </p:nvSpPr>
        <p:spPr>
          <a:xfrm>
            <a:off x="777240" y="1965960"/>
            <a:ext cx="640080" cy="640080"/>
          </a:xfrm>
          <a:prstGeom prst="rect">
            <a:avLst/>
          </a:prstGeom>
          <a:noFill/>
          <a:ln/>
        </p:spPr>
        <p:txBody>
          <a:bodyPr wrap="square" lIns="0" tIns="0" rIns="0" bIns="0" rtlCol="0" anchor="ctr"/>
          <a:lstStyle/>
          <a:p>
            <a:pPr indent="0" marL="0">
              <a:buNone/>
            </a:pPr>
            <a:r>
              <a:rPr lang="en-US" sz="3600" b="1" dirty="0">
                <a:solidFill>
                  <a:srgbClr val="8A5A2B"/>
                </a:solidFill>
                <a:latin typeface="Cambria" pitchFamily="34" charset="0"/>
                <a:ea typeface="Cambria" pitchFamily="34" charset="-122"/>
                <a:cs typeface="Cambria" pitchFamily="34" charset="-120"/>
              </a:rPr>
              <a:t>1</a:t>
            </a:r>
            <a:endParaRPr lang="en-US" sz="3600" dirty="0"/>
          </a:p>
        </p:txBody>
      </p:sp>
      <p:sp>
        <p:nvSpPr>
          <p:cNvPr id="6" name="Text 4"/>
          <p:cNvSpPr txBox="1"/>
          <p:nvPr/>
        </p:nvSpPr>
        <p:spPr>
          <a:xfrm>
            <a:off x="1463040" y="2039112"/>
            <a:ext cx="2468880" cy="502920"/>
          </a:xfrm>
          <a:prstGeom prst="rect">
            <a:avLst/>
          </a:prstGeom>
          <a:noFill/>
          <a:ln/>
        </p:spPr>
        <p:txBody>
          <a:bodyPr wrap="square" lIns="0" tIns="0" rIns="0" bIns="0" rtlCol="0" anchor="ctr"/>
          <a:lstStyle/>
          <a:p>
            <a:pPr indent="0" marL="0">
              <a:buNone/>
            </a:pPr>
            <a:r>
              <a:rPr lang="en-US" sz="1700" b="1" dirty="0">
                <a:solidFill>
                  <a:srgbClr val="1B1A17"/>
                </a:solidFill>
                <a:latin typeface="Calibri" pitchFamily="34" charset="0"/>
                <a:ea typeface="Calibri" pitchFamily="34" charset="-122"/>
                <a:cs typeface="Calibri" pitchFamily="34" charset="-120"/>
              </a:rPr>
              <a:t>Existing practices</a:t>
            </a:r>
            <a:endParaRPr lang="en-US" sz="1700" dirty="0"/>
          </a:p>
        </p:txBody>
      </p:sp>
      <p:sp>
        <p:nvSpPr>
          <p:cNvPr id="7" name="Text 5"/>
          <p:cNvSpPr txBox="1"/>
          <p:nvPr/>
        </p:nvSpPr>
        <p:spPr>
          <a:xfrm>
            <a:off x="777240" y="2697480"/>
            <a:ext cx="3108960" cy="960120"/>
          </a:xfrm>
          <a:prstGeom prst="rect">
            <a:avLst/>
          </a:prstGeom>
          <a:noFill/>
          <a:ln/>
        </p:spPr>
        <p:txBody>
          <a:bodyPr wrap="square" lIns="0" tIns="0" rIns="0" bIns="0" rtlCol="0" anchor="t"/>
          <a:lstStyle/>
          <a:p>
            <a:pPr indent="0" marL="0">
              <a:buNone/>
            </a:pPr>
            <a:r>
              <a:rPr lang="en-US" sz="1250" dirty="0">
                <a:solidFill>
                  <a:srgbClr val="6F6A60"/>
                </a:solidFill>
                <a:latin typeface="Calibri" pitchFamily="34" charset="0"/>
                <a:ea typeface="Calibri" pitchFamily="34" charset="-122"/>
                <a:cs typeface="Calibri" pitchFamily="34" charset="-120"/>
              </a:rPr>
              <a:t>Scheduling, customer info, barber availability, haircut preference records, confirmation and tracking</a:t>
            </a:r>
            <a:endParaRPr lang="en-US" sz="1250" dirty="0"/>
          </a:p>
        </p:txBody>
      </p:sp>
      <p:sp>
        <p:nvSpPr>
          <p:cNvPr id="8" name="Shape 6"/>
          <p:cNvSpPr/>
          <p:nvPr/>
        </p:nvSpPr>
        <p:spPr>
          <a:xfrm>
            <a:off x="4297680" y="1783080"/>
            <a:ext cx="3520440" cy="2011680"/>
          </a:xfrm>
          <a:prstGeom prst="roundRect">
            <a:avLst>
              <a:gd name="adj" fmla="val 4545"/>
            </a:avLst>
          </a:prstGeom>
          <a:solidFill>
            <a:srgbClr val="F3E7D9"/>
          </a:solidFill>
          <a:ln w="12700">
            <a:solidFill>
              <a:srgbClr val="E4E0D8"/>
            </a:solidFill>
            <a:prstDash val="solid"/>
          </a:ln>
        </p:spPr>
      </p:sp>
      <p:sp>
        <p:nvSpPr>
          <p:cNvPr id="9" name="Text 7"/>
          <p:cNvSpPr txBox="1"/>
          <p:nvPr/>
        </p:nvSpPr>
        <p:spPr>
          <a:xfrm>
            <a:off x="4526280" y="1965960"/>
            <a:ext cx="640080" cy="640080"/>
          </a:xfrm>
          <a:prstGeom prst="rect">
            <a:avLst/>
          </a:prstGeom>
          <a:noFill/>
          <a:ln/>
        </p:spPr>
        <p:txBody>
          <a:bodyPr wrap="square" lIns="0" tIns="0" rIns="0" bIns="0" rtlCol="0" anchor="ctr"/>
          <a:lstStyle/>
          <a:p>
            <a:pPr indent="0" marL="0">
              <a:buNone/>
            </a:pPr>
            <a:r>
              <a:rPr lang="en-US" sz="3600" b="1" dirty="0">
                <a:solidFill>
                  <a:srgbClr val="8A5A2B"/>
                </a:solidFill>
                <a:latin typeface="Cambria" pitchFamily="34" charset="0"/>
                <a:ea typeface="Cambria" pitchFamily="34" charset="-122"/>
                <a:cs typeface="Cambria" pitchFamily="34" charset="-120"/>
              </a:rPr>
              <a:t>2</a:t>
            </a:r>
            <a:endParaRPr lang="en-US" sz="3600" dirty="0"/>
          </a:p>
        </p:txBody>
      </p:sp>
      <p:sp>
        <p:nvSpPr>
          <p:cNvPr id="10" name="Text 8"/>
          <p:cNvSpPr txBox="1"/>
          <p:nvPr/>
        </p:nvSpPr>
        <p:spPr>
          <a:xfrm>
            <a:off x="5212080" y="2039112"/>
            <a:ext cx="2468880" cy="502920"/>
          </a:xfrm>
          <a:prstGeom prst="rect">
            <a:avLst/>
          </a:prstGeom>
          <a:noFill/>
          <a:ln/>
        </p:spPr>
        <p:txBody>
          <a:bodyPr wrap="square" lIns="0" tIns="0" rIns="0" bIns="0" rtlCol="0" anchor="ctr"/>
          <a:lstStyle/>
          <a:p>
            <a:pPr indent="0" marL="0">
              <a:buNone/>
            </a:pPr>
            <a:r>
              <a:rPr lang="en-US" sz="1700" b="1" dirty="0">
                <a:solidFill>
                  <a:srgbClr val="1B1A17"/>
                </a:solidFill>
                <a:latin typeface="Calibri" pitchFamily="34" charset="0"/>
                <a:ea typeface="Calibri" pitchFamily="34" charset="-122"/>
                <a:cs typeface="Calibri" pitchFamily="34" charset="-120"/>
              </a:rPr>
              <a:t>Problems encountered</a:t>
            </a:r>
            <a:endParaRPr lang="en-US" sz="1700" dirty="0"/>
          </a:p>
        </p:txBody>
      </p:sp>
      <p:sp>
        <p:nvSpPr>
          <p:cNvPr id="11" name="Text 9"/>
          <p:cNvSpPr txBox="1"/>
          <p:nvPr/>
        </p:nvSpPr>
        <p:spPr>
          <a:xfrm>
            <a:off x="4526280" y="2697480"/>
            <a:ext cx="3108960" cy="960120"/>
          </a:xfrm>
          <a:prstGeom prst="rect">
            <a:avLst/>
          </a:prstGeom>
          <a:noFill/>
          <a:ln/>
        </p:spPr>
        <p:txBody>
          <a:bodyPr wrap="square" lIns="0" tIns="0" rIns="0" bIns="0" rtlCol="0" anchor="t"/>
          <a:lstStyle/>
          <a:p>
            <a:pPr indent="0" marL="0">
              <a:buNone/>
            </a:pPr>
            <a:r>
              <a:rPr lang="en-US" sz="1250" dirty="0">
                <a:solidFill>
                  <a:srgbClr val="6F6A60"/>
                </a:solidFill>
                <a:latin typeface="Calibri" pitchFamily="34" charset="0"/>
                <a:ea typeface="Calibri" pitchFamily="34" charset="-122"/>
                <a:cs typeface="Calibri" pitchFamily="34" charset="-120"/>
              </a:rPr>
              <a:t>Waiting time, scheduling conflicts, communicating preferences, missed appointments, customer records</a:t>
            </a:r>
            <a:endParaRPr lang="en-US" sz="1250" dirty="0"/>
          </a:p>
        </p:txBody>
      </p:sp>
      <p:sp>
        <p:nvSpPr>
          <p:cNvPr id="12" name="Shape 10"/>
          <p:cNvSpPr/>
          <p:nvPr/>
        </p:nvSpPr>
        <p:spPr>
          <a:xfrm>
            <a:off x="8046720" y="1783080"/>
            <a:ext cx="3520440" cy="2011680"/>
          </a:xfrm>
          <a:prstGeom prst="roundRect">
            <a:avLst>
              <a:gd name="adj" fmla="val 4545"/>
            </a:avLst>
          </a:prstGeom>
          <a:solidFill>
            <a:srgbClr val="F3E7D9"/>
          </a:solidFill>
          <a:ln w="12700">
            <a:solidFill>
              <a:srgbClr val="E4E0D8"/>
            </a:solidFill>
            <a:prstDash val="solid"/>
          </a:ln>
        </p:spPr>
      </p:sp>
      <p:sp>
        <p:nvSpPr>
          <p:cNvPr id="13" name="Text 11"/>
          <p:cNvSpPr txBox="1"/>
          <p:nvPr/>
        </p:nvSpPr>
        <p:spPr>
          <a:xfrm>
            <a:off x="8275320" y="1965960"/>
            <a:ext cx="640080" cy="640080"/>
          </a:xfrm>
          <a:prstGeom prst="rect">
            <a:avLst/>
          </a:prstGeom>
          <a:noFill/>
          <a:ln/>
        </p:spPr>
        <p:txBody>
          <a:bodyPr wrap="square" lIns="0" tIns="0" rIns="0" bIns="0" rtlCol="0" anchor="ctr"/>
          <a:lstStyle/>
          <a:p>
            <a:pPr indent="0" marL="0">
              <a:buNone/>
            </a:pPr>
            <a:r>
              <a:rPr lang="en-US" sz="3600" b="1" dirty="0">
                <a:solidFill>
                  <a:srgbClr val="8A5A2B"/>
                </a:solidFill>
                <a:latin typeface="Cambria" pitchFamily="34" charset="0"/>
                <a:ea typeface="Cambria" pitchFamily="34" charset="-122"/>
                <a:cs typeface="Cambria" pitchFamily="34" charset="-120"/>
              </a:rPr>
              <a:t>3</a:t>
            </a:r>
            <a:endParaRPr lang="en-US" sz="3600" dirty="0"/>
          </a:p>
        </p:txBody>
      </p:sp>
      <p:sp>
        <p:nvSpPr>
          <p:cNvPr id="14" name="Text 12"/>
          <p:cNvSpPr txBox="1"/>
          <p:nvPr/>
        </p:nvSpPr>
        <p:spPr>
          <a:xfrm>
            <a:off x="8961120" y="2039112"/>
            <a:ext cx="2468880" cy="502920"/>
          </a:xfrm>
          <a:prstGeom prst="rect">
            <a:avLst/>
          </a:prstGeom>
          <a:noFill/>
          <a:ln/>
        </p:spPr>
        <p:txBody>
          <a:bodyPr wrap="square" lIns="0" tIns="0" rIns="0" bIns="0" rtlCol="0" anchor="ctr"/>
          <a:lstStyle/>
          <a:p>
            <a:pPr indent="0" marL="0">
              <a:buNone/>
            </a:pPr>
            <a:r>
              <a:rPr lang="en-US" sz="1700" b="1" dirty="0">
                <a:solidFill>
                  <a:srgbClr val="1B1A17"/>
                </a:solidFill>
                <a:latin typeface="Calibri" pitchFamily="34" charset="0"/>
                <a:ea typeface="Calibri" pitchFamily="34" charset="-122"/>
                <a:cs typeface="Calibri" pitchFamily="34" charset="-120"/>
              </a:rPr>
              <a:t>Needed features</a:t>
            </a:r>
            <a:endParaRPr lang="en-US" sz="1700" dirty="0"/>
          </a:p>
        </p:txBody>
      </p:sp>
      <p:sp>
        <p:nvSpPr>
          <p:cNvPr id="15" name="Text 13"/>
          <p:cNvSpPr txBox="1"/>
          <p:nvPr/>
        </p:nvSpPr>
        <p:spPr>
          <a:xfrm>
            <a:off x="8275320" y="2697480"/>
            <a:ext cx="3108960" cy="960120"/>
          </a:xfrm>
          <a:prstGeom prst="rect">
            <a:avLst/>
          </a:prstGeom>
          <a:noFill/>
          <a:ln/>
        </p:spPr>
        <p:txBody>
          <a:bodyPr wrap="square" lIns="0" tIns="0" rIns="0" bIns="0" rtlCol="0" anchor="t"/>
          <a:lstStyle/>
          <a:p>
            <a:pPr indent="0" marL="0">
              <a:buNone/>
            </a:pPr>
            <a:r>
              <a:rPr lang="en-US" sz="1250" dirty="0">
                <a:solidFill>
                  <a:srgbClr val="6F6A60"/>
                </a:solidFill>
                <a:latin typeface="Calibri" pitchFamily="34" charset="0"/>
                <a:ea typeface="Calibri" pitchFamily="34" charset="-122"/>
                <a:cs typeface="Calibri" pitchFamily="34" charset="-120"/>
              </a:rPr>
              <a:t>Online scheduling, barber availability, preference selection, notifications, profile and history, shop management</a:t>
            </a:r>
            <a:endParaRPr lang="en-US" sz="1250" dirty="0"/>
          </a:p>
        </p:txBody>
      </p:sp>
      <p:sp>
        <p:nvSpPr>
          <p:cNvPr id="16" name="Shape 14"/>
          <p:cNvSpPr/>
          <p:nvPr/>
        </p:nvSpPr>
        <p:spPr>
          <a:xfrm>
            <a:off x="548640" y="4023360"/>
            <a:ext cx="3520440" cy="2011680"/>
          </a:xfrm>
          <a:prstGeom prst="roundRect">
            <a:avLst>
              <a:gd name="adj" fmla="val 4545"/>
            </a:avLst>
          </a:prstGeom>
          <a:solidFill>
            <a:srgbClr val="F7F4EF"/>
          </a:solidFill>
          <a:ln w="12700">
            <a:solidFill>
              <a:srgbClr val="E4E0D8"/>
            </a:solidFill>
            <a:prstDash val="solid"/>
          </a:ln>
        </p:spPr>
      </p:sp>
      <p:sp>
        <p:nvSpPr>
          <p:cNvPr id="17" name="Text 15"/>
          <p:cNvSpPr txBox="1"/>
          <p:nvPr/>
        </p:nvSpPr>
        <p:spPr>
          <a:xfrm>
            <a:off x="777240" y="4206240"/>
            <a:ext cx="640080" cy="640080"/>
          </a:xfrm>
          <a:prstGeom prst="rect">
            <a:avLst/>
          </a:prstGeom>
          <a:noFill/>
          <a:ln/>
        </p:spPr>
        <p:txBody>
          <a:bodyPr wrap="square" lIns="0" tIns="0" rIns="0" bIns="0" rtlCol="0" anchor="ctr"/>
          <a:lstStyle/>
          <a:p>
            <a:pPr indent="0" marL="0">
              <a:buNone/>
            </a:pPr>
            <a:r>
              <a:rPr lang="en-US" sz="3600" b="1" dirty="0">
                <a:solidFill>
                  <a:srgbClr val="8A5A2B"/>
                </a:solidFill>
                <a:latin typeface="Cambria" pitchFamily="34" charset="0"/>
                <a:ea typeface="Cambria" pitchFamily="34" charset="-122"/>
                <a:cs typeface="Cambria" pitchFamily="34" charset="-120"/>
              </a:rPr>
              <a:t>4</a:t>
            </a:r>
            <a:endParaRPr lang="en-US" sz="3600" dirty="0"/>
          </a:p>
        </p:txBody>
      </p:sp>
      <p:sp>
        <p:nvSpPr>
          <p:cNvPr id="18" name="Text 16"/>
          <p:cNvSpPr txBox="1"/>
          <p:nvPr/>
        </p:nvSpPr>
        <p:spPr>
          <a:xfrm>
            <a:off x="1463040" y="4279392"/>
            <a:ext cx="2468880" cy="502920"/>
          </a:xfrm>
          <a:prstGeom prst="rect">
            <a:avLst/>
          </a:prstGeom>
          <a:noFill/>
          <a:ln/>
        </p:spPr>
        <p:txBody>
          <a:bodyPr wrap="square" lIns="0" tIns="0" rIns="0" bIns="0" rtlCol="0" anchor="ctr"/>
          <a:lstStyle/>
          <a:p>
            <a:pPr indent="0" marL="0">
              <a:buNone/>
            </a:pPr>
            <a:r>
              <a:rPr lang="en-US" sz="1700" b="1" dirty="0">
                <a:solidFill>
                  <a:srgbClr val="1B1A17"/>
                </a:solidFill>
                <a:latin typeface="Calibri" pitchFamily="34" charset="0"/>
                <a:ea typeface="Calibri" pitchFamily="34" charset="-122"/>
                <a:cs typeface="Calibri" pitchFamily="34" charset="-120"/>
              </a:rPr>
              <a:t>How it improves</a:t>
            </a:r>
            <a:endParaRPr lang="en-US" sz="1700" dirty="0"/>
          </a:p>
        </p:txBody>
      </p:sp>
      <p:sp>
        <p:nvSpPr>
          <p:cNvPr id="19" name="Text 17"/>
          <p:cNvSpPr txBox="1"/>
          <p:nvPr/>
        </p:nvSpPr>
        <p:spPr>
          <a:xfrm>
            <a:off x="777240" y="4937760"/>
            <a:ext cx="3108960" cy="960120"/>
          </a:xfrm>
          <a:prstGeom prst="rect">
            <a:avLst/>
          </a:prstGeom>
          <a:noFill/>
          <a:ln/>
        </p:spPr>
        <p:txBody>
          <a:bodyPr wrap="square" lIns="0" tIns="0" rIns="0" bIns="0" rtlCol="0" anchor="t"/>
          <a:lstStyle/>
          <a:p>
            <a:pPr indent="0" marL="0">
              <a:buNone/>
            </a:pPr>
            <a:r>
              <a:rPr lang="en-US" sz="1250" dirty="0">
                <a:solidFill>
                  <a:srgbClr val="6F6A60"/>
                </a:solidFill>
                <a:latin typeface="Calibri" pitchFamily="34" charset="0"/>
                <a:ea typeface="Calibri" pitchFamily="34" charset="-122"/>
                <a:cs typeface="Calibri" pitchFamily="34" charset="-120"/>
              </a:rPr>
              <a:t>Booking appointments and communicating haircut preferences between customers and barbershops</a:t>
            </a:r>
            <a:endParaRPr lang="en-US" sz="1250" dirty="0"/>
          </a:p>
        </p:txBody>
      </p:sp>
      <p:sp>
        <p:nvSpPr>
          <p:cNvPr id="20" name="Shape 18"/>
          <p:cNvSpPr/>
          <p:nvPr/>
        </p:nvSpPr>
        <p:spPr>
          <a:xfrm>
            <a:off x="4297680" y="4023360"/>
            <a:ext cx="3520440" cy="2011680"/>
          </a:xfrm>
          <a:prstGeom prst="roundRect">
            <a:avLst>
              <a:gd name="adj" fmla="val 4545"/>
            </a:avLst>
          </a:prstGeom>
          <a:solidFill>
            <a:srgbClr val="F7F4EF"/>
          </a:solidFill>
          <a:ln w="12700">
            <a:solidFill>
              <a:srgbClr val="E4E0D8"/>
            </a:solidFill>
            <a:prstDash val="solid"/>
          </a:ln>
        </p:spPr>
      </p:sp>
      <p:sp>
        <p:nvSpPr>
          <p:cNvPr id="21" name="Text 19"/>
          <p:cNvSpPr txBox="1"/>
          <p:nvPr/>
        </p:nvSpPr>
        <p:spPr>
          <a:xfrm>
            <a:off x="4526280" y="4206240"/>
            <a:ext cx="640080" cy="640080"/>
          </a:xfrm>
          <a:prstGeom prst="rect">
            <a:avLst/>
          </a:prstGeom>
          <a:noFill/>
          <a:ln/>
        </p:spPr>
        <p:txBody>
          <a:bodyPr wrap="square" lIns="0" tIns="0" rIns="0" bIns="0" rtlCol="0" anchor="ctr"/>
          <a:lstStyle/>
          <a:p>
            <a:pPr indent="0" marL="0">
              <a:buNone/>
            </a:pPr>
            <a:r>
              <a:rPr lang="en-US" sz="3600" b="1" dirty="0">
                <a:solidFill>
                  <a:srgbClr val="8A5A2B"/>
                </a:solidFill>
                <a:latin typeface="Cambria" pitchFamily="34" charset="0"/>
                <a:ea typeface="Cambria" pitchFamily="34" charset="-122"/>
                <a:cs typeface="Cambria" pitchFamily="34" charset="-120"/>
              </a:rPr>
              <a:t>5</a:t>
            </a:r>
            <a:endParaRPr lang="en-US" sz="3600" dirty="0"/>
          </a:p>
        </p:txBody>
      </p:sp>
      <p:sp>
        <p:nvSpPr>
          <p:cNvPr id="22" name="Text 20"/>
          <p:cNvSpPr txBox="1"/>
          <p:nvPr/>
        </p:nvSpPr>
        <p:spPr>
          <a:xfrm>
            <a:off x="5212080" y="4279392"/>
            <a:ext cx="2468880" cy="502920"/>
          </a:xfrm>
          <a:prstGeom prst="rect">
            <a:avLst/>
          </a:prstGeom>
          <a:noFill/>
          <a:ln/>
        </p:spPr>
        <p:txBody>
          <a:bodyPr wrap="square" lIns="0" tIns="0" rIns="0" bIns="0" rtlCol="0" anchor="ctr"/>
          <a:lstStyle/>
          <a:p>
            <a:pPr indent="0" marL="0">
              <a:buNone/>
            </a:pPr>
            <a:r>
              <a:rPr lang="en-US" sz="1700" b="1" dirty="0">
                <a:solidFill>
                  <a:srgbClr val="1B1A17"/>
                </a:solidFill>
                <a:latin typeface="Calibri" pitchFamily="34" charset="0"/>
                <a:ea typeface="Calibri" pitchFamily="34" charset="-122"/>
                <a:cs typeface="Calibri" pitchFamily="34" charset="-120"/>
              </a:rPr>
              <a:t>Acceptability</a:t>
            </a:r>
            <a:endParaRPr lang="en-US" sz="1700" dirty="0"/>
          </a:p>
        </p:txBody>
      </p:sp>
      <p:sp>
        <p:nvSpPr>
          <p:cNvPr id="23" name="Text 21"/>
          <p:cNvSpPr txBox="1"/>
          <p:nvPr/>
        </p:nvSpPr>
        <p:spPr>
          <a:xfrm>
            <a:off x="4526280" y="4937760"/>
            <a:ext cx="3108960" cy="960120"/>
          </a:xfrm>
          <a:prstGeom prst="rect">
            <a:avLst/>
          </a:prstGeom>
          <a:noFill/>
          <a:ln/>
        </p:spPr>
        <p:txBody>
          <a:bodyPr wrap="square" lIns="0" tIns="0" rIns="0" bIns="0" rtlCol="0" anchor="t"/>
          <a:lstStyle/>
          <a:p>
            <a:pPr indent="0" marL="0">
              <a:buNone/>
            </a:pPr>
            <a:r>
              <a:rPr lang="en-US" sz="1250" dirty="0">
                <a:solidFill>
                  <a:srgbClr val="6F6A60"/>
                </a:solidFill>
                <a:latin typeface="Calibri" pitchFamily="34" charset="0"/>
                <a:ea typeface="Calibri" pitchFamily="34" charset="-122"/>
                <a:cs typeface="Calibri" pitchFamily="34" charset="-120"/>
              </a:rPr>
              <a:t>Functionality, usability, efficiency, reliability, and user satisfaction</a:t>
            </a:r>
            <a:endParaRPr lang="en-US" sz="1250" dirty="0"/>
          </a:p>
        </p:txBody>
      </p:sp>
      <p:sp>
        <p:nvSpPr>
          <p:cNvPr id="24" name="Shape 22"/>
          <p:cNvSpPr/>
          <p:nvPr/>
        </p:nvSpPr>
        <p:spPr>
          <a:xfrm>
            <a:off x="8046720" y="4023360"/>
            <a:ext cx="3520440" cy="2011680"/>
          </a:xfrm>
          <a:prstGeom prst="roundRect">
            <a:avLst>
              <a:gd name="adj" fmla="val 4545"/>
            </a:avLst>
          </a:prstGeom>
          <a:solidFill>
            <a:srgbClr val="F7F4EF"/>
          </a:solidFill>
          <a:ln w="12700">
            <a:solidFill>
              <a:srgbClr val="E4E0D8"/>
            </a:solidFill>
            <a:prstDash val="solid"/>
          </a:ln>
        </p:spPr>
      </p:sp>
      <p:sp>
        <p:nvSpPr>
          <p:cNvPr id="25" name="Text 23"/>
          <p:cNvSpPr txBox="1"/>
          <p:nvPr/>
        </p:nvSpPr>
        <p:spPr>
          <a:xfrm>
            <a:off x="8275320" y="4206240"/>
            <a:ext cx="640080" cy="640080"/>
          </a:xfrm>
          <a:prstGeom prst="rect">
            <a:avLst/>
          </a:prstGeom>
          <a:noFill/>
          <a:ln/>
        </p:spPr>
        <p:txBody>
          <a:bodyPr wrap="square" lIns="0" tIns="0" rIns="0" bIns="0" rtlCol="0" anchor="ctr"/>
          <a:lstStyle/>
          <a:p>
            <a:pPr indent="0" marL="0">
              <a:buNone/>
            </a:pPr>
            <a:r>
              <a:rPr lang="en-US" sz="3600" b="1" dirty="0">
                <a:solidFill>
                  <a:srgbClr val="8A5A2B"/>
                </a:solidFill>
                <a:latin typeface="Cambria" pitchFamily="34" charset="0"/>
                <a:ea typeface="Cambria" pitchFamily="34" charset="-122"/>
                <a:cs typeface="Cambria" pitchFamily="34" charset="-120"/>
              </a:rPr>
              <a:t>6</a:t>
            </a:r>
            <a:endParaRPr lang="en-US" sz="3600" dirty="0"/>
          </a:p>
        </p:txBody>
      </p:sp>
      <p:sp>
        <p:nvSpPr>
          <p:cNvPr id="26" name="Text 24"/>
          <p:cNvSpPr txBox="1"/>
          <p:nvPr/>
        </p:nvSpPr>
        <p:spPr>
          <a:xfrm>
            <a:off x="8961120" y="4279392"/>
            <a:ext cx="2468880" cy="502920"/>
          </a:xfrm>
          <a:prstGeom prst="rect">
            <a:avLst/>
          </a:prstGeom>
          <a:noFill/>
          <a:ln/>
        </p:spPr>
        <p:txBody>
          <a:bodyPr wrap="square" lIns="0" tIns="0" rIns="0" bIns="0" rtlCol="0" anchor="ctr"/>
          <a:lstStyle/>
          <a:p>
            <a:pPr indent="0" marL="0">
              <a:buNone/>
            </a:pPr>
            <a:r>
              <a:rPr lang="en-US" sz="1700" b="1" dirty="0">
                <a:solidFill>
                  <a:srgbClr val="1B1A17"/>
                </a:solidFill>
                <a:latin typeface="Calibri" pitchFamily="34" charset="0"/>
                <a:ea typeface="Calibri" pitchFamily="34" charset="-122"/>
                <a:cs typeface="Calibri" pitchFamily="34" charset="-120"/>
              </a:rPr>
              <a:t>Improvements</a:t>
            </a:r>
            <a:endParaRPr lang="en-US" sz="1700" dirty="0"/>
          </a:p>
        </p:txBody>
      </p:sp>
      <p:sp>
        <p:nvSpPr>
          <p:cNvPr id="27" name="Text 25"/>
          <p:cNvSpPr txBox="1"/>
          <p:nvPr/>
        </p:nvSpPr>
        <p:spPr>
          <a:xfrm>
            <a:off x="8275320" y="4937760"/>
            <a:ext cx="3108960" cy="960120"/>
          </a:xfrm>
          <a:prstGeom prst="rect">
            <a:avLst/>
          </a:prstGeom>
          <a:noFill/>
          <a:ln/>
        </p:spPr>
        <p:txBody>
          <a:bodyPr wrap="square" lIns="0" tIns="0" rIns="0" bIns="0" rtlCol="0" anchor="t"/>
          <a:lstStyle/>
          <a:p>
            <a:pPr indent="0" marL="0">
              <a:buNone/>
            </a:pPr>
            <a:r>
              <a:rPr lang="en-US" sz="1250" dirty="0">
                <a:solidFill>
                  <a:srgbClr val="6F6A60"/>
                </a:solidFill>
                <a:latin typeface="Calibri" pitchFamily="34" charset="0"/>
                <a:ea typeface="Calibri" pitchFamily="34" charset="-122"/>
                <a:cs typeface="Calibri" pitchFamily="34" charset="-120"/>
              </a:rPr>
              <a:t>Enhancements proposed from the evaluation and user feedback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B1A17"/>
                </a:solidFill>
                <a:latin typeface="Cambria" pitchFamily="34" charset="0"/>
                <a:ea typeface="Cambria" pitchFamily="34" charset="-122"/>
                <a:cs typeface="Cambria" pitchFamily="34" charset="-120"/>
              </a:rPr>
              <a:t>Every feature answers a problem</a:t>
            </a:r>
            <a:endParaRPr lang="en-US" sz="3400" dirty="0"/>
          </a:p>
        </p:txBody>
      </p:sp>
      <p:sp>
        <p:nvSpPr>
          <p:cNvPr id="3" name="Text 1"/>
          <p:cNvSpPr txBox="1"/>
          <p:nvPr/>
        </p:nvSpPr>
        <p:spPr>
          <a:xfrm>
            <a:off x="1325880" y="1188720"/>
            <a:ext cx="3657600" cy="274320"/>
          </a:xfrm>
          <a:prstGeom prst="rect">
            <a:avLst/>
          </a:prstGeom>
          <a:noFill/>
          <a:ln/>
        </p:spPr>
        <p:txBody>
          <a:bodyPr wrap="square" lIns="0" tIns="0" rIns="0" bIns="0" rtlCol="0" anchor="ctr"/>
          <a:lstStyle/>
          <a:p>
            <a:pPr indent="0" marL="0">
              <a:buNone/>
            </a:pPr>
            <a:r>
              <a:rPr lang="en-US" sz="1100" b="1" spc="200" kern="0" dirty="0">
                <a:solidFill>
                  <a:srgbClr val="6F6A60"/>
                </a:solidFill>
                <a:latin typeface="Calibri" pitchFamily="34" charset="0"/>
                <a:ea typeface="Calibri" pitchFamily="34" charset="-122"/>
                <a:cs typeface="Calibri" pitchFamily="34" charset="-120"/>
              </a:rPr>
              <a:t>FEATURE</a:t>
            </a:r>
            <a:endParaRPr lang="en-US" sz="1100" dirty="0"/>
          </a:p>
        </p:txBody>
      </p:sp>
      <p:sp>
        <p:nvSpPr>
          <p:cNvPr id="4" name="Text 2"/>
          <p:cNvSpPr txBox="1"/>
          <p:nvPr/>
        </p:nvSpPr>
        <p:spPr>
          <a:xfrm>
            <a:off x="6035040" y="1188720"/>
            <a:ext cx="4572000" cy="274320"/>
          </a:xfrm>
          <a:prstGeom prst="rect">
            <a:avLst/>
          </a:prstGeom>
          <a:noFill/>
          <a:ln/>
        </p:spPr>
        <p:txBody>
          <a:bodyPr wrap="square" lIns="0" tIns="0" rIns="0" bIns="0" rtlCol="0" anchor="ctr"/>
          <a:lstStyle/>
          <a:p>
            <a:pPr indent="0" marL="0">
              <a:buNone/>
            </a:pPr>
            <a:r>
              <a:rPr lang="en-US" sz="1100" b="1" spc="200" kern="0" dirty="0">
                <a:solidFill>
                  <a:srgbClr val="6F6A60"/>
                </a:solidFill>
                <a:latin typeface="Calibri" pitchFamily="34" charset="0"/>
                <a:ea typeface="Calibri" pitchFamily="34" charset="-122"/>
                <a:cs typeface="Calibri" pitchFamily="34" charset="-120"/>
              </a:rPr>
              <a:t>PROBLEM IT ANSWERS</a:t>
            </a:r>
            <a:endParaRPr lang="en-US" sz="1100" dirty="0"/>
          </a:p>
        </p:txBody>
      </p:sp>
      <p:sp>
        <p:nvSpPr>
          <p:cNvPr id="5" name="Shape 3"/>
          <p:cNvSpPr/>
          <p:nvPr/>
        </p:nvSpPr>
        <p:spPr>
          <a:xfrm>
            <a:off x="548640" y="1554480"/>
            <a:ext cx="11064240" cy="548640"/>
          </a:xfrm>
          <a:prstGeom prst="roundRect">
            <a:avLst>
              <a:gd name="adj" fmla="val 13333"/>
            </a:avLst>
          </a:prstGeom>
          <a:solidFill>
            <a:srgbClr val="F7F4EF"/>
          </a:solidFill>
          <a:ln w="12700">
            <a:solidFill>
              <a:srgbClr val="F7F4EF"/>
            </a:solidFill>
            <a:prstDash val="solid"/>
          </a:ln>
        </p:spPr>
      </p:sp>
      <p:sp>
        <p:nvSpPr>
          <p:cNvPr id="6" name="Shape 4"/>
          <p:cNvSpPr/>
          <p:nvPr/>
        </p:nvSpPr>
        <p:spPr>
          <a:xfrm>
            <a:off x="685800" y="1618488"/>
            <a:ext cx="420624" cy="420624"/>
          </a:xfrm>
          <a:prstGeom prst="ellipse">
            <a:avLst/>
          </a:prstGeom>
          <a:solidFill>
            <a:srgbClr val="8A5A2B"/>
          </a:solidFill>
          <a:ln w="12700">
            <a:solidFill>
              <a:srgbClr val="8A5A2B"/>
            </a:solidFill>
            <a:prstDash val="solid"/>
          </a:ln>
        </p:spPr>
      </p:sp>
      <p:pic>
        <p:nvPicPr>
          <p:cNvPr id="7" name="Image 0" descr="preencoded.png">    </p:cNvPr>
          <p:cNvPicPr>
            <a:picLocks noChangeAspect="1"/>
          </p:cNvPicPr>
          <p:nvPr/>
        </p:nvPicPr>
        <p:blipFill>
          <a:blip r:embed="rId1"/>
          <a:stretch>
            <a:fillRect/>
          </a:stretch>
        </p:blipFill>
        <p:spPr>
          <a:xfrm>
            <a:off x="790956" y="1723644"/>
            <a:ext cx="210312" cy="210312"/>
          </a:xfrm>
          <a:prstGeom prst="rect">
            <a:avLst/>
          </a:prstGeom>
        </p:spPr>
      </p:pic>
      <p:sp>
        <p:nvSpPr>
          <p:cNvPr id="8" name="Text 5"/>
          <p:cNvSpPr txBox="1"/>
          <p:nvPr/>
        </p:nvSpPr>
        <p:spPr>
          <a:xfrm>
            <a:off x="1325880" y="1554480"/>
            <a:ext cx="3931920" cy="548640"/>
          </a:xfrm>
          <a:prstGeom prst="rect">
            <a:avLst/>
          </a:prstGeom>
          <a:noFill/>
          <a:ln/>
        </p:spPr>
        <p:txBody>
          <a:bodyPr wrap="square" lIns="0" tIns="0" rIns="0" bIns="0" rtlCol="0" anchor="ctr"/>
          <a:lstStyle/>
          <a:p>
            <a:pPr indent="0" marL="0">
              <a:buNone/>
            </a:pPr>
            <a:r>
              <a:rPr lang="en-US" sz="1600" b="1" dirty="0">
                <a:solidFill>
                  <a:srgbClr val="1B1A17"/>
                </a:solidFill>
                <a:latin typeface="Calibri" pitchFamily="34" charset="0"/>
                <a:ea typeface="Calibri" pitchFamily="34" charset="-122"/>
                <a:cs typeface="Calibri" pitchFamily="34" charset="-120"/>
              </a:rPr>
              <a:t>Online slot booking</a:t>
            </a:r>
            <a:endParaRPr lang="en-US" sz="1600" dirty="0"/>
          </a:p>
        </p:txBody>
      </p:sp>
      <p:pic>
        <p:nvPicPr>
          <p:cNvPr id="9" name="Image 1" descr="preencoded.png">    </p:cNvPr>
          <p:cNvPicPr>
            <a:picLocks noChangeAspect="1"/>
          </p:cNvPicPr>
          <p:nvPr/>
        </p:nvPicPr>
        <p:blipFill>
          <a:blip r:embed="rId2"/>
          <a:stretch>
            <a:fillRect/>
          </a:stretch>
        </p:blipFill>
        <p:spPr>
          <a:xfrm>
            <a:off x="5349240" y="1691640"/>
            <a:ext cx="411480" cy="274320"/>
          </a:xfrm>
          <a:prstGeom prst="rect">
            <a:avLst/>
          </a:prstGeom>
        </p:spPr>
      </p:pic>
      <p:sp>
        <p:nvSpPr>
          <p:cNvPr id="10" name="Text 6"/>
          <p:cNvSpPr txBox="1"/>
          <p:nvPr/>
        </p:nvSpPr>
        <p:spPr>
          <a:xfrm>
            <a:off x="6035040" y="1554480"/>
            <a:ext cx="5486400" cy="548640"/>
          </a:xfrm>
          <a:prstGeom prst="rect">
            <a:avLst/>
          </a:prstGeom>
          <a:noFill/>
          <a:ln/>
        </p:spPr>
        <p:txBody>
          <a:bodyPr wrap="square" lIns="0" tIns="0" rIns="0" bIns="0" rtlCol="0" anchor="ctr"/>
          <a:lstStyle/>
          <a:p>
            <a:pPr indent="0" marL="0">
              <a:buNone/>
            </a:pPr>
            <a:r>
              <a:rPr lang="en-US" sz="1500" dirty="0">
                <a:solidFill>
                  <a:srgbClr val="6F6A60"/>
                </a:solidFill>
                <a:latin typeface="Calibri" pitchFamily="34" charset="0"/>
                <a:ea typeface="Calibri" pitchFamily="34" charset="-122"/>
                <a:cs typeface="Calibri" pitchFamily="34" charset="-120"/>
              </a:rPr>
              <a:t>Long waiting time and double booking</a:t>
            </a:r>
            <a:endParaRPr lang="en-US" sz="1500" dirty="0"/>
          </a:p>
        </p:txBody>
      </p:sp>
      <p:sp>
        <p:nvSpPr>
          <p:cNvPr id="11" name="Shape 7"/>
          <p:cNvSpPr/>
          <p:nvPr/>
        </p:nvSpPr>
        <p:spPr>
          <a:xfrm>
            <a:off x="548640" y="2212848"/>
            <a:ext cx="11064240" cy="548640"/>
          </a:xfrm>
          <a:prstGeom prst="roundRect">
            <a:avLst>
              <a:gd name="adj" fmla="val 13333"/>
            </a:avLst>
          </a:prstGeom>
          <a:solidFill>
            <a:srgbClr val="FFFFFF"/>
          </a:solidFill>
          <a:ln w="12700">
            <a:solidFill>
              <a:srgbClr val="E4E0D8"/>
            </a:solidFill>
            <a:prstDash val="solid"/>
          </a:ln>
        </p:spPr>
      </p:sp>
      <p:sp>
        <p:nvSpPr>
          <p:cNvPr id="12" name="Shape 8"/>
          <p:cNvSpPr/>
          <p:nvPr/>
        </p:nvSpPr>
        <p:spPr>
          <a:xfrm>
            <a:off x="685800" y="2276856"/>
            <a:ext cx="420624" cy="420624"/>
          </a:xfrm>
          <a:prstGeom prst="ellipse">
            <a:avLst/>
          </a:prstGeom>
          <a:solidFill>
            <a:srgbClr val="8A5A2B"/>
          </a:solidFill>
          <a:ln w="12700">
            <a:solidFill>
              <a:srgbClr val="8A5A2B"/>
            </a:solidFill>
            <a:prstDash val="solid"/>
          </a:ln>
        </p:spPr>
      </p:sp>
      <p:pic>
        <p:nvPicPr>
          <p:cNvPr id="13" name="Image 2" descr="preencoded.png">    </p:cNvPr>
          <p:cNvPicPr>
            <a:picLocks noChangeAspect="1"/>
          </p:cNvPicPr>
          <p:nvPr/>
        </p:nvPicPr>
        <p:blipFill>
          <a:blip r:embed="rId3"/>
          <a:stretch>
            <a:fillRect/>
          </a:stretch>
        </p:blipFill>
        <p:spPr>
          <a:xfrm>
            <a:off x="790956" y="2382012"/>
            <a:ext cx="210312" cy="210312"/>
          </a:xfrm>
          <a:prstGeom prst="rect">
            <a:avLst/>
          </a:prstGeom>
        </p:spPr>
      </p:pic>
      <p:sp>
        <p:nvSpPr>
          <p:cNvPr id="14" name="Text 9"/>
          <p:cNvSpPr txBox="1"/>
          <p:nvPr/>
        </p:nvSpPr>
        <p:spPr>
          <a:xfrm>
            <a:off x="1325880" y="2212848"/>
            <a:ext cx="3931920" cy="548640"/>
          </a:xfrm>
          <a:prstGeom prst="rect">
            <a:avLst/>
          </a:prstGeom>
          <a:noFill/>
          <a:ln/>
        </p:spPr>
        <p:txBody>
          <a:bodyPr wrap="square" lIns="0" tIns="0" rIns="0" bIns="0" rtlCol="0" anchor="ctr"/>
          <a:lstStyle/>
          <a:p>
            <a:pPr indent="0" marL="0">
              <a:buNone/>
            </a:pPr>
            <a:r>
              <a:rPr lang="en-US" sz="1600" b="1" dirty="0">
                <a:solidFill>
                  <a:srgbClr val="1B1A17"/>
                </a:solidFill>
                <a:latin typeface="Calibri" pitchFamily="34" charset="0"/>
                <a:ea typeface="Calibri" pitchFamily="34" charset="-122"/>
                <a:cs typeface="Calibri" pitchFamily="34" charset="-120"/>
              </a:rPr>
              <a:t>Hairstyle gallery</a:t>
            </a:r>
            <a:endParaRPr lang="en-US" sz="1600" dirty="0"/>
          </a:p>
        </p:txBody>
      </p:sp>
      <p:pic>
        <p:nvPicPr>
          <p:cNvPr id="15" name="Image 3" descr="preencoded.png">    </p:cNvPr>
          <p:cNvPicPr>
            <a:picLocks noChangeAspect="1"/>
          </p:cNvPicPr>
          <p:nvPr/>
        </p:nvPicPr>
        <p:blipFill>
          <a:blip r:embed="rId4"/>
          <a:stretch>
            <a:fillRect/>
          </a:stretch>
        </p:blipFill>
        <p:spPr>
          <a:xfrm>
            <a:off x="5349240" y="2350008"/>
            <a:ext cx="411480" cy="274320"/>
          </a:xfrm>
          <a:prstGeom prst="rect">
            <a:avLst/>
          </a:prstGeom>
        </p:spPr>
      </p:pic>
      <p:sp>
        <p:nvSpPr>
          <p:cNvPr id="16" name="Text 10"/>
          <p:cNvSpPr txBox="1"/>
          <p:nvPr/>
        </p:nvSpPr>
        <p:spPr>
          <a:xfrm>
            <a:off x="6035040" y="2212848"/>
            <a:ext cx="5486400" cy="548640"/>
          </a:xfrm>
          <a:prstGeom prst="rect">
            <a:avLst/>
          </a:prstGeom>
          <a:noFill/>
          <a:ln/>
        </p:spPr>
        <p:txBody>
          <a:bodyPr wrap="square" lIns="0" tIns="0" rIns="0" bIns="0" rtlCol="0" anchor="ctr"/>
          <a:lstStyle/>
          <a:p>
            <a:pPr indent="0" marL="0">
              <a:buNone/>
            </a:pPr>
            <a:r>
              <a:rPr lang="en-US" sz="1500" dirty="0">
                <a:solidFill>
                  <a:srgbClr val="6F6A60"/>
                </a:solidFill>
                <a:latin typeface="Calibri" pitchFamily="34" charset="0"/>
                <a:ea typeface="Calibri" pitchFamily="34" charset="-122"/>
                <a:cs typeface="Calibri" pitchFamily="34" charset="-120"/>
              </a:rPr>
              <a:t>Difficulty in explaining the desired haircut</a:t>
            </a:r>
            <a:endParaRPr lang="en-US" sz="1500" dirty="0"/>
          </a:p>
        </p:txBody>
      </p:sp>
      <p:sp>
        <p:nvSpPr>
          <p:cNvPr id="17" name="Shape 11"/>
          <p:cNvSpPr/>
          <p:nvPr/>
        </p:nvSpPr>
        <p:spPr>
          <a:xfrm>
            <a:off x="548640" y="2871216"/>
            <a:ext cx="11064240" cy="548640"/>
          </a:xfrm>
          <a:prstGeom prst="roundRect">
            <a:avLst>
              <a:gd name="adj" fmla="val 13333"/>
            </a:avLst>
          </a:prstGeom>
          <a:solidFill>
            <a:srgbClr val="F7F4EF"/>
          </a:solidFill>
          <a:ln w="12700">
            <a:solidFill>
              <a:srgbClr val="F7F4EF"/>
            </a:solidFill>
            <a:prstDash val="solid"/>
          </a:ln>
        </p:spPr>
      </p:sp>
      <p:sp>
        <p:nvSpPr>
          <p:cNvPr id="18" name="Shape 12"/>
          <p:cNvSpPr/>
          <p:nvPr/>
        </p:nvSpPr>
        <p:spPr>
          <a:xfrm>
            <a:off x="685800" y="2935224"/>
            <a:ext cx="420624" cy="420624"/>
          </a:xfrm>
          <a:prstGeom prst="ellipse">
            <a:avLst/>
          </a:prstGeom>
          <a:solidFill>
            <a:srgbClr val="8A5A2B"/>
          </a:solidFill>
          <a:ln w="12700">
            <a:solidFill>
              <a:srgbClr val="8A5A2B"/>
            </a:solidFill>
            <a:prstDash val="solid"/>
          </a:ln>
        </p:spPr>
      </p:sp>
      <p:pic>
        <p:nvPicPr>
          <p:cNvPr id="19" name="Image 4" descr="preencoded.png">    </p:cNvPr>
          <p:cNvPicPr>
            <a:picLocks noChangeAspect="1"/>
          </p:cNvPicPr>
          <p:nvPr/>
        </p:nvPicPr>
        <p:blipFill>
          <a:blip r:embed="rId5"/>
          <a:stretch>
            <a:fillRect/>
          </a:stretch>
        </p:blipFill>
        <p:spPr>
          <a:xfrm>
            <a:off x="790956" y="3040380"/>
            <a:ext cx="210312" cy="210312"/>
          </a:xfrm>
          <a:prstGeom prst="rect">
            <a:avLst/>
          </a:prstGeom>
        </p:spPr>
      </p:pic>
      <p:sp>
        <p:nvSpPr>
          <p:cNvPr id="20" name="Text 13"/>
          <p:cNvSpPr txBox="1"/>
          <p:nvPr/>
        </p:nvSpPr>
        <p:spPr>
          <a:xfrm>
            <a:off x="1325880" y="2871216"/>
            <a:ext cx="3931920" cy="548640"/>
          </a:xfrm>
          <a:prstGeom prst="rect">
            <a:avLst/>
          </a:prstGeom>
          <a:noFill/>
          <a:ln/>
        </p:spPr>
        <p:txBody>
          <a:bodyPr wrap="square" lIns="0" tIns="0" rIns="0" bIns="0" rtlCol="0" anchor="ctr"/>
          <a:lstStyle/>
          <a:p>
            <a:pPr indent="0" marL="0">
              <a:buNone/>
            </a:pPr>
            <a:r>
              <a:rPr lang="en-US" sz="1600" b="1" dirty="0">
                <a:solidFill>
                  <a:srgbClr val="1B1A17"/>
                </a:solidFill>
                <a:latin typeface="Calibri" pitchFamily="34" charset="0"/>
                <a:ea typeface="Calibri" pitchFamily="34" charset="-122"/>
                <a:cs typeface="Calibri" pitchFamily="34" charset="-120"/>
              </a:rPr>
              <a:t>Preferred barber</a:t>
            </a:r>
            <a:endParaRPr lang="en-US" sz="1600" dirty="0"/>
          </a:p>
        </p:txBody>
      </p:sp>
      <p:pic>
        <p:nvPicPr>
          <p:cNvPr id="21" name="Image 5" descr="preencoded.png">    </p:cNvPr>
          <p:cNvPicPr>
            <a:picLocks noChangeAspect="1"/>
          </p:cNvPicPr>
          <p:nvPr/>
        </p:nvPicPr>
        <p:blipFill>
          <a:blip r:embed="rId6"/>
          <a:stretch>
            <a:fillRect/>
          </a:stretch>
        </p:blipFill>
        <p:spPr>
          <a:xfrm>
            <a:off x="5349240" y="3008376"/>
            <a:ext cx="411480" cy="274320"/>
          </a:xfrm>
          <a:prstGeom prst="rect">
            <a:avLst/>
          </a:prstGeom>
        </p:spPr>
      </p:pic>
      <p:sp>
        <p:nvSpPr>
          <p:cNvPr id="22" name="Text 14"/>
          <p:cNvSpPr txBox="1"/>
          <p:nvPr/>
        </p:nvSpPr>
        <p:spPr>
          <a:xfrm>
            <a:off x="6035040" y="2871216"/>
            <a:ext cx="5486400" cy="548640"/>
          </a:xfrm>
          <a:prstGeom prst="rect">
            <a:avLst/>
          </a:prstGeom>
          <a:noFill/>
          <a:ln/>
        </p:spPr>
        <p:txBody>
          <a:bodyPr wrap="square" lIns="0" tIns="0" rIns="0" bIns="0" rtlCol="0" anchor="ctr"/>
          <a:lstStyle/>
          <a:p>
            <a:pPr indent="0" marL="0">
              <a:buNone/>
            </a:pPr>
            <a:r>
              <a:rPr lang="en-US" sz="1500" dirty="0">
                <a:solidFill>
                  <a:srgbClr val="6F6A60"/>
                </a:solidFill>
                <a:latin typeface="Calibri" pitchFamily="34" charset="0"/>
                <a:ea typeface="Calibri" pitchFamily="34" charset="-122"/>
                <a:cs typeface="Calibri" pitchFamily="34" charset="-120"/>
              </a:rPr>
              <a:t>Can't request a favorite barber in advance</a:t>
            </a:r>
            <a:endParaRPr lang="en-US" sz="1500" dirty="0"/>
          </a:p>
        </p:txBody>
      </p:sp>
      <p:sp>
        <p:nvSpPr>
          <p:cNvPr id="23" name="Shape 15"/>
          <p:cNvSpPr/>
          <p:nvPr/>
        </p:nvSpPr>
        <p:spPr>
          <a:xfrm>
            <a:off x="548640" y="3529584"/>
            <a:ext cx="11064240" cy="548640"/>
          </a:xfrm>
          <a:prstGeom prst="roundRect">
            <a:avLst>
              <a:gd name="adj" fmla="val 13333"/>
            </a:avLst>
          </a:prstGeom>
          <a:solidFill>
            <a:srgbClr val="FFFFFF"/>
          </a:solidFill>
          <a:ln w="12700">
            <a:solidFill>
              <a:srgbClr val="E4E0D8"/>
            </a:solidFill>
            <a:prstDash val="solid"/>
          </a:ln>
        </p:spPr>
      </p:sp>
      <p:sp>
        <p:nvSpPr>
          <p:cNvPr id="24" name="Shape 16"/>
          <p:cNvSpPr/>
          <p:nvPr/>
        </p:nvSpPr>
        <p:spPr>
          <a:xfrm>
            <a:off x="685800" y="3593592"/>
            <a:ext cx="420624" cy="420624"/>
          </a:xfrm>
          <a:prstGeom prst="ellipse">
            <a:avLst/>
          </a:prstGeom>
          <a:solidFill>
            <a:srgbClr val="8A5A2B"/>
          </a:solidFill>
          <a:ln w="12700">
            <a:solidFill>
              <a:srgbClr val="8A5A2B"/>
            </a:solidFill>
            <a:prstDash val="solid"/>
          </a:ln>
        </p:spPr>
      </p:sp>
      <p:pic>
        <p:nvPicPr>
          <p:cNvPr id="25" name="Image 6" descr="preencoded.png">    </p:cNvPr>
          <p:cNvPicPr>
            <a:picLocks noChangeAspect="1"/>
          </p:cNvPicPr>
          <p:nvPr/>
        </p:nvPicPr>
        <p:blipFill>
          <a:blip r:embed="rId7"/>
          <a:stretch>
            <a:fillRect/>
          </a:stretch>
        </p:blipFill>
        <p:spPr>
          <a:xfrm>
            <a:off x="790956" y="3698748"/>
            <a:ext cx="210312" cy="210312"/>
          </a:xfrm>
          <a:prstGeom prst="rect">
            <a:avLst/>
          </a:prstGeom>
        </p:spPr>
      </p:pic>
      <p:sp>
        <p:nvSpPr>
          <p:cNvPr id="26" name="Text 17"/>
          <p:cNvSpPr txBox="1"/>
          <p:nvPr/>
        </p:nvSpPr>
        <p:spPr>
          <a:xfrm>
            <a:off x="1325880" y="3529584"/>
            <a:ext cx="3931920" cy="548640"/>
          </a:xfrm>
          <a:prstGeom prst="rect">
            <a:avLst/>
          </a:prstGeom>
          <a:noFill/>
          <a:ln/>
        </p:spPr>
        <p:txBody>
          <a:bodyPr wrap="square" lIns="0" tIns="0" rIns="0" bIns="0" rtlCol="0" anchor="ctr"/>
          <a:lstStyle/>
          <a:p>
            <a:pPr indent="0" marL="0">
              <a:buNone/>
            </a:pPr>
            <a:r>
              <a:rPr lang="en-US" sz="1600" b="1" dirty="0">
                <a:solidFill>
                  <a:srgbClr val="1B1A17"/>
                </a:solidFill>
                <a:latin typeface="Calibri" pitchFamily="34" charset="0"/>
                <a:ea typeface="Calibri" pitchFamily="34" charset="-122"/>
                <a:cs typeface="Calibri" pitchFamily="34" charset="-120"/>
              </a:rPr>
              <a:t>Saved preferences</a:t>
            </a:r>
            <a:endParaRPr lang="en-US" sz="1600" dirty="0"/>
          </a:p>
        </p:txBody>
      </p:sp>
      <p:pic>
        <p:nvPicPr>
          <p:cNvPr id="27" name="Image 7" descr="preencoded.png">    </p:cNvPr>
          <p:cNvPicPr>
            <a:picLocks noChangeAspect="1"/>
          </p:cNvPicPr>
          <p:nvPr/>
        </p:nvPicPr>
        <p:blipFill>
          <a:blip r:embed="rId8"/>
          <a:stretch>
            <a:fillRect/>
          </a:stretch>
        </p:blipFill>
        <p:spPr>
          <a:xfrm>
            <a:off x="5349240" y="3666744"/>
            <a:ext cx="411480" cy="274320"/>
          </a:xfrm>
          <a:prstGeom prst="rect">
            <a:avLst/>
          </a:prstGeom>
        </p:spPr>
      </p:pic>
      <p:sp>
        <p:nvSpPr>
          <p:cNvPr id="28" name="Text 18"/>
          <p:cNvSpPr txBox="1"/>
          <p:nvPr/>
        </p:nvSpPr>
        <p:spPr>
          <a:xfrm>
            <a:off x="6035040" y="3529584"/>
            <a:ext cx="5486400" cy="548640"/>
          </a:xfrm>
          <a:prstGeom prst="rect">
            <a:avLst/>
          </a:prstGeom>
          <a:noFill/>
          <a:ln/>
        </p:spPr>
        <p:txBody>
          <a:bodyPr wrap="square" lIns="0" tIns="0" rIns="0" bIns="0" rtlCol="0" anchor="ctr"/>
          <a:lstStyle/>
          <a:p>
            <a:pPr indent="0" marL="0">
              <a:buNone/>
            </a:pPr>
            <a:r>
              <a:rPr lang="en-US" sz="1500" dirty="0">
                <a:solidFill>
                  <a:srgbClr val="6F6A60"/>
                </a:solidFill>
                <a:latin typeface="Calibri" pitchFamily="34" charset="0"/>
                <a:ea typeface="Calibri" pitchFamily="34" charset="-122"/>
                <a:cs typeface="Calibri" pitchFamily="34" charset="-120"/>
              </a:rPr>
              <a:t>Barber asks the same questions every visit</a:t>
            </a:r>
            <a:endParaRPr lang="en-US" sz="1500" dirty="0"/>
          </a:p>
        </p:txBody>
      </p:sp>
      <p:sp>
        <p:nvSpPr>
          <p:cNvPr id="29" name="Shape 19"/>
          <p:cNvSpPr/>
          <p:nvPr/>
        </p:nvSpPr>
        <p:spPr>
          <a:xfrm>
            <a:off x="548640" y="4187952"/>
            <a:ext cx="11064240" cy="548640"/>
          </a:xfrm>
          <a:prstGeom prst="roundRect">
            <a:avLst>
              <a:gd name="adj" fmla="val 13333"/>
            </a:avLst>
          </a:prstGeom>
          <a:solidFill>
            <a:srgbClr val="F7F4EF"/>
          </a:solidFill>
          <a:ln w="12700">
            <a:solidFill>
              <a:srgbClr val="F7F4EF"/>
            </a:solidFill>
            <a:prstDash val="solid"/>
          </a:ln>
        </p:spPr>
      </p:sp>
      <p:sp>
        <p:nvSpPr>
          <p:cNvPr id="30" name="Shape 20"/>
          <p:cNvSpPr/>
          <p:nvPr/>
        </p:nvSpPr>
        <p:spPr>
          <a:xfrm>
            <a:off x="685800" y="4251960"/>
            <a:ext cx="420624" cy="420624"/>
          </a:xfrm>
          <a:prstGeom prst="ellipse">
            <a:avLst/>
          </a:prstGeom>
          <a:solidFill>
            <a:srgbClr val="8A5A2B"/>
          </a:solidFill>
          <a:ln w="12700">
            <a:solidFill>
              <a:srgbClr val="8A5A2B"/>
            </a:solidFill>
            <a:prstDash val="solid"/>
          </a:ln>
        </p:spPr>
      </p:sp>
      <p:pic>
        <p:nvPicPr>
          <p:cNvPr id="31" name="Image 8" descr="preencoded.png">    </p:cNvPr>
          <p:cNvPicPr>
            <a:picLocks noChangeAspect="1"/>
          </p:cNvPicPr>
          <p:nvPr/>
        </p:nvPicPr>
        <p:blipFill>
          <a:blip r:embed="rId9"/>
          <a:stretch>
            <a:fillRect/>
          </a:stretch>
        </p:blipFill>
        <p:spPr>
          <a:xfrm>
            <a:off x="790956" y="4357116"/>
            <a:ext cx="210312" cy="210312"/>
          </a:xfrm>
          <a:prstGeom prst="rect">
            <a:avLst/>
          </a:prstGeom>
        </p:spPr>
      </p:pic>
      <p:sp>
        <p:nvSpPr>
          <p:cNvPr id="32" name="Text 21"/>
          <p:cNvSpPr txBox="1"/>
          <p:nvPr/>
        </p:nvSpPr>
        <p:spPr>
          <a:xfrm>
            <a:off x="1325880" y="4187952"/>
            <a:ext cx="3931920" cy="548640"/>
          </a:xfrm>
          <a:prstGeom prst="rect">
            <a:avLst/>
          </a:prstGeom>
          <a:noFill/>
          <a:ln/>
        </p:spPr>
        <p:txBody>
          <a:bodyPr wrap="square" lIns="0" tIns="0" rIns="0" bIns="0" rtlCol="0" anchor="ctr"/>
          <a:lstStyle/>
          <a:p>
            <a:pPr indent="0" marL="0">
              <a:buNone/>
            </a:pPr>
            <a:r>
              <a:rPr lang="en-US" sz="1600" b="1" dirty="0">
                <a:solidFill>
                  <a:srgbClr val="1B1A17"/>
                </a:solidFill>
                <a:latin typeface="Calibri" pitchFamily="34" charset="0"/>
                <a:ea typeface="Calibri" pitchFamily="34" charset="-122"/>
                <a:cs typeface="Calibri" pitchFamily="34" charset="-120"/>
              </a:rPr>
              <a:t>Email / SMS reminders</a:t>
            </a:r>
            <a:endParaRPr lang="en-US" sz="1600" dirty="0"/>
          </a:p>
        </p:txBody>
      </p:sp>
      <p:pic>
        <p:nvPicPr>
          <p:cNvPr id="33" name="Image 9" descr="preencoded.png">    </p:cNvPr>
          <p:cNvPicPr>
            <a:picLocks noChangeAspect="1"/>
          </p:cNvPicPr>
          <p:nvPr/>
        </p:nvPicPr>
        <p:blipFill>
          <a:blip r:embed="rId10"/>
          <a:stretch>
            <a:fillRect/>
          </a:stretch>
        </p:blipFill>
        <p:spPr>
          <a:xfrm>
            <a:off x="5349240" y="4325112"/>
            <a:ext cx="411480" cy="274320"/>
          </a:xfrm>
          <a:prstGeom prst="rect">
            <a:avLst/>
          </a:prstGeom>
        </p:spPr>
      </p:pic>
      <p:sp>
        <p:nvSpPr>
          <p:cNvPr id="34" name="Text 22"/>
          <p:cNvSpPr txBox="1"/>
          <p:nvPr/>
        </p:nvSpPr>
        <p:spPr>
          <a:xfrm>
            <a:off x="6035040" y="4187952"/>
            <a:ext cx="5486400" cy="548640"/>
          </a:xfrm>
          <a:prstGeom prst="rect">
            <a:avLst/>
          </a:prstGeom>
          <a:noFill/>
          <a:ln/>
        </p:spPr>
        <p:txBody>
          <a:bodyPr wrap="square" lIns="0" tIns="0" rIns="0" bIns="0" rtlCol="0" anchor="ctr"/>
          <a:lstStyle/>
          <a:p>
            <a:pPr indent="0" marL="0">
              <a:buNone/>
            </a:pPr>
            <a:r>
              <a:rPr lang="en-US" sz="1500" dirty="0">
                <a:solidFill>
                  <a:srgbClr val="6F6A60"/>
                </a:solidFill>
                <a:latin typeface="Calibri" pitchFamily="34" charset="0"/>
                <a:ea typeface="Calibri" pitchFamily="34" charset="-122"/>
                <a:cs typeface="Calibri" pitchFamily="34" charset="-120"/>
              </a:rPr>
              <a:t>Forgotten appointments and no-shows</a:t>
            </a:r>
            <a:endParaRPr lang="en-US" sz="1500" dirty="0"/>
          </a:p>
        </p:txBody>
      </p:sp>
      <p:sp>
        <p:nvSpPr>
          <p:cNvPr id="35" name="Shape 23"/>
          <p:cNvSpPr/>
          <p:nvPr/>
        </p:nvSpPr>
        <p:spPr>
          <a:xfrm>
            <a:off x="548640" y="4846320"/>
            <a:ext cx="11064240" cy="548640"/>
          </a:xfrm>
          <a:prstGeom prst="roundRect">
            <a:avLst>
              <a:gd name="adj" fmla="val 13333"/>
            </a:avLst>
          </a:prstGeom>
          <a:solidFill>
            <a:srgbClr val="FFFFFF"/>
          </a:solidFill>
          <a:ln w="12700">
            <a:solidFill>
              <a:srgbClr val="E4E0D8"/>
            </a:solidFill>
            <a:prstDash val="solid"/>
          </a:ln>
        </p:spPr>
      </p:sp>
      <p:sp>
        <p:nvSpPr>
          <p:cNvPr id="36" name="Shape 24"/>
          <p:cNvSpPr/>
          <p:nvPr/>
        </p:nvSpPr>
        <p:spPr>
          <a:xfrm>
            <a:off x="685800" y="4910328"/>
            <a:ext cx="420624" cy="420624"/>
          </a:xfrm>
          <a:prstGeom prst="ellipse">
            <a:avLst/>
          </a:prstGeom>
          <a:solidFill>
            <a:srgbClr val="8A5A2B"/>
          </a:solidFill>
          <a:ln w="12700">
            <a:solidFill>
              <a:srgbClr val="8A5A2B"/>
            </a:solidFill>
            <a:prstDash val="solid"/>
          </a:ln>
        </p:spPr>
      </p:sp>
      <p:pic>
        <p:nvPicPr>
          <p:cNvPr id="37" name="Image 10" descr="preencoded.png">    </p:cNvPr>
          <p:cNvPicPr>
            <a:picLocks noChangeAspect="1"/>
          </p:cNvPicPr>
          <p:nvPr/>
        </p:nvPicPr>
        <p:blipFill>
          <a:blip r:embed="rId11"/>
          <a:stretch>
            <a:fillRect/>
          </a:stretch>
        </p:blipFill>
        <p:spPr>
          <a:xfrm>
            <a:off x="790956" y="5015484"/>
            <a:ext cx="210312" cy="210312"/>
          </a:xfrm>
          <a:prstGeom prst="rect">
            <a:avLst/>
          </a:prstGeom>
        </p:spPr>
      </p:pic>
      <p:sp>
        <p:nvSpPr>
          <p:cNvPr id="38" name="Text 25"/>
          <p:cNvSpPr txBox="1"/>
          <p:nvPr/>
        </p:nvSpPr>
        <p:spPr>
          <a:xfrm>
            <a:off x="1325880" y="4846320"/>
            <a:ext cx="3931920" cy="548640"/>
          </a:xfrm>
          <a:prstGeom prst="rect">
            <a:avLst/>
          </a:prstGeom>
          <a:noFill/>
          <a:ln/>
        </p:spPr>
        <p:txBody>
          <a:bodyPr wrap="square" lIns="0" tIns="0" rIns="0" bIns="0" rtlCol="0" anchor="ctr"/>
          <a:lstStyle/>
          <a:p>
            <a:pPr indent="0" marL="0">
              <a:buNone/>
            </a:pPr>
            <a:r>
              <a:rPr lang="en-US" sz="1600" b="1" dirty="0">
                <a:solidFill>
                  <a:srgbClr val="1B1A17"/>
                </a:solidFill>
                <a:latin typeface="Calibri" pitchFamily="34" charset="0"/>
                <a:ea typeface="Calibri" pitchFamily="34" charset="-122"/>
                <a:cs typeface="Calibri" pitchFamily="34" charset="-120"/>
              </a:rPr>
              <a:t>Owner dashboard</a:t>
            </a:r>
            <a:endParaRPr lang="en-US" sz="1600" dirty="0"/>
          </a:p>
        </p:txBody>
      </p:sp>
      <p:pic>
        <p:nvPicPr>
          <p:cNvPr id="39" name="Image 11" descr="preencoded.png">    </p:cNvPr>
          <p:cNvPicPr>
            <a:picLocks noChangeAspect="1"/>
          </p:cNvPicPr>
          <p:nvPr/>
        </p:nvPicPr>
        <p:blipFill>
          <a:blip r:embed="rId12"/>
          <a:stretch>
            <a:fillRect/>
          </a:stretch>
        </p:blipFill>
        <p:spPr>
          <a:xfrm>
            <a:off x="5349240" y="4983480"/>
            <a:ext cx="411480" cy="274320"/>
          </a:xfrm>
          <a:prstGeom prst="rect">
            <a:avLst/>
          </a:prstGeom>
        </p:spPr>
      </p:pic>
      <p:sp>
        <p:nvSpPr>
          <p:cNvPr id="40" name="Text 26"/>
          <p:cNvSpPr txBox="1"/>
          <p:nvPr/>
        </p:nvSpPr>
        <p:spPr>
          <a:xfrm>
            <a:off x="6035040" y="4846320"/>
            <a:ext cx="5486400" cy="548640"/>
          </a:xfrm>
          <a:prstGeom prst="rect">
            <a:avLst/>
          </a:prstGeom>
          <a:noFill/>
          <a:ln/>
        </p:spPr>
        <p:txBody>
          <a:bodyPr wrap="square" lIns="0" tIns="0" rIns="0" bIns="0" rtlCol="0" anchor="ctr"/>
          <a:lstStyle/>
          <a:p>
            <a:pPr indent="0" marL="0">
              <a:buNone/>
            </a:pPr>
            <a:r>
              <a:rPr lang="en-US" sz="1500" dirty="0">
                <a:solidFill>
                  <a:srgbClr val="6F6A60"/>
                </a:solidFill>
                <a:latin typeface="Calibri" pitchFamily="34" charset="0"/>
                <a:ea typeface="Calibri" pitchFamily="34" charset="-122"/>
                <a:cs typeface="Calibri" pitchFamily="34" charset="-120"/>
              </a:rPr>
              <a:t>Schedule only written in a notebook</a:t>
            </a:r>
            <a:endParaRPr lang="en-US" sz="1500" dirty="0"/>
          </a:p>
        </p:txBody>
      </p:sp>
      <p:sp>
        <p:nvSpPr>
          <p:cNvPr id="41" name="Shape 27"/>
          <p:cNvSpPr/>
          <p:nvPr/>
        </p:nvSpPr>
        <p:spPr>
          <a:xfrm>
            <a:off x="548640" y="5504688"/>
            <a:ext cx="11064240" cy="548640"/>
          </a:xfrm>
          <a:prstGeom prst="roundRect">
            <a:avLst>
              <a:gd name="adj" fmla="val 13333"/>
            </a:avLst>
          </a:prstGeom>
          <a:solidFill>
            <a:srgbClr val="F7F4EF"/>
          </a:solidFill>
          <a:ln w="12700">
            <a:solidFill>
              <a:srgbClr val="F7F4EF"/>
            </a:solidFill>
            <a:prstDash val="solid"/>
          </a:ln>
        </p:spPr>
      </p:sp>
      <p:sp>
        <p:nvSpPr>
          <p:cNvPr id="42" name="Shape 28"/>
          <p:cNvSpPr/>
          <p:nvPr/>
        </p:nvSpPr>
        <p:spPr>
          <a:xfrm>
            <a:off x="685800" y="5568696"/>
            <a:ext cx="420624" cy="420624"/>
          </a:xfrm>
          <a:prstGeom prst="ellipse">
            <a:avLst/>
          </a:prstGeom>
          <a:solidFill>
            <a:srgbClr val="8A5A2B"/>
          </a:solidFill>
          <a:ln w="12700">
            <a:solidFill>
              <a:srgbClr val="8A5A2B"/>
            </a:solidFill>
            <a:prstDash val="solid"/>
          </a:ln>
        </p:spPr>
      </p:sp>
      <p:pic>
        <p:nvPicPr>
          <p:cNvPr id="43" name="Image 12" descr="preencoded.png">    </p:cNvPr>
          <p:cNvPicPr>
            <a:picLocks noChangeAspect="1"/>
          </p:cNvPicPr>
          <p:nvPr/>
        </p:nvPicPr>
        <p:blipFill>
          <a:blip r:embed="rId13"/>
          <a:stretch>
            <a:fillRect/>
          </a:stretch>
        </p:blipFill>
        <p:spPr>
          <a:xfrm>
            <a:off x="790956" y="5673852"/>
            <a:ext cx="210312" cy="210312"/>
          </a:xfrm>
          <a:prstGeom prst="rect">
            <a:avLst/>
          </a:prstGeom>
        </p:spPr>
      </p:pic>
      <p:sp>
        <p:nvSpPr>
          <p:cNvPr id="44" name="Text 29"/>
          <p:cNvSpPr txBox="1"/>
          <p:nvPr/>
        </p:nvSpPr>
        <p:spPr>
          <a:xfrm>
            <a:off x="1325880" y="5504688"/>
            <a:ext cx="3931920" cy="548640"/>
          </a:xfrm>
          <a:prstGeom prst="rect">
            <a:avLst/>
          </a:prstGeom>
          <a:noFill/>
          <a:ln/>
        </p:spPr>
        <p:txBody>
          <a:bodyPr wrap="square" lIns="0" tIns="0" rIns="0" bIns="0" rtlCol="0" anchor="ctr"/>
          <a:lstStyle/>
          <a:p>
            <a:pPr indent="0" marL="0">
              <a:buNone/>
            </a:pPr>
            <a:r>
              <a:rPr lang="en-US" sz="1600" b="1" dirty="0">
                <a:solidFill>
                  <a:srgbClr val="1B1A17"/>
                </a:solidFill>
                <a:latin typeface="Calibri" pitchFamily="34" charset="0"/>
                <a:ea typeface="Calibri" pitchFamily="34" charset="-122"/>
                <a:cs typeface="Calibri" pitchFamily="34" charset="-120"/>
              </a:rPr>
              <a:t>Rating and feedback</a:t>
            </a:r>
            <a:endParaRPr lang="en-US" sz="1600" dirty="0"/>
          </a:p>
        </p:txBody>
      </p:sp>
      <p:pic>
        <p:nvPicPr>
          <p:cNvPr id="45" name="Image 13" descr="preencoded.png">    </p:cNvPr>
          <p:cNvPicPr>
            <a:picLocks noChangeAspect="1"/>
          </p:cNvPicPr>
          <p:nvPr/>
        </p:nvPicPr>
        <p:blipFill>
          <a:blip r:embed="rId14"/>
          <a:stretch>
            <a:fillRect/>
          </a:stretch>
        </p:blipFill>
        <p:spPr>
          <a:xfrm>
            <a:off x="5349240" y="5641848"/>
            <a:ext cx="411480" cy="274320"/>
          </a:xfrm>
          <a:prstGeom prst="rect">
            <a:avLst/>
          </a:prstGeom>
        </p:spPr>
      </p:pic>
      <p:sp>
        <p:nvSpPr>
          <p:cNvPr id="46" name="Text 30"/>
          <p:cNvSpPr txBox="1"/>
          <p:nvPr/>
        </p:nvSpPr>
        <p:spPr>
          <a:xfrm>
            <a:off x="6035040" y="5504688"/>
            <a:ext cx="5486400" cy="548640"/>
          </a:xfrm>
          <a:prstGeom prst="rect">
            <a:avLst/>
          </a:prstGeom>
          <a:noFill/>
          <a:ln/>
        </p:spPr>
        <p:txBody>
          <a:bodyPr wrap="square" lIns="0" tIns="0" rIns="0" bIns="0" rtlCol="0" anchor="ctr"/>
          <a:lstStyle/>
          <a:p>
            <a:pPr indent="0" marL="0">
              <a:buNone/>
            </a:pPr>
            <a:r>
              <a:rPr lang="en-US" sz="1500" dirty="0">
                <a:solidFill>
                  <a:srgbClr val="6F6A60"/>
                </a:solidFill>
                <a:latin typeface="Calibri" pitchFamily="34" charset="0"/>
                <a:ea typeface="Calibri" pitchFamily="34" charset="-122"/>
                <a:cs typeface="Calibri" pitchFamily="34" charset="-120"/>
              </a:rPr>
              <a:t>No record of customer satisfaction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B1A17"/>
                </a:solidFill>
                <a:latin typeface="Cambria" pitchFamily="34" charset="0"/>
                <a:ea typeface="Cambria" pitchFamily="34" charset="-122"/>
                <a:cs typeface="Cambria" pitchFamily="34" charset="-120"/>
              </a:rPr>
              <a:t>Theoretical Framework</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F6A60"/>
                </a:solidFill>
                <a:latin typeface="Calibri" pitchFamily="34" charset="0"/>
                <a:ea typeface="Calibri" pitchFamily="34" charset="-122"/>
                <a:cs typeface="Calibri" pitchFamily="34" charset="-120"/>
              </a:rPr>
              <a:t>Four theories and models the study stands on</a:t>
            </a:r>
            <a:endParaRPr lang="en-US" sz="1600" dirty="0"/>
          </a:p>
        </p:txBody>
      </p:sp>
      <p:pic>
        <p:nvPicPr>
          <p:cNvPr id="4" name="Image 0" descr="img/fig1_theoretical.png">    </p:cNvPr>
          <p:cNvPicPr>
            <a:picLocks noChangeAspect="1"/>
          </p:cNvPicPr>
          <p:nvPr/>
        </p:nvPicPr>
        <p:blipFill>
          <a:blip r:embed="rId1"/>
          <a:stretch>
            <a:fillRect/>
          </a:stretch>
        </p:blipFill>
        <p:spPr>
          <a:xfrm>
            <a:off x="792328" y="1691640"/>
            <a:ext cx="10607040" cy="3886034"/>
          </a:xfrm>
          <a:prstGeom prst="rect">
            <a:avLst/>
          </a:prstGeom>
        </p:spPr>
      </p:pic>
      <p:sp>
        <p:nvSpPr>
          <p:cNvPr id="5" name="Text 2"/>
          <p:cNvSpPr txBox="1"/>
          <p:nvPr/>
        </p:nvSpPr>
        <p:spPr>
          <a:xfrm>
            <a:off x="548640" y="5669280"/>
            <a:ext cx="11064240" cy="685800"/>
          </a:xfrm>
          <a:prstGeom prst="rect">
            <a:avLst/>
          </a:prstGeom>
          <a:noFill/>
          <a:ln/>
        </p:spPr>
        <p:txBody>
          <a:bodyPr wrap="square" lIns="0" tIns="0" rIns="0" bIns="0" rtlCol="0" anchor="ctr"/>
          <a:lstStyle/>
          <a:p>
            <a:pPr indent="0" marL="0">
              <a:buNone/>
            </a:pPr>
            <a:r>
              <a:rPr lang="en-US" sz="1450" b="1" dirty="0">
                <a:solidFill>
                  <a:srgbClr val="8A5A2B"/>
                </a:solidFill>
                <a:latin typeface="Calibri" pitchFamily="34" charset="0"/>
                <a:ea typeface="Calibri" pitchFamily="34" charset="-122"/>
                <a:cs typeface="Calibri" pitchFamily="34" charset="-120"/>
              </a:rPr>
              <a:t>In short: </a:t>
            </a:r>
            <a:pPr indent="0" marL="0">
              <a:buNone/>
            </a:pPr>
            <a:r>
              <a:rPr lang="en-US" sz="1450" dirty="0">
                <a:solidFill>
                  <a:srgbClr val="1B1A17"/>
                </a:solidFill>
                <a:latin typeface="Calibri" pitchFamily="34" charset="0"/>
                <a:ea typeface="Calibri" pitchFamily="34" charset="-122"/>
                <a:cs typeface="Calibri" pitchFamily="34" charset="-120"/>
              </a:rPr>
              <a:t>people use it if it is useful and easy (TAM), it succeeds if it satisfies users and helps the shop (DeLone and McLean), a known appointment feels better than an unknown wait (Maister), and ISO/IEC 25010 tells us how to measure its quality.</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B1A17"/>
                </a:solidFill>
                <a:latin typeface="Cambria" pitchFamily="34" charset="0"/>
                <a:ea typeface="Cambria" pitchFamily="34" charset="-122"/>
                <a:cs typeface="Cambria" pitchFamily="34" charset="-120"/>
              </a:rPr>
              <a:t>Conceptual Framework</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F6A60"/>
                </a:solidFill>
                <a:latin typeface="Calibri" pitchFamily="34" charset="0"/>
                <a:ea typeface="Calibri" pitchFamily="34" charset="-122"/>
                <a:cs typeface="Calibri" pitchFamily="34" charset="-120"/>
              </a:rPr>
              <a:t>Input-Process-Output model with a feedback loop</a:t>
            </a:r>
            <a:endParaRPr lang="en-US" sz="1600" dirty="0"/>
          </a:p>
        </p:txBody>
      </p:sp>
      <p:pic>
        <p:nvPicPr>
          <p:cNvPr id="4" name="Image 0" descr="img/fig2_conceptual.png">    </p:cNvPr>
          <p:cNvPicPr>
            <a:picLocks noChangeAspect="1"/>
          </p:cNvPicPr>
          <p:nvPr/>
        </p:nvPicPr>
        <p:blipFill>
          <a:blip r:embed="rId1"/>
          <a:stretch>
            <a:fillRect/>
          </a:stretch>
        </p:blipFill>
        <p:spPr>
          <a:xfrm>
            <a:off x="1122424" y="1645920"/>
            <a:ext cx="9946847" cy="4892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A17"/>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How it works: from home screen to confirmed slot</a:t>
            </a:r>
            <a:endParaRPr lang="en-US" sz="3200" dirty="0"/>
          </a:p>
        </p:txBody>
      </p:sp>
      <p:pic>
        <p:nvPicPr>
          <p:cNvPr id="3" name="Image 0" descr="img/screen1.png">    </p:cNvPr>
          <p:cNvPicPr>
            <a:picLocks noChangeAspect="1"/>
          </p:cNvPicPr>
          <p:nvPr/>
        </p:nvPicPr>
        <p:blipFill>
          <a:blip r:embed="rId1"/>
          <a:stretch>
            <a:fillRect/>
          </a:stretch>
        </p:blipFill>
        <p:spPr>
          <a:xfrm>
            <a:off x="548640" y="1325880"/>
            <a:ext cx="1691640" cy="3383280"/>
          </a:xfrm>
          <a:prstGeom prst="rect">
            <a:avLst/>
          </a:prstGeom>
        </p:spPr>
      </p:pic>
      <p:sp>
        <p:nvSpPr>
          <p:cNvPr id="4" name="Shape 1"/>
          <p:cNvSpPr/>
          <p:nvPr/>
        </p:nvSpPr>
        <p:spPr>
          <a:xfrm>
            <a:off x="1193292" y="4937760"/>
            <a:ext cx="402336" cy="402336"/>
          </a:xfrm>
          <a:prstGeom prst="ellipse">
            <a:avLst/>
          </a:prstGeom>
          <a:solidFill>
            <a:srgbClr val="8A5A2B"/>
          </a:solidFill>
          <a:ln w="12700">
            <a:solidFill>
              <a:srgbClr val="8A5A2B"/>
            </a:solidFill>
            <a:prstDash val="solid"/>
          </a:ln>
        </p:spPr>
      </p:sp>
      <p:sp>
        <p:nvSpPr>
          <p:cNvPr id="5" name="Text 2"/>
          <p:cNvSpPr txBox="1"/>
          <p:nvPr/>
        </p:nvSpPr>
        <p:spPr>
          <a:xfrm>
            <a:off x="1193292" y="4937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3"/>
          <p:cNvSpPr txBox="1"/>
          <p:nvPr/>
        </p:nvSpPr>
        <p:spPr>
          <a:xfrm>
            <a:off x="457200" y="5413248"/>
            <a:ext cx="1874520" cy="5486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Find a shop</a:t>
            </a:r>
            <a:endParaRPr lang="en-US" sz="1300" dirty="0"/>
          </a:p>
        </p:txBody>
      </p:sp>
      <p:pic>
        <p:nvPicPr>
          <p:cNvPr id="7" name="Image 1" descr="img/screen2.png">    </p:cNvPr>
          <p:cNvPicPr>
            <a:picLocks noChangeAspect="1"/>
          </p:cNvPicPr>
          <p:nvPr/>
        </p:nvPicPr>
        <p:blipFill>
          <a:blip r:embed="rId2"/>
          <a:stretch>
            <a:fillRect/>
          </a:stretch>
        </p:blipFill>
        <p:spPr>
          <a:xfrm>
            <a:off x="2423160" y="1325880"/>
            <a:ext cx="1691640" cy="3383280"/>
          </a:xfrm>
          <a:prstGeom prst="rect">
            <a:avLst/>
          </a:prstGeom>
        </p:spPr>
      </p:pic>
      <p:sp>
        <p:nvSpPr>
          <p:cNvPr id="8" name="Shape 4"/>
          <p:cNvSpPr/>
          <p:nvPr/>
        </p:nvSpPr>
        <p:spPr>
          <a:xfrm>
            <a:off x="3067812" y="4937760"/>
            <a:ext cx="402336" cy="402336"/>
          </a:xfrm>
          <a:prstGeom prst="ellipse">
            <a:avLst/>
          </a:prstGeom>
          <a:solidFill>
            <a:srgbClr val="8A5A2B"/>
          </a:solidFill>
          <a:ln w="12700">
            <a:solidFill>
              <a:srgbClr val="8A5A2B"/>
            </a:solidFill>
            <a:prstDash val="solid"/>
          </a:ln>
        </p:spPr>
      </p:sp>
      <p:sp>
        <p:nvSpPr>
          <p:cNvPr id="9" name="Text 5"/>
          <p:cNvSpPr txBox="1"/>
          <p:nvPr/>
        </p:nvSpPr>
        <p:spPr>
          <a:xfrm>
            <a:off x="3067812" y="4937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6"/>
          <p:cNvSpPr txBox="1"/>
          <p:nvPr/>
        </p:nvSpPr>
        <p:spPr>
          <a:xfrm>
            <a:off x="2331720" y="5413248"/>
            <a:ext cx="1874520" cy="5486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Choose a style</a:t>
            </a:r>
            <a:endParaRPr lang="en-US" sz="1300" dirty="0"/>
          </a:p>
        </p:txBody>
      </p:sp>
      <p:pic>
        <p:nvPicPr>
          <p:cNvPr id="11" name="Image 2" descr="img/screen3.png">    </p:cNvPr>
          <p:cNvPicPr>
            <a:picLocks noChangeAspect="1"/>
          </p:cNvPicPr>
          <p:nvPr/>
        </p:nvPicPr>
        <p:blipFill>
          <a:blip r:embed="rId3"/>
          <a:stretch>
            <a:fillRect/>
          </a:stretch>
        </p:blipFill>
        <p:spPr>
          <a:xfrm>
            <a:off x="4297680" y="1325880"/>
            <a:ext cx="1691640" cy="3383280"/>
          </a:xfrm>
          <a:prstGeom prst="rect">
            <a:avLst/>
          </a:prstGeom>
        </p:spPr>
      </p:pic>
      <p:sp>
        <p:nvSpPr>
          <p:cNvPr id="12" name="Shape 7"/>
          <p:cNvSpPr/>
          <p:nvPr/>
        </p:nvSpPr>
        <p:spPr>
          <a:xfrm>
            <a:off x="4942332" y="4937760"/>
            <a:ext cx="402336" cy="402336"/>
          </a:xfrm>
          <a:prstGeom prst="ellipse">
            <a:avLst/>
          </a:prstGeom>
          <a:solidFill>
            <a:srgbClr val="8A5A2B"/>
          </a:solidFill>
          <a:ln w="12700">
            <a:solidFill>
              <a:srgbClr val="8A5A2B"/>
            </a:solidFill>
            <a:prstDash val="solid"/>
          </a:ln>
        </p:spPr>
      </p:sp>
      <p:sp>
        <p:nvSpPr>
          <p:cNvPr id="13" name="Text 8"/>
          <p:cNvSpPr txBox="1"/>
          <p:nvPr/>
        </p:nvSpPr>
        <p:spPr>
          <a:xfrm>
            <a:off x="4942332" y="4937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9"/>
          <p:cNvSpPr txBox="1"/>
          <p:nvPr/>
        </p:nvSpPr>
        <p:spPr>
          <a:xfrm>
            <a:off x="4206240" y="5413248"/>
            <a:ext cx="1874520" cy="5486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Pick barber + preferences</a:t>
            </a:r>
            <a:endParaRPr lang="en-US" sz="1300" dirty="0"/>
          </a:p>
        </p:txBody>
      </p:sp>
      <p:pic>
        <p:nvPicPr>
          <p:cNvPr id="15" name="Image 3" descr="img/screen4.png">    </p:cNvPr>
          <p:cNvPicPr>
            <a:picLocks noChangeAspect="1"/>
          </p:cNvPicPr>
          <p:nvPr/>
        </p:nvPicPr>
        <p:blipFill>
          <a:blip r:embed="rId4"/>
          <a:stretch>
            <a:fillRect/>
          </a:stretch>
        </p:blipFill>
        <p:spPr>
          <a:xfrm>
            <a:off x="6172200" y="1325880"/>
            <a:ext cx="1691640" cy="3383280"/>
          </a:xfrm>
          <a:prstGeom prst="rect">
            <a:avLst/>
          </a:prstGeom>
        </p:spPr>
      </p:pic>
      <p:sp>
        <p:nvSpPr>
          <p:cNvPr id="16" name="Shape 10"/>
          <p:cNvSpPr/>
          <p:nvPr/>
        </p:nvSpPr>
        <p:spPr>
          <a:xfrm>
            <a:off x="6816852" y="4937760"/>
            <a:ext cx="402336" cy="402336"/>
          </a:xfrm>
          <a:prstGeom prst="ellipse">
            <a:avLst/>
          </a:prstGeom>
          <a:solidFill>
            <a:srgbClr val="8A5A2B"/>
          </a:solidFill>
          <a:ln w="12700">
            <a:solidFill>
              <a:srgbClr val="8A5A2B"/>
            </a:solidFill>
            <a:prstDash val="solid"/>
          </a:ln>
        </p:spPr>
      </p:sp>
      <p:sp>
        <p:nvSpPr>
          <p:cNvPr id="17" name="Text 11"/>
          <p:cNvSpPr txBox="1"/>
          <p:nvPr/>
        </p:nvSpPr>
        <p:spPr>
          <a:xfrm>
            <a:off x="6816852" y="4937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2"/>
          <p:cNvSpPr txBox="1"/>
          <p:nvPr/>
        </p:nvSpPr>
        <p:spPr>
          <a:xfrm>
            <a:off x="6080760" y="5413248"/>
            <a:ext cx="1874520" cy="5486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Pick a free slot</a:t>
            </a:r>
            <a:endParaRPr lang="en-US" sz="1300" dirty="0"/>
          </a:p>
        </p:txBody>
      </p:sp>
      <p:pic>
        <p:nvPicPr>
          <p:cNvPr id="19" name="Image 4" descr="img/screen6.png">    </p:cNvPr>
          <p:cNvPicPr>
            <a:picLocks noChangeAspect="1"/>
          </p:cNvPicPr>
          <p:nvPr/>
        </p:nvPicPr>
        <p:blipFill>
          <a:blip r:embed="rId5"/>
          <a:stretch>
            <a:fillRect/>
          </a:stretch>
        </p:blipFill>
        <p:spPr>
          <a:xfrm>
            <a:off x="8046720" y="1325880"/>
            <a:ext cx="1691640" cy="3383280"/>
          </a:xfrm>
          <a:prstGeom prst="rect">
            <a:avLst/>
          </a:prstGeom>
        </p:spPr>
      </p:pic>
      <p:sp>
        <p:nvSpPr>
          <p:cNvPr id="20" name="Shape 13"/>
          <p:cNvSpPr/>
          <p:nvPr/>
        </p:nvSpPr>
        <p:spPr>
          <a:xfrm>
            <a:off x="8691372" y="4937760"/>
            <a:ext cx="402336" cy="402336"/>
          </a:xfrm>
          <a:prstGeom prst="ellipse">
            <a:avLst/>
          </a:prstGeom>
          <a:solidFill>
            <a:srgbClr val="8A5A2B"/>
          </a:solidFill>
          <a:ln w="12700">
            <a:solidFill>
              <a:srgbClr val="8A5A2B"/>
            </a:solidFill>
            <a:prstDash val="solid"/>
          </a:ln>
        </p:spPr>
      </p:sp>
      <p:sp>
        <p:nvSpPr>
          <p:cNvPr id="21" name="Text 14"/>
          <p:cNvSpPr txBox="1"/>
          <p:nvPr/>
        </p:nvSpPr>
        <p:spPr>
          <a:xfrm>
            <a:off x="8691372" y="4937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15"/>
          <p:cNvSpPr txBox="1"/>
          <p:nvPr/>
        </p:nvSpPr>
        <p:spPr>
          <a:xfrm>
            <a:off x="7955280" y="5413248"/>
            <a:ext cx="1874520" cy="5486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Get confirmation</a:t>
            </a:r>
            <a:endParaRPr lang="en-US" sz="1300" dirty="0"/>
          </a:p>
        </p:txBody>
      </p:sp>
      <p:pic>
        <p:nvPicPr>
          <p:cNvPr id="23" name="Image 5" descr="img/screen7.png">    </p:cNvPr>
          <p:cNvPicPr>
            <a:picLocks noChangeAspect="1"/>
          </p:cNvPicPr>
          <p:nvPr/>
        </p:nvPicPr>
        <p:blipFill>
          <a:blip r:embed="rId6"/>
          <a:stretch>
            <a:fillRect/>
          </a:stretch>
        </p:blipFill>
        <p:spPr>
          <a:xfrm>
            <a:off x="9921240" y="1325880"/>
            <a:ext cx="1691640" cy="3383280"/>
          </a:xfrm>
          <a:prstGeom prst="rect">
            <a:avLst/>
          </a:prstGeom>
        </p:spPr>
      </p:pic>
      <p:sp>
        <p:nvSpPr>
          <p:cNvPr id="24" name="Shape 16"/>
          <p:cNvSpPr/>
          <p:nvPr/>
        </p:nvSpPr>
        <p:spPr>
          <a:xfrm>
            <a:off x="10565892" y="4937760"/>
            <a:ext cx="402336" cy="402336"/>
          </a:xfrm>
          <a:prstGeom prst="ellipse">
            <a:avLst/>
          </a:prstGeom>
          <a:solidFill>
            <a:srgbClr val="C9A227"/>
          </a:solidFill>
          <a:ln w="12700">
            <a:solidFill>
              <a:srgbClr val="C9A227"/>
            </a:solidFill>
            <a:prstDash val="solid"/>
          </a:ln>
        </p:spPr>
      </p:sp>
      <p:sp>
        <p:nvSpPr>
          <p:cNvPr id="25" name="Text 17"/>
          <p:cNvSpPr txBox="1"/>
          <p:nvPr/>
        </p:nvSpPr>
        <p:spPr>
          <a:xfrm>
            <a:off x="10565892" y="4937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Text 18"/>
          <p:cNvSpPr txBox="1"/>
          <p:nvPr/>
        </p:nvSpPr>
        <p:spPr>
          <a:xfrm>
            <a:off x="9829800" y="5413248"/>
            <a:ext cx="1874520" cy="548640"/>
          </a:xfrm>
          <a:prstGeom prst="rect">
            <a:avLst/>
          </a:prstGeom>
          <a:noFill/>
          <a:ln/>
        </p:spPr>
        <p:txBody>
          <a:bodyPr wrap="square" lIns="0" tIns="0" rIns="0" bIns="0" rtlCol="0" anchor="t"/>
          <a:lstStyle/>
          <a:p>
            <a:pPr algn="ctr" indent="0" marL="0">
              <a:buNone/>
            </a:pPr>
            <a:r>
              <a:rPr lang="en-US" sz="1300" b="1" dirty="0">
                <a:solidFill>
                  <a:srgbClr val="C9A227"/>
                </a:solidFill>
                <a:latin typeface="Calibri" pitchFamily="34" charset="0"/>
                <a:ea typeface="Calibri" pitchFamily="34" charset="-122"/>
                <a:cs typeface="Calibri" pitchFamily="34" charset="-120"/>
              </a:rPr>
              <a:t>Owner sees the queue</a:t>
            </a:r>
            <a:endParaRPr lang="en-US" sz="1300" dirty="0"/>
          </a:p>
        </p:txBody>
      </p:sp>
      <p:sp>
        <p:nvSpPr>
          <p:cNvPr id="27" name="Text 19"/>
          <p:cNvSpPr txBox="1"/>
          <p:nvPr/>
        </p:nvSpPr>
        <p:spPr>
          <a:xfrm>
            <a:off x="548640" y="6263640"/>
            <a:ext cx="11064240" cy="320040"/>
          </a:xfrm>
          <a:prstGeom prst="rect">
            <a:avLst/>
          </a:prstGeom>
          <a:noFill/>
          <a:ln/>
        </p:spPr>
        <p:txBody>
          <a:bodyPr wrap="square" lIns="0" tIns="0" rIns="0" bIns="0" rtlCol="0" anchor="ctr"/>
          <a:lstStyle/>
          <a:p>
            <a:pPr indent="0" marL="0">
              <a:buNone/>
            </a:pPr>
            <a:r>
              <a:rPr lang="en-US" sz="1100" i="1" dirty="0">
                <a:solidFill>
                  <a:srgbClr val="B9B2A6"/>
                </a:solidFill>
                <a:latin typeface="Calibri" pitchFamily="34" charset="0"/>
                <a:ea typeface="Calibri" pitchFamily="34" charset="-122"/>
                <a:cs typeface="Calibri" pitchFamily="34" charset="-120"/>
              </a:rPr>
              <a:t>Screens 1 to 5 are the customer side. Screen 6 is the barbershop owner's dashboard.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B1A17"/>
                </a:solidFill>
                <a:latin typeface="Cambria" pitchFamily="34" charset="0"/>
                <a:ea typeface="Cambria" pitchFamily="34" charset="-122"/>
                <a:cs typeface="Cambria" pitchFamily="34" charset="-120"/>
              </a:rPr>
              <a:t>What 46 sources told us</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F6A60"/>
                </a:solidFill>
                <a:latin typeface="Calibri" pitchFamily="34" charset="0"/>
                <a:ea typeface="Calibri" pitchFamily="34" charset="-122"/>
                <a:cs typeface="Calibri" pitchFamily="34" charset="-120"/>
              </a:rPr>
              <a:t>Review of Related Literature and Studies</a:t>
            </a:r>
            <a:endParaRPr lang="en-US" sz="1600" dirty="0"/>
          </a:p>
        </p:txBody>
      </p:sp>
      <p:sp>
        <p:nvSpPr>
          <p:cNvPr id="4" name="Shape 2"/>
          <p:cNvSpPr/>
          <p:nvPr/>
        </p:nvSpPr>
        <p:spPr>
          <a:xfrm>
            <a:off x="548640" y="1737360"/>
            <a:ext cx="5120640" cy="1188720"/>
          </a:xfrm>
          <a:prstGeom prst="roundRect">
            <a:avLst>
              <a:gd name="adj" fmla="val 7692"/>
            </a:avLst>
          </a:prstGeom>
          <a:solidFill>
            <a:srgbClr val="F3E7D9"/>
          </a:solidFill>
          <a:ln w="12700">
            <a:solidFill>
              <a:srgbClr val="F3E7D9"/>
            </a:solidFill>
            <a:prstDash val="solid"/>
          </a:ln>
        </p:spPr>
      </p:sp>
      <p:sp>
        <p:nvSpPr>
          <p:cNvPr id="5" name="Text 3"/>
          <p:cNvSpPr txBox="1"/>
          <p:nvPr/>
        </p:nvSpPr>
        <p:spPr>
          <a:xfrm>
            <a:off x="777240" y="1737360"/>
            <a:ext cx="914400" cy="1188720"/>
          </a:xfrm>
          <a:prstGeom prst="rect">
            <a:avLst/>
          </a:prstGeom>
          <a:noFill/>
          <a:ln/>
        </p:spPr>
        <p:txBody>
          <a:bodyPr wrap="square" lIns="0" tIns="0" rIns="0" bIns="0" rtlCol="0" anchor="ctr"/>
          <a:lstStyle/>
          <a:p>
            <a:pPr indent="0" marL="0">
              <a:buNone/>
            </a:pPr>
            <a:r>
              <a:rPr lang="en-US" sz="4400" b="1" dirty="0">
                <a:solidFill>
                  <a:srgbClr val="8A5A2B"/>
                </a:solidFill>
                <a:latin typeface="Cambria" pitchFamily="34" charset="0"/>
                <a:ea typeface="Cambria" pitchFamily="34" charset="-122"/>
                <a:cs typeface="Cambria" pitchFamily="34" charset="-120"/>
              </a:rPr>
              <a:t>8</a:t>
            </a:r>
            <a:endParaRPr lang="en-US" sz="4400" dirty="0"/>
          </a:p>
        </p:txBody>
      </p:sp>
      <p:sp>
        <p:nvSpPr>
          <p:cNvPr id="6" name="Text 4"/>
          <p:cNvSpPr txBox="1"/>
          <p:nvPr/>
        </p:nvSpPr>
        <p:spPr>
          <a:xfrm>
            <a:off x="1737360" y="1828800"/>
            <a:ext cx="3749040" cy="1005840"/>
          </a:xfrm>
          <a:prstGeom prst="rect">
            <a:avLst/>
          </a:prstGeom>
          <a:noFill/>
          <a:ln/>
        </p:spPr>
        <p:txBody>
          <a:bodyPr wrap="square" lIns="0" tIns="0" rIns="0" bIns="0" rtlCol="0" anchor="ctr"/>
          <a:lstStyle/>
          <a:p>
            <a:pPr indent="0" marL="0">
              <a:buNone/>
            </a:pPr>
            <a:r>
              <a:rPr lang="en-US" sz="1600" b="1" dirty="0">
                <a:solidFill>
                  <a:srgbClr val="1B1A17"/>
                </a:solidFill>
                <a:latin typeface="Calibri" pitchFamily="34" charset="0"/>
                <a:ea typeface="Calibri" pitchFamily="34" charset="-122"/>
                <a:cs typeface="Calibri" pitchFamily="34" charset="-120"/>
              </a:rPr>
              <a:t>Indonesia studies</a:t>
            </a:r>
            <a:endParaRPr lang="en-US" sz="1600" dirty="0"/>
          </a:p>
          <a:p>
            <a:pPr indent="0" marL="0">
              <a:buNone/>
            </a:pPr>
            <a:r>
              <a:rPr lang="en-US" sz="1250" dirty="0">
                <a:solidFill>
                  <a:srgbClr val="6F6A60"/>
                </a:solidFill>
                <a:latin typeface="Calibri" pitchFamily="34" charset="0"/>
                <a:ea typeface="Calibri" pitchFamily="34" charset="-122"/>
                <a:cs typeface="Calibri" pitchFamily="34" charset="-120"/>
              </a:rPr>
              <a:t>barbershop booking systems (web, Android, Laravel, CodeIgniter)</a:t>
            </a:r>
            <a:endParaRPr lang="en-US" sz="1600" dirty="0"/>
          </a:p>
        </p:txBody>
      </p:sp>
      <p:sp>
        <p:nvSpPr>
          <p:cNvPr id="7" name="Shape 5"/>
          <p:cNvSpPr/>
          <p:nvPr/>
        </p:nvSpPr>
        <p:spPr>
          <a:xfrm>
            <a:off x="548640" y="3108960"/>
            <a:ext cx="5120640" cy="1188720"/>
          </a:xfrm>
          <a:prstGeom prst="roundRect">
            <a:avLst>
              <a:gd name="adj" fmla="val 7692"/>
            </a:avLst>
          </a:prstGeom>
          <a:solidFill>
            <a:srgbClr val="F3E7D9"/>
          </a:solidFill>
          <a:ln w="12700">
            <a:solidFill>
              <a:srgbClr val="F3E7D9"/>
            </a:solidFill>
            <a:prstDash val="solid"/>
          </a:ln>
        </p:spPr>
      </p:sp>
      <p:sp>
        <p:nvSpPr>
          <p:cNvPr id="8" name="Text 6"/>
          <p:cNvSpPr txBox="1"/>
          <p:nvPr/>
        </p:nvSpPr>
        <p:spPr>
          <a:xfrm>
            <a:off x="777240" y="3108960"/>
            <a:ext cx="914400" cy="1188720"/>
          </a:xfrm>
          <a:prstGeom prst="rect">
            <a:avLst/>
          </a:prstGeom>
          <a:noFill/>
          <a:ln/>
        </p:spPr>
        <p:txBody>
          <a:bodyPr wrap="square" lIns="0" tIns="0" rIns="0" bIns="0" rtlCol="0" anchor="ctr"/>
          <a:lstStyle/>
          <a:p>
            <a:pPr indent="0" marL="0">
              <a:buNone/>
            </a:pPr>
            <a:r>
              <a:rPr lang="en-US" sz="4400" b="1" dirty="0">
                <a:solidFill>
                  <a:srgbClr val="8A5A2B"/>
                </a:solidFill>
                <a:latin typeface="Cambria" pitchFamily="34" charset="0"/>
                <a:ea typeface="Cambria" pitchFamily="34" charset="-122"/>
                <a:cs typeface="Cambria" pitchFamily="34" charset="-120"/>
              </a:rPr>
              <a:t>2</a:t>
            </a:r>
            <a:endParaRPr lang="en-US" sz="4400" dirty="0"/>
          </a:p>
        </p:txBody>
      </p:sp>
      <p:sp>
        <p:nvSpPr>
          <p:cNvPr id="9" name="Text 7"/>
          <p:cNvSpPr txBox="1"/>
          <p:nvPr/>
        </p:nvSpPr>
        <p:spPr>
          <a:xfrm>
            <a:off x="1737360" y="3200400"/>
            <a:ext cx="3749040" cy="1005840"/>
          </a:xfrm>
          <a:prstGeom prst="rect">
            <a:avLst/>
          </a:prstGeom>
          <a:noFill/>
          <a:ln/>
        </p:spPr>
        <p:txBody>
          <a:bodyPr wrap="square" lIns="0" tIns="0" rIns="0" bIns="0" rtlCol="0" anchor="ctr"/>
          <a:lstStyle/>
          <a:p>
            <a:pPr indent="0" marL="0">
              <a:buNone/>
            </a:pPr>
            <a:r>
              <a:rPr lang="en-US" sz="1600" b="1" dirty="0">
                <a:solidFill>
                  <a:srgbClr val="1B1A17"/>
                </a:solidFill>
                <a:latin typeface="Calibri" pitchFamily="34" charset="0"/>
                <a:ea typeface="Calibri" pitchFamily="34" charset="-122"/>
                <a:cs typeface="Calibri" pitchFamily="34" charset="-120"/>
              </a:rPr>
              <a:t>Malaysia studies</a:t>
            </a:r>
            <a:endParaRPr lang="en-US" sz="1600" dirty="0"/>
          </a:p>
          <a:p>
            <a:pPr indent="0" marL="0">
              <a:buNone/>
            </a:pPr>
            <a:r>
              <a:rPr lang="en-US" sz="1250" dirty="0">
                <a:solidFill>
                  <a:srgbClr val="6F6A60"/>
                </a:solidFill>
                <a:latin typeface="Calibri" pitchFamily="34" charset="0"/>
                <a:ea typeface="Calibri" pitchFamily="34" charset="-122"/>
                <a:cs typeface="Calibri" pitchFamily="34" charset="-120"/>
              </a:rPr>
              <a:t>barber booking app and centralized barbershop management</a:t>
            </a:r>
            <a:endParaRPr lang="en-US" sz="1600" dirty="0"/>
          </a:p>
        </p:txBody>
      </p:sp>
      <p:sp>
        <p:nvSpPr>
          <p:cNvPr id="10" name="Shape 8"/>
          <p:cNvSpPr/>
          <p:nvPr/>
        </p:nvSpPr>
        <p:spPr>
          <a:xfrm>
            <a:off x="548640" y="4480560"/>
            <a:ext cx="5120640" cy="1188720"/>
          </a:xfrm>
          <a:prstGeom prst="roundRect">
            <a:avLst>
              <a:gd name="adj" fmla="val 7692"/>
            </a:avLst>
          </a:prstGeom>
          <a:solidFill>
            <a:srgbClr val="1B1A17"/>
          </a:solidFill>
          <a:ln w="12700">
            <a:solidFill>
              <a:srgbClr val="1B1A17"/>
            </a:solidFill>
            <a:prstDash val="solid"/>
          </a:ln>
        </p:spPr>
      </p:sp>
      <p:sp>
        <p:nvSpPr>
          <p:cNvPr id="11" name="Text 9"/>
          <p:cNvSpPr txBox="1"/>
          <p:nvPr/>
        </p:nvSpPr>
        <p:spPr>
          <a:xfrm>
            <a:off x="777240" y="4480560"/>
            <a:ext cx="914400" cy="1188720"/>
          </a:xfrm>
          <a:prstGeom prst="rect">
            <a:avLst/>
          </a:prstGeom>
          <a:noFill/>
          <a:ln/>
        </p:spPr>
        <p:txBody>
          <a:bodyPr wrap="square" lIns="0" tIns="0" rIns="0" bIns="0" rtlCol="0" anchor="ctr"/>
          <a:lstStyle/>
          <a:p>
            <a:pPr indent="0" marL="0">
              <a:buNone/>
            </a:pPr>
            <a:r>
              <a:rPr lang="en-US" sz="4400" b="1" dirty="0">
                <a:solidFill>
                  <a:srgbClr val="C9A227"/>
                </a:solidFill>
                <a:latin typeface="Cambria" pitchFamily="34" charset="0"/>
                <a:ea typeface="Cambria" pitchFamily="34" charset="-122"/>
                <a:cs typeface="Cambria" pitchFamily="34" charset="-120"/>
              </a:rPr>
              <a:t>8</a:t>
            </a:r>
            <a:endParaRPr lang="en-US" sz="4400" dirty="0"/>
          </a:p>
        </p:txBody>
      </p:sp>
      <p:sp>
        <p:nvSpPr>
          <p:cNvPr id="12" name="Text 10"/>
          <p:cNvSpPr txBox="1"/>
          <p:nvPr/>
        </p:nvSpPr>
        <p:spPr>
          <a:xfrm>
            <a:off x="1737360" y="4572000"/>
            <a:ext cx="3749040" cy="10058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Philippines studies</a:t>
            </a:r>
            <a:endParaRPr lang="en-US" sz="1600" dirty="0"/>
          </a:p>
          <a:p>
            <a:pPr indent="0" marL="0">
              <a:buNone/>
            </a:pPr>
            <a:r>
              <a:rPr lang="en-US" sz="1250" dirty="0">
                <a:solidFill>
                  <a:srgbClr val="D9D2C6"/>
                </a:solidFill>
                <a:latin typeface="Calibri" pitchFamily="34" charset="0"/>
                <a:ea typeface="Calibri" pitchFamily="34" charset="-122"/>
                <a:cs typeface="Calibri" pitchFamily="34" charset="-120"/>
              </a:rPr>
              <a:t>appointment and reservation systems + MSME record-keeping studies</a:t>
            </a:r>
            <a:endParaRPr lang="en-US" sz="1600" dirty="0"/>
          </a:p>
        </p:txBody>
      </p:sp>
      <p:sp>
        <p:nvSpPr>
          <p:cNvPr id="13" name="Text 11"/>
          <p:cNvSpPr txBox="1"/>
          <p:nvPr/>
        </p:nvSpPr>
        <p:spPr>
          <a:xfrm>
            <a:off x="6217920" y="1691640"/>
            <a:ext cx="5486400" cy="320040"/>
          </a:xfrm>
          <a:prstGeom prst="rect">
            <a:avLst/>
          </a:prstGeom>
          <a:noFill/>
          <a:ln/>
        </p:spPr>
        <p:txBody>
          <a:bodyPr wrap="square" lIns="0" tIns="0" rIns="0" bIns="0" rtlCol="0" anchor="ctr"/>
          <a:lstStyle/>
          <a:p>
            <a:pPr indent="0" marL="0">
              <a:buNone/>
            </a:pPr>
            <a:r>
              <a:rPr lang="en-US" sz="1200" b="1" spc="200" kern="0" dirty="0">
                <a:solidFill>
                  <a:srgbClr val="6F6A60"/>
                </a:solidFill>
                <a:latin typeface="Calibri" pitchFamily="34" charset="0"/>
                <a:ea typeface="Calibri" pitchFamily="34" charset="-122"/>
                <a:cs typeface="Calibri" pitchFamily="34" charset="-120"/>
              </a:rPr>
              <a:t>KEY LESSONS WE TOOK</a:t>
            </a:r>
            <a:endParaRPr lang="en-US" sz="1200" dirty="0"/>
          </a:p>
        </p:txBody>
      </p:sp>
      <p:pic>
        <p:nvPicPr>
          <p:cNvPr id="14" name="Image 0" descr="preencoded.png">    </p:cNvPr>
          <p:cNvPicPr>
            <a:picLocks noChangeAspect="1"/>
          </p:cNvPicPr>
          <p:nvPr/>
        </p:nvPicPr>
        <p:blipFill>
          <a:blip r:embed="rId1"/>
          <a:stretch>
            <a:fillRect/>
          </a:stretch>
        </p:blipFill>
        <p:spPr>
          <a:xfrm>
            <a:off x="6217920" y="2148840"/>
            <a:ext cx="292608" cy="292608"/>
          </a:xfrm>
          <a:prstGeom prst="rect">
            <a:avLst/>
          </a:prstGeom>
        </p:spPr>
      </p:pic>
      <p:sp>
        <p:nvSpPr>
          <p:cNvPr id="15" name="Text 12"/>
          <p:cNvSpPr txBox="1"/>
          <p:nvPr/>
        </p:nvSpPr>
        <p:spPr>
          <a:xfrm>
            <a:off x="6629400" y="2103120"/>
            <a:ext cx="5029200" cy="621792"/>
          </a:xfrm>
          <a:prstGeom prst="rect">
            <a:avLst/>
          </a:prstGeom>
          <a:noFill/>
          <a:ln/>
        </p:spPr>
        <p:txBody>
          <a:bodyPr wrap="square" lIns="0" tIns="0" rIns="0" bIns="0" rtlCol="0" anchor="t"/>
          <a:lstStyle/>
          <a:p>
            <a:pPr indent="0" marL="0">
              <a:buNone/>
            </a:pPr>
            <a:r>
              <a:rPr lang="en-US" sz="1450" b="1" dirty="0">
                <a:solidFill>
                  <a:srgbClr val="1B1A17"/>
                </a:solidFill>
                <a:latin typeface="Calibri" pitchFamily="34" charset="0"/>
                <a:ea typeface="Calibri" pitchFamily="34" charset="-122"/>
                <a:cs typeface="Calibri" pitchFamily="34" charset="-120"/>
              </a:rPr>
              <a:t>Uncertain waits feel longer</a:t>
            </a:r>
            <a:endParaRPr lang="en-US" sz="1450" dirty="0"/>
          </a:p>
          <a:p>
            <a:pPr indent="0" marL="0">
              <a:buNone/>
            </a:pPr>
            <a:r>
              <a:rPr lang="en-US" sz="1150" i="1" dirty="0">
                <a:solidFill>
                  <a:srgbClr val="6F6A60"/>
                </a:solidFill>
                <a:latin typeface="Calibri" pitchFamily="34" charset="0"/>
                <a:ea typeface="Calibri" pitchFamily="34" charset="-122"/>
                <a:cs typeface="Calibri" pitchFamily="34" charset="-120"/>
              </a:rPr>
              <a:t>Maister (1985); Taylor (1994)</a:t>
            </a:r>
            <a:endParaRPr lang="en-US" sz="1450" dirty="0"/>
          </a:p>
        </p:txBody>
      </p:sp>
      <p:pic>
        <p:nvPicPr>
          <p:cNvPr id="16" name="Image 1" descr="preencoded.png">    </p:cNvPr>
          <p:cNvPicPr>
            <a:picLocks noChangeAspect="1"/>
          </p:cNvPicPr>
          <p:nvPr/>
        </p:nvPicPr>
        <p:blipFill>
          <a:blip r:embed="rId2"/>
          <a:stretch>
            <a:fillRect/>
          </a:stretch>
        </p:blipFill>
        <p:spPr>
          <a:xfrm>
            <a:off x="6217920" y="2807208"/>
            <a:ext cx="292608" cy="292608"/>
          </a:xfrm>
          <a:prstGeom prst="rect">
            <a:avLst/>
          </a:prstGeom>
        </p:spPr>
      </p:pic>
      <p:sp>
        <p:nvSpPr>
          <p:cNvPr id="17" name="Text 13"/>
          <p:cNvSpPr txBox="1"/>
          <p:nvPr/>
        </p:nvSpPr>
        <p:spPr>
          <a:xfrm>
            <a:off x="6629400" y="2761488"/>
            <a:ext cx="5029200" cy="621792"/>
          </a:xfrm>
          <a:prstGeom prst="rect">
            <a:avLst/>
          </a:prstGeom>
          <a:noFill/>
          <a:ln/>
        </p:spPr>
        <p:txBody>
          <a:bodyPr wrap="square" lIns="0" tIns="0" rIns="0" bIns="0" rtlCol="0" anchor="t"/>
          <a:lstStyle/>
          <a:p>
            <a:pPr indent="0" marL="0">
              <a:buNone/>
            </a:pPr>
            <a:r>
              <a:rPr lang="en-US" sz="1450" b="1" dirty="0">
                <a:solidFill>
                  <a:srgbClr val="1B1A17"/>
                </a:solidFill>
                <a:latin typeface="Calibri" pitchFamily="34" charset="0"/>
                <a:ea typeface="Calibri" pitchFamily="34" charset="-122"/>
                <a:cs typeface="Calibri" pitchFamily="34" charset="-120"/>
              </a:rPr>
              <a:t>SMS reminders increase attendance</a:t>
            </a:r>
            <a:endParaRPr lang="en-US" sz="1450" dirty="0"/>
          </a:p>
          <a:p>
            <a:pPr indent="0" marL="0">
              <a:buNone/>
            </a:pPr>
            <a:r>
              <a:rPr lang="en-US" sz="1150" i="1" dirty="0">
                <a:solidFill>
                  <a:srgbClr val="6F6A60"/>
                </a:solidFill>
                <a:latin typeface="Calibri" pitchFamily="34" charset="0"/>
                <a:ea typeface="Calibri" pitchFamily="34" charset="-122"/>
                <a:cs typeface="Calibri" pitchFamily="34" charset="-120"/>
              </a:rPr>
              <a:t>Guy et al. (2012)</a:t>
            </a:r>
            <a:endParaRPr lang="en-US" sz="1450" dirty="0"/>
          </a:p>
        </p:txBody>
      </p:sp>
      <p:pic>
        <p:nvPicPr>
          <p:cNvPr id="18" name="Image 2" descr="preencoded.png">    </p:cNvPr>
          <p:cNvPicPr>
            <a:picLocks noChangeAspect="1"/>
          </p:cNvPicPr>
          <p:nvPr/>
        </p:nvPicPr>
        <p:blipFill>
          <a:blip r:embed="rId3"/>
          <a:stretch>
            <a:fillRect/>
          </a:stretch>
        </p:blipFill>
        <p:spPr>
          <a:xfrm>
            <a:off x="6217920" y="3465576"/>
            <a:ext cx="292608" cy="292608"/>
          </a:xfrm>
          <a:prstGeom prst="rect">
            <a:avLst/>
          </a:prstGeom>
        </p:spPr>
      </p:pic>
      <p:sp>
        <p:nvSpPr>
          <p:cNvPr id="19" name="Text 14"/>
          <p:cNvSpPr txBox="1"/>
          <p:nvPr/>
        </p:nvSpPr>
        <p:spPr>
          <a:xfrm>
            <a:off x="6629400" y="3419856"/>
            <a:ext cx="5029200" cy="621792"/>
          </a:xfrm>
          <a:prstGeom prst="rect">
            <a:avLst/>
          </a:prstGeom>
          <a:noFill/>
          <a:ln/>
        </p:spPr>
        <p:txBody>
          <a:bodyPr wrap="square" lIns="0" tIns="0" rIns="0" bIns="0" rtlCol="0" anchor="t"/>
          <a:lstStyle/>
          <a:p>
            <a:pPr indent="0" marL="0">
              <a:buNone/>
            </a:pPr>
            <a:r>
              <a:rPr lang="en-US" sz="1450" b="1" dirty="0">
                <a:solidFill>
                  <a:srgbClr val="1B1A17"/>
                </a:solidFill>
                <a:latin typeface="Calibri" pitchFamily="34" charset="0"/>
                <a:ea typeface="Calibri" pitchFamily="34" charset="-122"/>
                <a:cs typeface="Calibri" pitchFamily="34" charset="-120"/>
              </a:rPr>
              <a:t>Barber-client trust drives loyalty</a:t>
            </a:r>
            <a:endParaRPr lang="en-US" sz="1450" dirty="0"/>
          </a:p>
          <a:p>
            <a:pPr indent="0" marL="0">
              <a:buNone/>
            </a:pPr>
            <a:r>
              <a:rPr lang="en-US" sz="1150" i="1" dirty="0">
                <a:solidFill>
                  <a:srgbClr val="6F6A60"/>
                </a:solidFill>
                <a:latin typeface="Calibri" pitchFamily="34" charset="0"/>
                <a:ea typeface="Calibri" pitchFamily="34" charset="-122"/>
                <a:cs typeface="Calibri" pitchFamily="34" charset="-120"/>
              </a:rPr>
              <a:t>Price and Arnould (1999)</a:t>
            </a:r>
            <a:endParaRPr lang="en-US" sz="1450" dirty="0"/>
          </a:p>
        </p:txBody>
      </p:sp>
      <p:pic>
        <p:nvPicPr>
          <p:cNvPr id="20" name="Image 3" descr="preencoded.png">    </p:cNvPr>
          <p:cNvPicPr>
            <a:picLocks noChangeAspect="1"/>
          </p:cNvPicPr>
          <p:nvPr/>
        </p:nvPicPr>
        <p:blipFill>
          <a:blip r:embed="rId4"/>
          <a:stretch>
            <a:fillRect/>
          </a:stretch>
        </p:blipFill>
        <p:spPr>
          <a:xfrm>
            <a:off x="6217920" y="4123944"/>
            <a:ext cx="292608" cy="292608"/>
          </a:xfrm>
          <a:prstGeom prst="rect">
            <a:avLst/>
          </a:prstGeom>
        </p:spPr>
      </p:pic>
      <p:sp>
        <p:nvSpPr>
          <p:cNvPr id="21" name="Text 15"/>
          <p:cNvSpPr txBox="1"/>
          <p:nvPr/>
        </p:nvSpPr>
        <p:spPr>
          <a:xfrm>
            <a:off x="6629400" y="4078224"/>
            <a:ext cx="5029200" cy="621792"/>
          </a:xfrm>
          <a:prstGeom prst="rect">
            <a:avLst/>
          </a:prstGeom>
          <a:noFill/>
          <a:ln/>
        </p:spPr>
        <p:txBody>
          <a:bodyPr wrap="square" lIns="0" tIns="0" rIns="0" bIns="0" rtlCol="0" anchor="t"/>
          <a:lstStyle/>
          <a:p>
            <a:pPr indent="0" marL="0">
              <a:buNone/>
            </a:pPr>
            <a:r>
              <a:rPr lang="en-US" sz="1450" b="1" dirty="0">
                <a:solidFill>
                  <a:srgbClr val="1B1A17"/>
                </a:solidFill>
                <a:latin typeface="Calibri" pitchFamily="34" charset="0"/>
                <a:ea typeface="Calibri" pitchFamily="34" charset="-122"/>
                <a:cs typeface="Calibri" pitchFamily="34" charset="-120"/>
              </a:rPr>
              <a:t>WhatsApp/chat bookings cause clashes</a:t>
            </a:r>
            <a:endParaRPr lang="en-US" sz="1450" dirty="0"/>
          </a:p>
          <a:p>
            <a:pPr indent="0" marL="0">
              <a:buNone/>
            </a:pPr>
            <a:r>
              <a:rPr lang="en-US" sz="1150" i="1" dirty="0">
                <a:solidFill>
                  <a:srgbClr val="6F6A60"/>
                </a:solidFill>
                <a:latin typeface="Calibri" pitchFamily="34" charset="0"/>
                <a:ea typeface="Calibri" pitchFamily="34" charset="-122"/>
                <a:cs typeface="Calibri" pitchFamily="34" charset="-120"/>
              </a:rPr>
              <a:t>Hidayat and Wibowo (2023)</a:t>
            </a:r>
            <a:endParaRPr lang="en-US" sz="1450" dirty="0"/>
          </a:p>
        </p:txBody>
      </p:sp>
      <p:pic>
        <p:nvPicPr>
          <p:cNvPr id="22" name="Image 4" descr="preencoded.png">    </p:cNvPr>
          <p:cNvPicPr>
            <a:picLocks noChangeAspect="1"/>
          </p:cNvPicPr>
          <p:nvPr/>
        </p:nvPicPr>
        <p:blipFill>
          <a:blip r:embed="rId5"/>
          <a:stretch>
            <a:fillRect/>
          </a:stretch>
        </p:blipFill>
        <p:spPr>
          <a:xfrm>
            <a:off x="6217920" y="4782312"/>
            <a:ext cx="292608" cy="292608"/>
          </a:xfrm>
          <a:prstGeom prst="rect">
            <a:avLst/>
          </a:prstGeom>
        </p:spPr>
      </p:pic>
      <p:sp>
        <p:nvSpPr>
          <p:cNvPr id="23" name="Text 16"/>
          <p:cNvSpPr txBox="1"/>
          <p:nvPr/>
        </p:nvSpPr>
        <p:spPr>
          <a:xfrm>
            <a:off x="6629400" y="4736592"/>
            <a:ext cx="5029200" cy="621792"/>
          </a:xfrm>
          <a:prstGeom prst="rect">
            <a:avLst/>
          </a:prstGeom>
          <a:noFill/>
          <a:ln/>
        </p:spPr>
        <p:txBody>
          <a:bodyPr wrap="square" lIns="0" tIns="0" rIns="0" bIns="0" rtlCol="0" anchor="t"/>
          <a:lstStyle/>
          <a:p>
            <a:pPr indent="0" marL="0">
              <a:buNone/>
            </a:pPr>
            <a:r>
              <a:rPr lang="en-US" sz="1450" b="1" dirty="0">
                <a:solidFill>
                  <a:srgbClr val="1B1A17"/>
                </a:solidFill>
                <a:latin typeface="Calibri" pitchFamily="34" charset="0"/>
                <a:ea typeface="Calibri" pitchFamily="34" charset="-122"/>
                <a:cs typeface="Calibri" pitchFamily="34" charset="-120"/>
              </a:rPr>
              <a:t>Cancellation and reports need extra care</a:t>
            </a:r>
            <a:endParaRPr lang="en-US" sz="1450" dirty="0"/>
          </a:p>
          <a:p>
            <a:pPr indent="0" marL="0">
              <a:buNone/>
            </a:pPr>
            <a:r>
              <a:rPr lang="en-US" sz="1150" i="1" dirty="0">
                <a:solidFill>
                  <a:srgbClr val="6F6A60"/>
                </a:solidFill>
                <a:latin typeface="Calibri" pitchFamily="34" charset="0"/>
                <a:ea typeface="Calibri" pitchFamily="34" charset="-122"/>
                <a:cs typeface="Calibri" pitchFamily="34" charset="-120"/>
              </a:rPr>
              <a:t>Rusdi and Isnin (2024)</a:t>
            </a:r>
            <a:endParaRPr lang="en-US" sz="1450" dirty="0"/>
          </a:p>
        </p:txBody>
      </p:sp>
      <p:pic>
        <p:nvPicPr>
          <p:cNvPr id="24" name="Image 5" descr="preencoded.png">    </p:cNvPr>
          <p:cNvPicPr>
            <a:picLocks noChangeAspect="1"/>
          </p:cNvPicPr>
          <p:nvPr/>
        </p:nvPicPr>
        <p:blipFill>
          <a:blip r:embed="rId6"/>
          <a:stretch>
            <a:fillRect/>
          </a:stretch>
        </p:blipFill>
        <p:spPr>
          <a:xfrm>
            <a:off x="6217920" y="5440680"/>
            <a:ext cx="292608" cy="292608"/>
          </a:xfrm>
          <a:prstGeom prst="rect">
            <a:avLst/>
          </a:prstGeom>
        </p:spPr>
      </p:pic>
      <p:sp>
        <p:nvSpPr>
          <p:cNvPr id="25" name="Text 17"/>
          <p:cNvSpPr txBox="1"/>
          <p:nvPr/>
        </p:nvSpPr>
        <p:spPr>
          <a:xfrm>
            <a:off x="6629400" y="5394960"/>
            <a:ext cx="5029200" cy="621792"/>
          </a:xfrm>
          <a:prstGeom prst="rect">
            <a:avLst/>
          </a:prstGeom>
          <a:noFill/>
          <a:ln/>
        </p:spPr>
        <p:txBody>
          <a:bodyPr wrap="square" lIns="0" tIns="0" rIns="0" bIns="0" rtlCol="0" anchor="t"/>
          <a:lstStyle/>
          <a:p>
            <a:pPr indent="0" marL="0">
              <a:buNone/>
            </a:pPr>
            <a:r>
              <a:rPr lang="en-US" sz="1450" b="1" dirty="0">
                <a:solidFill>
                  <a:srgbClr val="1B1A17"/>
                </a:solidFill>
                <a:latin typeface="Calibri" pitchFamily="34" charset="0"/>
                <a:ea typeface="Calibri" pitchFamily="34" charset="-122"/>
                <a:cs typeface="Calibri" pitchFamily="34" charset="-120"/>
              </a:rPr>
              <a:t>ISO 25010 is standard in PH system studies</a:t>
            </a:r>
            <a:endParaRPr lang="en-US" sz="1450" dirty="0"/>
          </a:p>
          <a:p>
            <a:pPr indent="0" marL="0">
              <a:buNone/>
            </a:pPr>
            <a:r>
              <a:rPr lang="en-US" sz="1150" i="1" dirty="0">
                <a:solidFill>
                  <a:srgbClr val="6F6A60"/>
                </a:solidFill>
                <a:latin typeface="Calibri" pitchFamily="34" charset="0"/>
                <a:ea typeface="Calibri" pitchFamily="34" charset="-122"/>
                <a:cs typeface="Calibri" pitchFamily="34" charset="-120"/>
              </a:rPr>
              <a:t>Concepcion et al. (2026); Ramento et al. (2024)</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B1A17"/>
                </a:solidFill>
                <a:latin typeface="Cambria" pitchFamily="34" charset="0"/>
                <a:ea typeface="Cambria" pitchFamily="34" charset="-122"/>
                <a:cs typeface="Cambria" pitchFamily="34" charset="-120"/>
              </a:rPr>
              <a:t>The research gap</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F6A60"/>
                </a:solidFill>
                <a:latin typeface="Calibri" pitchFamily="34" charset="0"/>
                <a:ea typeface="Calibri" pitchFamily="34" charset="-122"/>
                <a:cs typeface="Calibri" pitchFamily="34" charset="-120"/>
              </a:rPr>
              <a:t>Most systems stop at the schedule. The haircut itself is left out.</a:t>
            </a:r>
            <a:endParaRPr lang="en-US" sz="1600" dirty="0"/>
          </a:p>
        </p:txBody>
      </p:sp>
      <p:sp>
        <p:nvSpPr>
          <p:cNvPr id="4" name="Shape 2"/>
          <p:cNvSpPr/>
          <p:nvPr/>
        </p:nvSpPr>
        <p:spPr>
          <a:xfrm>
            <a:off x="548640" y="1783080"/>
            <a:ext cx="4937760" cy="3566160"/>
          </a:xfrm>
          <a:prstGeom prst="roundRect">
            <a:avLst>
              <a:gd name="adj" fmla="val 3077"/>
            </a:avLst>
          </a:prstGeom>
          <a:solidFill>
            <a:srgbClr val="F7F4EF"/>
          </a:solidFill>
          <a:ln w="12700">
            <a:solidFill>
              <a:srgbClr val="E4E0D8"/>
            </a:solidFill>
            <a:prstDash val="solid"/>
          </a:ln>
        </p:spPr>
      </p:sp>
      <p:sp>
        <p:nvSpPr>
          <p:cNvPr id="5" name="Text 3"/>
          <p:cNvSpPr txBox="1"/>
          <p:nvPr/>
        </p:nvSpPr>
        <p:spPr>
          <a:xfrm>
            <a:off x="822960" y="1965960"/>
            <a:ext cx="4480560" cy="457200"/>
          </a:xfrm>
          <a:prstGeom prst="rect">
            <a:avLst/>
          </a:prstGeom>
          <a:noFill/>
          <a:ln/>
        </p:spPr>
        <p:txBody>
          <a:bodyPr wrap="square" lIns="0" tIns="0" rIns="0" bIns="0" rtlCol="0" anchor="ctr"/>
          <a:lstStyle/>
          <a:p>
            <a:pPr indent="0" marL="0">
              <a:buNone/>
            </a:pPr>
            <a:r>
              <a:rPr lang="en-US" sz="1800" b="1" dirty="0">
                <a:solidFill>
                  <a:srgbClr val="6F6A60"/>
                </a:solidFill>
                <a:latin typeface="Calibri" pitchFamily="34" charset="0"/>
                <a:ea typeface="Calibri" pitchFamily="34" charset="-122"/>
                <a:cs typeface="Calibri" pitchFamily="34" charset="-120"/>
              </a:rPr>
              <a:t>What reviewed systems focus on</a:t>
            </a:r>
            <a:endParaRPr lang="en-US" sz="1800" dirty="0"/>
          </a:p>
        </p:txBody>
      </p:sp>
      <p:sp>
        <p:nvSpPr>
          <p:cNvPr id="6" name="Text 4"/>
          <p:cNvSpPr txBox="1"/>
          <p:nvPr/>
        </p:nvSpPr>
        <p:spPr>
          <a:xfrm>
            <a:off x="822960" y="2560320"/>
            <a:ext cx="448056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B1A17"/>
                </a:solidFill>
                <a:latin typeface="Calibri" pitchFamily="34" charset="0"/>
                <a:ea typeface="Calibri" pitchFamily="34" charset="-122"/>
                <a:cs typeface="Calibri" pitchFamily="34" charset="-120"/>
              </a:rPr>
              <a:t>Online booking of a date and time</a:t>
            </a:r>
            <a:endParaRPr lang="en-US" sz="1500" dirty="0"/>
          </a:p>
          <a:p>
            <a:pPr marL="342900" indent="-342900">
              <a:spcAft>
                <a:spcPts val="1000"/>
              </a:spcAft>
              <a:buSzPct val="100000"/>
              <a:buChar char="•"/>
            </a:pPr>
            <a:r>
              <a:rPr lang="en-US" sz="1500" dirty="0">
                <a:solidFill>
                  <a:srgbClr val="1B1A17"/>
                </a:solidFill>
                <a:latin typeface="Calibri" pitchFamily="34" charset="0"/>
                <a:ea typeface="Calibri" pitchFamily="34" charset="-122"/>
                <a:cs typeface="Calibri" pitchFamily="34" charset="-120"/>
              </a:rPr>
              <a:t>Queue numbers and waiting estimates</a:t>
            </a:r>
            <a:endParaRPr lang="en-US" sz="1500" dirty="0"/>
          </a:p>
          <a:p>
            <a:pPr marL="342900" indent="-342900">
              <a:spcAft>
                <a:spcPts val="1000"/>
              </a:spcAft>
              <a:buSzPct val="100000"/>
              <a:buChar char="•"/>
            </a:pPr>
            <a:r>
              <a:rPr lang="en-US" sz="1500" dirty="0">
                <a:solidFill>
                  <a:srgbClr val="1B1A17"/>
                </a:solidFill>
                <a:latin typeface="Calibri" pitchFamily="34" charset="0"/>
                <a:ea typeface="Calibri" pitchFamily="34" charset="-122"/>
                <a:cs typeface="Calibri" pitchFamily="34" charset="-120"/>
              </a:rPr>
              <a:t>Avoiding schedule clashes</a:t>
            </a:r>
            <a:endParaRPr lang="en-US" sz="1500" dirty="0"/>
          </a:p>
          <a:p>
            <a:pPr marL="342900" indent="-342900">
              <a:spcAft>
                <a:spcPts val="1000"/>
              </a:spcAft>
              <a:buSzPct val="100000"/>
              <a:buChar char="•"/>
            </a:pPr>
            <a:r>
              <a:rPr lang="en-US" sz="1500" dirty="0">
                <a:solidFill>
                  <a:srgbClr val="1B1A17"/>
                </a:solidFill>
                <a:latin typeface="Calibri" pitchFamily="34" charset="0"/>
                <a:ea typeface="Calibri" pitchFamily="34" charset="-122"/>
                <a:cs typeface="Calibri" pitchFamily="34" charset="-120"/>
              </a:rPr>
              <a:t>Online payment (some systems)</a:t>
            </a:r>
            <a:endParaRPr lang="en-US" sz="1500" dirty="0"/>
          </a:p>
          <a:p>
            <a:pPr marL="342900" indent="-342900">
              <a:spcAft>
                <a:spcPts val="1000"/>
              </a:spcAft>
              <a:buSzPct val="100000"/>
              <a:buChar char="•"/>
            </a:pPr>
            <a:r>
              <a:rPr lang="en-US" sz="1500" dirty="0">
                <a:solidFill>
                  <a:srgbClr val="1B1A17"/>
                </a:solidFill>
                <a:latin typeface="Calibri" pitchFamily="34" charset="0"/>
                <a:ea typeface="Calibri" pitchFamily="34" charset="-122"/>
                <a:cs typeface="Calibri" pitchFamily="34" charset="-120"/>
              </a:rPr>
              <a:t>Mostly built for Indonesia, Malaysia, or non-barbershop settings in the PH</a:t>
            </a:r>
            <a:endParaRPr lang="en-US" sz="1500" dirty="0"/>
          </a:p>
        </p:txBody>
      </p:sp>
      <p:sp>
        <p:nvSpPr>
          <p:cNvPr id="7" name="Shape 5"/>
          <p:cNvSpPr/>
          <p:nvPr/>
        </p:nvSpPr>
        <p:spPr>
          <a:xfrm>
            <a:off x="5715000" y="3200400"/>
            <a:ext cx="731520" cy="731520"/>
          </a:xfrm>
          <a:prstGeom prst="ellipse">
            <a:avLst/>
          </a:prstGeom>
          <a:solidFill>
            <a:srgbClr val="C9A227"/>
          </a:solidFill>
          <a:ln w="12700">
            <a:solidFill>
              <a:srgbClr val="C9A227"/>
            </a:solidFill>
            <a:prstDash val="solid"/>
          </a:ln>
        </p:spPr>
      </p:sp>
      <p:pic>
        <p:nvPicPr>
          <p:cNvPr id="8" name="Image 0" descr="preencoded.png">    </p:cNvPr>
          <p:cNvPicPr>
            <a:picLocks noChangeAspect="1"/>
          </p:cNvPicPr>
          <p:nvPr/>
        </p:nvPicPr>
        <p:blipFill>
          <a:blip r:embed="rId1"/>
          <a:stretch>
            <a:fillRect/>
          </a:stretch>
        </p:blipFill>
        <p:spPr>
          <a:xfrm>
            <a:off x="5897880" y="3383280"/>
            <a:ext cx="365760" cy="365760"/>
          </a:xfrm>
          <a:prstGeom prst="rect">
            <a:avLst/>
          </a:prstGeom>
        </p:spPr>
      </p:pic>
      <p:sp>
        <p:nvSpPr>
          <p:cNvPr id="9" name="Shape 6"/>
          <p:cNvSpPr/>
          <p:nvPr/>
        </p:nvSpPr>
        <p:spPr>
          <a:xfrm>
            <a:off x="6675120" y="1783080"/>
            <a:ext cx="4937760" cy="3566160"/>
          </a:xfrm>
          <a:prstGeom prst="roundRect">
            <a:avLst>
              <a:gd name="adj" fmla="val 3077"/>
            </a:avLst>
          </a:prstGeom>
          <a:solidFill>
            <a:srgbClr val="1B1A17"/>
          </a:solidFill>
          <a:ln w="12700">
            <a:solidFill>
              <a:srgbClr val="1B1A17"/>
            </a:solidFill>
            <a:prstDash val="solid"/>
          </a:ln>
        </p:spPr>
      </p:sp>
      <p:sp>
        <p:nvSpPr>
          <p:cNvPr id="10" name="Text 7"/>
          <p:cNvSpPr txBox="1"/>
          <p:nvPr/>
        </p:nvSpPr>
        <p:spPr>
          <a:xfrm>
            <a:off x="6949440" y="1965960"/>
            <a:ext cx="4480560" cy="457200"/>
          </a:xfrm>
          <a:prstGeom prst="rect">
            <a:avLst/>
          </a:prstGeom>
          <a:noFill/>
          <a:ln/>
        </p:spPr>
        <p:txBody>
          <a:bodyPr wrap="square" lIns="0" tIns="0" rIns="0" bIns="0" rtlCol="0" anchor="ctr"/>
          <a:lstStyle/>
          <a:p>
            <a:pPr indent="0" marL="0">
              <a:buNone/>
            </a:pPr>
            <a:r>
              <a:rPr lang="en-US" sz="1800" b="1" dirty="0">
                <a:solidFill>
                  <a:srgbClr val="C9A227"/>
                </a:solidFill>
                <a:latin typeface="Calibri" pitchFamily="34" charset="0"/>
                <a:ea typeface="Calibri" pitchFamily="34" charset="-122"/>
                <a:cs typeface="Calibri" pitchFamily="34" charset="-120"/>
              </a:rPr>
              <a:t>What BarberBook PH adds</a:t>
            </a:r>
            <a:endParaRPr lang="en-US" sz="1800" dirty="0"/>
          </a:p>
        </p:txBody>
      </p:sp>
      <p:sp>
        <p:nvSpPr>
          <p:cNvPr id="11" name="Text 8"/>
          <p:cNvSpPr txBox="1"/>
          <p:nvPr/>
        </p:nvSpPr>
        <p:spPr>
          <a:xfrm>
            <a:off x="6949440" y="2560320"/>
            <a:ext cx="448056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Hairstyle gallery attached to the booking</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Saved haircut preferences the barber reads before the cut</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Preferred barber or "any available"</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Reminders + owner dashboard + reports in one system</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Built and evaluated for a Filipino barbershop</a:t>
            </a:r>
            <a:endParaRPr lang="en-US" sz="1500" dirty="0"/>
          </a:p>
        </p:txBody>
      </p:sp>
      <p:sp>
        <p:nvSpPr>
          <p:cNvPr id="12" name="Text 9"/>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000" i="1" dirty="0">
                <a:solidFill>
                  <a:srgbClr val="6F6A60"/>
                </a:solidFill>
                <a:latin typeface="Calibri" pitchFamily="34" charset="0"/>
                <a:ea typeface="Calibri" pitchFamily="34" charset="-122"/>
                <a:cs typeface="Calibri" pitchFamily="34" charset="-120"/>
              </a:rPr>
              <a:t>Based on the published descriptions of the studies reviewed in Chapter 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B1A17"/>
                </a:solidFill>
                <a:latin typeface="Cambria" pitchFamily="34" charset="0"/>
                <a:ea typeface="Cambria" pitchFamily="34" charset="-122"/>
                <a:cs typeface="Cambria" pitchFamily="34" charset="-120"/>
              </a:rPr>
              <a:t>Scope and delimitations</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F6A60"/>
                </a:solidFill>
                <a:latin typeface="Calibri" pitchFamily="34" charset="0"/>
                <a:ea typeface="Calibri" pitchFamily="34" charset="-122"/>
                <a:cs typeface="Calibri" pitchFamily="34" charset="-120"/>
              </a:rPr>
              <a:t>What the system will and will not do</a:t>
            </a:r>
            <a:endParaRPr lang="en-US" sz="1600" dirty="0"/>
          </a:p>
        </p:txBody>
      </p:sp>
      <p:sp>
        <p:nvSpPr>
          <p:cNvPr id="4" name="Text 2"/>
          <p:cNvSpPr txBox="1"/>
          <p:nvPr/>
        </p:nvSpPr>
        <p:spPr>
          <a:xfrm>
            <a:off x="548640" y="1691640"/>
            <a:ext cx="5486400" cy="320040"/>
          </a:xfrm>
          <a:prstGeom prst="rect">
            <a:avLst/>
          </a:prstGeom>
          <a:noFill/>
          <a:ln/>
        </p:spPr>
        <p:txBody>
          <a:bodyPr wrap="square" lIns="0" tIns="0" rIns="0" bIns="0" rtlCol="0" anchor="ctr"/>
          <a:lstStyle/>
          <a:p>
            <a:pPr indent="0" marL="0">
              <a:buNone/>
            </a:pPr>
            <a:r>
              <a:rPr lang="en-US" sz="1300" b="1" spc="200" kern="0" dirty="0">
                <a:solidFill>
                  <a:srgbClr val="2E7D32"/>
                </a:solidFill>
                <a:latin typeface="Calibri" pitchFamily="34" charset="0"/>
                <a:ea typeface="Calibri" pitchFamily="34" charset="-122"/>
                <a:cs typeface="Calibri" pitchFamily="34" charset="-120"/>
              </a:rPr>
              <a:t>IN SCOPE</a:t>
            </a:r>
            <a:endParaRPr lang="en-US" sz="1300" dirty="0"/>
          </a:p>
        </p:txBody>
      </p:sp>
      <p:pic>
        <p:nvPicPr>
          <p:cNvPr id="5" name="Image 0" descr="preencoded.png">    </p:cNvPr>
          <p:cNvPicPr>
            <a:picLocks noChangeAspect="1"/>
          </p:cNvPicPr>
          <p:nvPr/>
        </p:nvPicPr>
        <p:blipFill>
          <a:blip r:embed="rId1"/>
          <a:stretch>
            <a:fillRect/>
          </a:stretch>
        </p:blipFill>
        <p:spPr>
          <a:xfrm>
            <a:off x="548640" y="2212848"/>
            <a:ext cx="256032" cy="256032"/>
          </a:xfrm>
          <a:prstGeom prst="rect">
            <a:avLst/>
          </a:prstGeom>
        </p:spPr>
      </p:pic>
      <p:sp>
        <p:nvSpPr>
          <p:cNvPr id="6" name="Text 3"/>
          <p:cNvSpPr txBox="1"/>
          <p:nvPr/>
        </p:nvSpPr>
        <p:spPr>
          <a:xfrm>
            <a:off x="914400" y="2148840"/>
            <a:ext cx="3108960" cy="411480"/>
          </a:xfrm>
          <a:prstGeom prst="rect">
            <a:avLst/>
          </a:prstGeom>
          <a:noFill/>
          <a:ln/>
        </p:spPr>
        <p:txBody>
          <a:bodyPr wrap="square" lIns="0" tIns="0" rIns="0" bIns="0" rtlCol="0" anchor="ctr"/>
          <a:lstStyle/>
          <a:p>
            <a:pPr indent="0" marL="0">
              <a:buNone/>
            </a:pPr>
            <a:r>
              <a:rPr lang="en-US" sz="1400" dirty="0">
                <a:solidFill>
                  <a:srgbClr val="1B1A17"/>
                </a:solidFill>
                <a:latin typeface="Calibri" pitchFamily="34" charset="0"/>
                <a:ea typeface="Calibri" pitchFamily="34" charset="-122"/>
                <a:cs typeface="Calibri" pitchFamily="34" charset="-120"/>
              </a:rPr>
              <a:t>Customer registration and login</a:t>
            </a:r>
            <a:endParaRPr lang="en-US" sz="1400" dirty="0"/>
          </a:p>
        </p:txBody>
      </p:sp>
      <p:pic>
        <p:nvPicPr>
          <p:cNvPr id="7" name="Image 1" descr="preencoded.png">    </p:cNvPr>
          <p:cNvPicPr>
            <a:picLocks noChangeAspect="1"/>
          </p:cNvPicPr>
          <p:nvPr/>
        </p:nvPicPr>
        <p:blipFill>
          <a:blip r:embed="rId2"/>
          <a:stretch>
            <a:fillRect/>
          </a:stretch>
        </p:blipFill>
        <p:spPr>
          <a:xfrm>
            <a:off x="4114800" y="2212848"/>
            <a:ext cx="256032" cy="256032"/>
          </a:xfrm>
          <a:prstGeom prst="rect">
            <a:avLst/>
          </a:prstGeom>
        </p:spPr>
      </p:pic>
      <p:sp>
        <p:nvSpPr>
          <p:cNvPr id="8" name="Text 4"/>
          <p:cNvSpPr txBox="1"/>
          <p:nvPr/>
        </p:nvSpPr>
        <p:spPr>
          <a:xfrm>
            <a:off x="4480560" y="2148840"/>
            <a:ext cx="3108960" cy="411480"/>
          </a:xfrm>
          <a:prstGeom prst="rect">
            <a:avLst/>
          </a:prstGeom>
          <a:noFill/>
          <a:ln/>
        </p:spPr>
        <p:txBody>
          <a:bodyPr wrap="square" lIns="0" tIns="0" rIns="0" bIns="0" rtlCol="0" anchor="ctr"/>
          <a:lstStyle/>
          <a:p>
            <a:pPr indent="0" marL="0">
              <a:buNone/>
            </a:pPr>
            <a:r>
              <a:rPr lang="en-US" sz="1400" dirty="0">
                <a:solidFill>
                  <a:srgbClr val="1B1A17"/>
                </a:solidFill>
                <a:latin typeface="Calibri" pitchFamily="34" charset="0"/>
                <a:ea typeface="Calibri" pitchFamily="34" charset="-122"/>
                <a:cs typeface="Calibri" pitchFamily="34" charset="-120"/>
              </a:rPr>
              <a:t>Shop listing with hours, services, prices</a:t>
            </a:r>
            <a:endParaRPr lang="en-US" sz="1400" dirty="0"/>
          </a:p>
        </p:txBody>
      </p:sp>
      <p:pic>
        <p:nvPicPr>
          <p:cNvPr id="9" name="Image 2" descr="preencoded.png">    </p:cNvPr>
          <p:cNvPicPr>
            <a:picLocks noChangeAspect="1"/>
          </p:cNvPicPr>
          <p:nvPr/>
        </p:nvPicPr>
        <p:blipFill>
          <a:blip r:embed="rId3"/>
          <a:stretch>
            <a:fillRect/>
          </a:stretch>
        </p:blipFill>
        <p:spPr>
          <a:xfrm>
            <a:off x="548640" y="2944368"/>
            <a:ext cx="256032" cy="256032"/>
          </a:xfrm>
          <a:prstGeom prst="rect">
            <a:avLst/>
          </a:prstGeom>
        </p:spPr>
      </p:pic>
      <p:sp>
        <p:nvSpPr>
          <p:cNvPr id="10" name="Text 5"/>
          <p:cNvSpPr txBox="1"/>
          <p:nvPr/>
        </p:nvSpPr>
        <p:spPr>
          <a:xfrm>
            <a:off x="914400" y="2880360"/>
            <a:ext cx="3108960" cy="411480"/>
          </a:xfrm>
          <a:prstGeom prst="rect">
            <a:avLst/>
          </a:prstGeom>
          <a:noFill/>
          <a:ln/>
        </p:spPr>
        <p:txBody>
          <a:bodyPr wrap="square" lIns="0" tIns="0" rIns="0" bIns="0" rtlCol="0" anchor="ctr"/>
          <a:lstStyle/>
          <a:p>
            <a:pPr indent="0" marL="0">
              <a:buNone/>
            </a:pPr>
            <a:r>
              <a:rPr lang="en-US" sz="1400" dirty="0">
                <a:solidFill>
                  <a:srgbClr val="1B1A17"/>
                </a:solidFill>
                <a:latin typeface="Calibri" pitchFamily="34" charset="0"/>
                <a:ea typeface="Calibri" pitchFamily="34" charset="-122"/>
                <a:cs typeface="Calibri" pitchFamily="34" charset="-120"/>
              </a:rPr>
              <a:t>Hairstyle gallery by category</a:t>
            </a:r>
            <a:endParaRPr lang="en-US" sz="1400" dirty="0"/>
          </a:p>
        </p:txBody>
      </p:sp>
      <p:pic>
        <p:nvPicPr>
          <p:cNvPr id="11" name="Image 3" descr="preencoded.png">    </p:cNvPr>
          <p:cNvPicPr>
            <a:picLocks noChangeAspect="1"/>
          </p:cNvPicPr>
          <p:nvPr/>
        </p:nvPicPr>
        <p:blipFill>
          <a:blip r:embed="rId4"/>
          <a:stretch>
            <a:fillRect/>
          </a:stretch>
        </p:blipFill>
        <p:spPr>
          <a:xfrm>
            <a:off x="4114800" y="2944368"/>
            <a:ext cx="256032" cy="256032"/>
          </a:xfrm>
          <a:prstGeom prst="rect">
            <a:avLst/>
          </a:prstGeom>
        </p:spPr>
      </p:pic>
      <p:sp>
        <p:nvSpPr>
          <p:cNvPr id="12" name="Text 6"/>
          <p:cNvSpPr txBox="1"/>
          <p:nvPr/>
        </p:nvSpPr>
        <p:spPr>
          <a:xfrm>
            <a:off x="4480560" y="2880360"/>
            <a:ext cx="3108960" cy="411480"/>
          </a:xfrm>
          <a:prstGeom prst="rect">
            <a:avLst/>
          </a:prstGeom>
          <a:noFill/>
          <a:ln/>
        </p:spPr>
        <p:txBody>
          <a:bodyPr wrap="square" lIns="0" tIns="0" rIns="0" bIns="0" rtlCol="0" anchor="ctr"/>
          <a:lstStyle/>
          <a:p>
            <a:pPr indent="0" marL="0">
              <a:buNone/>
            </a:pPr>
            <a:r>
              <a:rPr lang="en-US" sz="1400" dirty="0">
                <a:solidFill>
                  <a:srgbClr val="1B1A17"/>
                </a:solidFill>
                <a:latin typeface="Calibri" pitchFamily="34" charset="0"/>
                <a:ea typeface="Calibri" pitchFamily="34" charset="-122"/>
                <a:cs typeface="Calibri" pitchFamily="34" charset="-120"/>
              </a:rPr>
              <a:t>Preferred barber selection</a:t>
            </a:r>
            <a:endParaRPr lang="en-US" sz="1400" dirty="0"/>
          </a:p>
        </p:txBody>
      </p:sp>
      <p:pic>
        <p:nvPicPr>
          <p:cNvPr id="13" name="Image 4" descr="preencoded.png">    </p:cNvPr>
          <p:cNvPicPr>
            <a:picLocks noChangeAspect="1"/>
          </p:cNvPicPr>
          <p:nvPr/>
        </p:nvPicPr>
        <p:blipFill>
          <a:blip r:embed="rId5"/>
          <a:stretch>
            <a:fillRect/>
          </a:stretch>
        </p:blipFill>
        <p:spPr>
          <a:xfrm>
            <a:off x="548640" y="3675888"/>
            <a:ext cx="256032" cy="256032"/>
          </a:xfrm>
          <a:prstGeom prst="rect">
            <a:avLst/>
          </a:prstGeom>
        </p:spPr>
      </p:pic>
      <p:sp>
        <p:nvSpPr>
          <p:cNvPr id="14" name="Text 7"/>
          <p:cNvSpPr txBox="1"/>
          <p:nvPr/>
        </p:nvSpPr>
        <p:spPr>
          <a:xfrm>
            <a:off x="914400" y="3611880"/>
            <a:ext cx="3108960" cy="411480"/>
          </a:xfrm>
          <a:prstGeom prst="rect">
            <a:avLst/>
          </a:prstGeom>
          <a:noFill/>
          <a:ln/>
        </p:spPr>
        <p:txBody>
          <a:bodyPr wrap="square" lIns="0" tIns="0" rIns="0" bIns="0" rtlCol="0" anchor="ctr"/>
          <a:lstStyle/>
          <a:p>
            <a:pPr indent="0" marL="0">
              <a:buNone/>
            </a:pPr>
            <a:r>
              <a:rPr lang="en-US" sz="1400" dirty="0">
                <a:solidFill>
                  <a:srgbClr val="1B1A17"/>
                </a:solidFill>
                <a:latin typeface="Calibri" pitchFamily="34" charset="0"/>
                <a:ea typeface="Calibri" pitchFamily="34" charset="-122"/>
                <a:cs typeface="Calibri" pitchFamily="34" charset="-120"/>
              </a:rPr>
              <a:t>Saved preferences and notes</a:t>
            </a:r>
            <a:endParaRPr lang="en-US" sz="1400" dirty="0"/>
          </a:p>
        </p:txBody>
      </p:sp>
      <p:pic>
        <p:nvPicPr>
          <p:cNvPr id="15" name="Image 5" descr="preencoded.png">    </p:cNvPr>
          <p:cNvPicPr>
            <a:picLocks noChangeAspect="1"/>
          </p:cNvPicPr>
          <p:nvPr/>
        </p:nvPicPr>
        <p:blipFill>
          <a:blip r:embed="rId6"/>
          <a:stretch>
            <a:fillRect/>
          </a:stretch>
        </p:blipFill>
        <p:spPr>
          <a:xfrm>
            <a:off x="4114800" y="3675888"/>
            <a:ext cx="256032" cy="256032"/>
          </a:xfrm>
          <a:prstGeom prst="rect">
            <a:avLst/>
          </a:prstGeom>
        </p:spPr>
      </p:pic>
      <p:sp>
        <p:nvSpPr>
          <p:cNvPr id="16" name="Text 8"/>
          <p:cNvSpPr txBox="1"/>
          <p:nvPr/>
        </p:nvSpPr>
        <p:spPr>
          <a:xfrm>
            <a:off x="4480560" y="3611880"/>
            <a:ext cx="3108960" cy="411480"/>
          </a:xfrm>
          <a:prstGeom prst="rect">
            <a:avLst/>
          </a:prstGeom>
          <a:noFill/>
          <a:ln/>
        </p:spPr>
        <p:txBody>
          <a:bodyPr wrap="square" lIns="0" tIns="0" rIns="0" bIns="0" rtlCol="0" anchor="ctr"/>
          <a:lstStyle/>
          <a:p>
            <a:pPr indent="0" marL="0">
              <a:buNone/>
            </a:pPr>
            <a:r>
              <a:rPr lang="en-US" sz="1400" dirty="0">
                <a:solidFill>
                  <a:srgbClr val="1B1A17"/>
                </a:solidFill>
                <a:latin typeface="Calibri" pitchFamily="34" charset="0"/>
                <a:ea typeface="Calibri" pitchFamily="34" charset="-122"/>
                <a:cs typeface="Calibri" pitchFamily="34" charset="-120"/>
              </a:rPr>
              <a:t>Calendar and time-slot booking</a:t>
            </a:r>
            <a:endParaRPr lang="en-US" sz="1400" dirty="0"/>
          </a:p>
        </p:txBody>
      </p:sp>
      <p:pic>
        <p:nvPicPr>
          <p:cNvPr id="17" name="Image 6" descr="preencoded.png">    </p:cNvPr>
          <p:cNvPicPr>
            <a:picLocks noChangeAspect="1"/>
          </p:cNvPicPr>
          <p:nvPr/>
        </p:nvPicPr>
        <p:blipFill>
          <a:blip r:embed="rId7"/>
          <a:stretch>
            <a:fillRect/>
          </a:stretch>
        </p:blipFill>
        <p:spPr>
          <a:xfrm>
            <a:off x="548640" y="4407408"/>
            <a:ext cx="256032" cy="256032"/>
          </a:xfrm>
          <a:prstGeom prst="rect">
            <a:avLst/>
          </a:prstGeom>
        </p:spPr>
      </p:pic>
      <p:sp>
        <p:nvSpPr>
          <p:cNvPr id="18" name="Text 9"/>
          <p:cNvSpPr txBox="1"/>
          <p:nvPr/>
        </p:nvSpPr>
        <p:spPr>
          <a:xfrm>
            <a:off x="914400" y="4343400"/>
            <a:ext cx="3108960" cy="411480"/>
          </a:xfrm>
          <a:prstGeom prst="rect">
            <a:avLst/>
          </a:prstGeom>
          <a:noFill/>
          <a:ln/>
        </p:spPr>
        <p:txBody>
          <a:bodyPr wrap="square" lIns="0" tIns="0" rIns="0" bIns="0" rtlCol="0" anchor="ctr"/>
          <a:lstStyle/>
          <a:p>
            <a:pPr indent="0" marL="0">
              <a:buNone/>
            </a:pPr>
            <a:r>
              <a:rPr lang="en-US" sz="1400" dirty="0">
                <a:solidFill>
                  <a:srgbClr val="1B1A17"/>
                </a:solidFill>
                <a:latin typeface="Calibri" pitchFamily="34" charset="0"/>
                <a:ea typeface="Calibri" pitchFamily="34" charset="-122"/>
                <a:cs typeface="Calibri" pitchFamily="34" charset="-120"/>
              </a:rPr>
              <a:t>Reschedule and cancel</a:t>
            </a:r>
            <a:endParaRPr lang="en-US" sz="1400" dirty="0"/>
          </a:p>
        </p:txBody>
      </p:sp>
      <p:pic>
        <p:nvPicPr>
          <p:cNvPr id="19" name="Image 7" descr="preencoded.png">    </p:cNvPr>
          <p:cNvPicPr>
            <a:picLocks noChangeAspect="1"/>
          </p:cNvPicPr>
          <p:nvPr/>
        </p:nvPicPr>
        <p:blipFill>
          <a:blip r:embed="rId8"/>
          <a:stretch>
            <a:fillRect/>
          </a:stretch>
        </p:blipFill>
        <p:spPr>
          <a:xfrm>
            <a:off x="4114800" y="4407408"/>
            <a:ext cx="256032" cy="256032"/>
          </a:xfrm>
          <a:prstGeom prst="rect">
            <a:avLst/>
          </a:prstGeom>
        </p:spPr>
      </p:pic>
      <p:sp>
        <p:nvSpPr>
          <p:cNvPr id="20" name="Text 10"/>
          <p:cNvSpPr txBox="1"/>
          <p:nvPr/>
        </p:nvSpPr>
        <p:spPr>
          <a:xfrm>
            <a:off x="4480560" y="4343400"/>
            <a:ext cx="3108960" cy="411480"/>
          </a:xfrm>
          <a:prstGeom prst="rect">
            <a:avLst/>
          </a:prstGeom>
          <a:noFill/>
          <a:ln/>
        </p:spPr>
        <p:txBody>
          <a:bodyPr wrap="square" lIns="0" tIns="0" rIns="0" bIns="0" rtlCol="0" anchor="ctr"/>
          <a:lstStyle/>
          <a:p>
            <a:pPr indent="0" marL="0">
              <a:buNone/>
            </a:pPr>
            <a:r>
              <a:rPr lang="en-US" sz="1400" dirty="0">
                <a:solidFill>
                  <a:srgbClr val="1B1A17"/>
                </a:solidFill>
                <a:latin typeface="Calibri" pitchFamily="34" charset="0"/>
                <a:ea typeface="Calibri" pitchFamily="34" charset="-122"/>
                <a:cs typeface="Calibri" pitchFamily="34" charset="-120"/>
              </a:rPr>
              <a:t>Email / SMS confirmation and reminder</a:t>
            </a:r>
            <a:endParaRPr lang="en-US" sz="1400" dirty="0"/>
          </a:p>
        </p:txBody>
      </p:sp>
      <p:pic>
        <p:nvPicPr>
          <p:cNvPr id="21" name="Image 8" descr="preencoded.png">    </p:cNvPr>
          <p:cNvPicPr>
            <a:picLocks noChangeAspect="1"/>
          </p:cNvPicPr>
          <p:nvPr/>
        </p:nvPicPr>
        <p:blipFill>
          <a:blip r:embed="rId9"/>
          <a:stretch>
            <a:fillRect/>
          </a:stretch>
        </p:blipFill>
        <p:spPr>
          <a:xfrm>
            <a:off x="548640" y="5138928"/>
            <a:ext cx="256032" cy="256032"/>
          </a:xfrm>
          <a:prstGeom prst="rect">
            <a:avLst/>
          </a:prstGeom>
        </p:spPr>
      </p:pic>
      <p:sp>
        <p:nvSpPr>
          <p:cNvPr id="22" name="Text 11"/>
          <p:cNvSpPr txBox="1"/>
          <p:nvPr/>
        </p:nvSpPr>
        <p:spPr>
          <a:xfrm>
            <a:off x="914400" y="5074920"/>
            <a:ext cx="3108960" cy="411480"/>
          </a:xfrm>
          <a:prstGeom prst="rect">
            <a:avLst/>
          </a:prstGeom>
          <a:noFill/>
          <a:ln/>
        </p:spPr>
        <p:txBody>
          <a:bodyPr wrap="square" lIns="0" tIns="0" rIns="0" bIns="0" rtlCol="0" anchor="ctr"/>
          <a:lstStyle/>
          <a:p>
            <a:pPr indent="0" marL="0">
              <a:buNone/>
            </a:pPr>
            <a:r>
              <a:rPr lang="en-US" sz="1400" dirty="0">
                <a:solidFill>
                  <a:srgbClr val="1B1A17"/>
                </a:solidFill>
                <a:latin typeface="Calibri" pitchFamily="34" charset="0"/>
                <a:ea typeface="Calibri" pitchFamily="34" charset="-122"/>
                <a:cs typeface="Calibri" pitchFamily="34" charset="-120"/>
              </a:rPr>
              <a:t>Owner dashboard and booking reports</a:t>
            </a:r>
            <a:endParaRPr lang="en-US" sz="1400" dirty="0"/>
          </a:p>
        </p:txBody>
      </p:sp>
      <p:pic>
        <p:nvPicPr>
          <p:cNvPr id="23" name="Image 9" descr="preencoded.png">    </p:cNvPr>
          <p:cNvPicPr>
            <a:picLocks noChangeAspect="1"/>
          </p:cNvPicPr>
          <p:nvPr/>
        </p:nvPicPr>
        <p:blipFill>
          <a:blip r:embed="rId10"/>
          <a:stretch>
            <a:fillRect/>
          </a:stretch>
        </p:blipFill>
        <p:spPr>
          <a:xfrm>
            <a:off x="4114800" y="5138928"/>
            <a:ext cx="256032" cy="256032"/>
          </a:xfrm>
          <a:prstGeom prst="rect">
            <a:avLst/>
          </a:prstGeom>
        </p:spPr>
      </p:pic>
      <p:sp>
        <p:nvSpPr>
          <p:cNvPr id="24" name="Text 12"/>
          <p:cNvSpPr txBox="1"/>
          <p:nvPr/>
        </p:nvSpPr>
        <p:spPr>
          <a:xfrm>
            <a:off x="4480560" y="5074920"/>
            <a:ext cx="3108960" cy="411480"/>
          </a:xfrm>
          <a:prstGeom prst="rect">
            <a:avLst/>
          </a:prstGeom>
          <a:noFill/>
          <a:ln/>
        </p:spPr>
        <p:txBody>
          <a:bodyPr wrap="square" lIns="0" tIns="0" rIns="0" bIns="0" rtlCol="0" anchor="ctr"/>
          <a:lstStyle/>
          <a:p>
            <a:pPr indent="0" marL="0">
              <a:buNone/>
            </a:pPr>
            <a:r>
              <a:rPr lang="en-US" sz="1400" dirty="0">
                <a:solidFill>
                  <a:srgbClr val="1B1A17"/>
                </a:solidFill>
                <a:latin typeface="Calibri" pitchFamily="34" charset="0"/>
                <a:ea typeface="Calibri" pitchFamily="34" charset="-122"/>
                <a:cs typeface="Calibri" pitchFamily="34" charset="-120"/>
              </a:rPr>
              <a:t>Rating and feedback</a:t>
            </a:r>
            <a:endParaRPr lang="en-US" sz="1400" dirty="0"/>
          </a:p>
        </p:txBody>
      </p:sp>
      <p:sp>
        <p:nvSpPr>
          <p:cNvPr id="25" name="Shape 13"/>
          <p:cNvSpPr/>
          <p:nvPr/>
        </p:nvSpPr>
        <p:spPr>
          <a:xfrm>
            <a:off x="7863840" y="1691640"/>
            <a:ext cx="3749040" cy="4480560"/>
          </a:xfrm>
          <a:prstGeom prst="roundRect">
            <a:avLst>
              <a:gd name="adj" fmla="val 2927"/>
            </a:avLst>
          </a:prstGeom>
          <a:solidFill>
            <a:srgbClr val="F7F4EF"/>
          </a:solidFill>
          <a:ln w="12700">
            <a:solidFill>
              <a:srgbClr val="E4E0D8"/>
            </a:solidFill>
            <a:prstDash val="solid"/>
          </a:ln>
        </p:spPr>
      </p:sp>
      <p:sp>
        <p:nvSpPr>
          <p:cNvPr id="26" name="Text 14"/>
          <p:cNvSpPr txBox="1"/>
          <p:nvPr/>
        </p:nvSpPr>
        <p:spPr>
          <a:xfrm>
            <a:off x="8138160" y="1874520"/>
            <a:ext cx="3291840" cy="320040"/>
          </a:xfrm>
          <a:prstGeom prst="rect">
            <a:avLst/>
          </a:prstGeom>
          <a:noFill/>
          <a:ln/>
        </p:spPr>
        <p:txBody>
          <a:bodyPr wrap="square" lIns="0" tIns="0" rIns="0" bIns="0" rtlCol="0" anchor="ctr"/>
          <a:lstStyle/>
          <a:p>
            <a:pPr indent="0" marL="0">
              <a:buNone/>
            </a:pPr>
            <a:r>
              <a:rPr lang="en-US" sz="1300" b="1" spc="200" kern="0" dirty="0">
                <a:solidFill>
                  <a:srgbClr val="B3261E"/>
                </a:solidFill>
                <a:latin typeface="Calibri" pitchFamily="34" charset="0"/>
                <a:ea typeface="Calibri" pitchFamily="34" charset="-122"/>
                <a:cs typeface="Calibri" pitchFamily="34" charset="-120"/>
              </a:rPr>
              <a:t>OUT OF SCOPE</a:t>
            </a:r>
            <a:endParaRPr lang="en-US" sz="1300" dirty="0"/>
          </a:p>
        </p:txBody>
      </p:sp>
      <p:pic>
        <p:nvPicPr>
          <p:cNvPr id="27" name="Image 10" descr="preencoded.png">    </p:cNvPr>
          <p:cNvPicPr>
            <a:picLocks noChangeAspect="1"/>
          </p:cNvPicPr>
          <p:nvPr/>
        </p:nvPicPr>
        <p:blipFill>
          <a:blip r:embed="rId11"/>
          <a:stretch>
            <a:fillRect/>
          </a:stretch>
        </p:blipFill>
        <p:spPr>
          <a:xfrm>
            <a:off x="8138160" y="2441448"/>
            <a:ext cx="256032" cy="256032"/>
          </a:xfrm>
          <a:prstGeom prst="rect">
            <a:avLst/>
          </a:prstGeom>
        </p:spPr>
      </p:pic>
      <p:sp>
        <p:nvSpPr>
          <p:cNvPr id="28" name="Text 15"/>
          <p:cNvSpPr txBox="1"/>
          <p:nvPr/>
        </p:nvSpPr>
        <p:spPr>
          <a:xfrm>
            <a:off x="8503920" y="2377440"/>
            <a:ext cx="2926080" cy="548640"/>
          </a:xfrm>
          <a:prstGeom prst="rect">
            <a:avLst/>
          </a:prstGeom>
          <a:noFill/>
          <a:ln/>
        </p:spPr>
        <p:txBody>
          <a:bodyPr wrap="square" lIns="0" tIns="0" rIns="0" bIns="0" rtlCol="0" anchor="t"/>
          <a:lstStyle/>
          <a:p>
            <a:pPr indent="0" marL="0">
              <a:buNone/>
            </a:pPr>
            <a:r>
              <a:rPr lang="en-US" sz="1400" dirty="0">
                <a:solidFill>
                  <a:srgbClr val="1B1A17"/>
                </a:solidFill>
                <a:latin typeface="Calibri" pitchFamily="34" charset="0"/>
                <a:ea typeface="Calibri" pitchFamily="34" charset="-122"/>
                <a:cs typeface="Calibri" pitchFamily="34" charset="-120"/>
              </a:rPr>
              <a:t>Online payment (paid at the shop)</a:t>
            </a:r>
            <a:endParaRPr lang="en-US" sz="1400" dirty="0"/>
          </a:p>
        </p:txBody>
      </p:sp>
      <p:pic>
        <p:nvPicPr>
          <p:cNvPr id="29" name="Image 11" descr="preencoded.png">    </p:cNvPr>
          <p:cNvPicPr>
            <a:picLocks noChangeAspect="1"/>
          </p:cNvPicPr>
          <p:nvPr/>
        </p:nvPicPr>
        <p:blipFill>
          <a:blip r:embed="rId12"/>
          <a:stretch>
            <a:fillRect/>
          </a:stretch>
        </p:blipFill>
        <p:spPr>
          <a:xfrm>
            <a:off x="8138160" y="3154680"/>
            <a:ext cx="256032" cy="256032"/>
          </a:xfrm>
          <a:prstGeom prst="rect">
            <a:avLst/>
          </a:prstGeom>
        </p:spPr>
      </p:pic>
      <p:sp>
        <p:nvSpPr>
          <p:cNvPr id="30" name="Text 16"/>
          <p:cNvSpPr txBox="1"/>
          <p:nvPr/>
        </p:nvSpPr>
        <p:spPr>
          <a:xfrm>
            <a:off x="8503920" y="3090672"/>
            <a:ext cx="2926080" cy="548640"/>
          </a:xfrm>
          <a:prstGeom prst="rect">
            <a:avLst/>
          </a:prstGeom>
          <a:noFill/>
          <a:ln/>
        </p:spPr>
        <p:txBody>
          <a:bodyPr wrap="square" lIns="0" tIns="0" rIns="0" bIns="0" rtlCol="0" anchor="t"/>
          <a:lstStyle/>
          <a:p>
            <a:pPr indent="0" marL="0">
              <a:buNone/>
            </a:pPr>
            <a:r>
              <a:rPr lang="en-US" sz="1400" dirty="0">
                <a:solidFill>
                  <a:srgbClr val="1B1A17"/>
                </a:solidFill>
                <a:latin typeface="Calibri" pitchFamily="34" charset="0"/>
                <a:ea typeface="Calibri" pitchFamily="34" charset="-122"/>
                <a:cs typeface="Calibri" pitchFamily="34" charset="-120"/>
              </a:rPr>
              <a:t>Payroll, inventory, full accounting</a:t>
            </a:r>
            <a:endParaRPr lang="en-US" sz="1400" dirty="0"/>
          </a:p>
        </p:txBody>
      </p:sp>
      <p:pic>
        <p:nvPicPr>
          <p:cNvPr id="31" name="Image 12" descr="preencoded.png">    </p:cNvPr>
          <p:cNvPicPr>
            <a:picLocks noChangeAspect="1"/>
          </p:cNvPicPr>
          <p:nvPr/>
        </p:nvPicPr>
        <p:blipFill>
          <a:blip r:embed="rId13"/>
          <a:stretch>
            <a:fillRect/>
          </a:stretch>
        </p:blipFill>
        <p:spPr>
          <a:xfrm>
            <a:off x="8138160" y="3867912"/>
            <a:ext cx="256032" cy="256032"/>
          </a:xfrm>
          <a:prstGeom prst="rect">
            <a:avLst/>
          </a:prstGeom>
        </p:spPr>
      </p:pic>
      <p:sp>
        <p:nvSpPr>
          <p:cNvPr id="32" name="Text 17"/>
          <p:cNvSpPr txBox="1"/>
          <p:nvPr/>
        </p:nvSpPr>
        <p:spPr>
          <a:xfrm>
            <a:off x="8503920" y="3803904"/>
            <a:ext cx="2926080" cy="548640"/>
          </a:xfrm>
          <a:prstGeom prst="rect">
            <a:avLst/>
          </a:prstGeom>
          <a:noFill/>
          <a:ln/>
        </p:spPr>
        <p:txBody>
          <a:bodyPr wrap="square" lIns="0" tIns="0" rIns="0" bIns="0" rtlCol="0" anchor="t"/>
          <a:lstStyle/>
          <a:p>
            <a:pPr indent="0" marL="0">
              <a:buNone/>
            </a:pPr>
            <a:r>
              <a:rPr lang="en-US" sz="1400" dirty="0">
                <a:solidFill>
                  <a:srgbClr val="1B1A17"/>
                </a:solidFill>
                <a:latin typeface="Calibri" pitchFamily="34" charset="0"/>
                <a:ea typeface="Calibri" pitchFamily="34" charset="-122"/>
                <a:cs typeface="Calibri" pitchFamily="34" charset="-120"/>
              </a:rPr>
              <a:t>AI or AR hairstyle preview</a:t>
            </a:r>
            <a:endParaRPr lang="en-US" sz="1400" dirty="0"/>
          </a:p>
        </p:txBody>
      </p:sp>
      <p:pic>
        <p:nvPicPr>
          <p:cNvPr id="33" name="Image 13" descr="preencoded.png">    </p:cNvPr>
          <p:cNvPicPr>
            <a:picLocks noChangeAspect="1"/>
          </p:cNvPicPr>
          <p:nvPr/>
        </p:nvPicPr>
        <p:blipFill>
          <a:blip r:embed="rId14"/>
          <a:stretch>
            <a:fillRect/>
          </a:stretch>
        </p:blipFill>
        <p:spPr>
          <a:xfrm>
            <a:off x="8138160" y="4581144"/>
            <a:ext cx="256032" cy="256032"/>
          </a:xfrm>
          <a:prstGeom prst="rect">
            <a:avLst/>
          </a:prstGeom>
        </p:spPr>
      </p:pic>
      <p:sp>
        <p:nvSpPr>
          <p:cNvPr id="34" name="Text 18"/>
          <p:cNvSpPr txBox="1"/>
          <p:nvPr/>
        </p:nvSpPr>
        <p:spPr>
          <a:xfrm>
            <a:off x="8503920" y="4517136"/>
            <a:ext cx="2926080" cy="548640"/>
          </a:xfrm>
          <a:prstGeom prst="rect">
            <a:avLst/>
          </a:prstGeom>
          <a:noFill/>
          <a:ln/>
        </p:spPr>
        <p:txBody>
          <a:bodyPr wrap="square" lIns="0" tIns="0" rIns="0" bIns="0" rtlCol="0" anchor="t"/>
          <a:lstStyle/>
          <a:p>
            <a:pPr indent="0" marL="0">
              <a:buNone/>
            </a:pPr>
            <a:r>
              <a:rPr lang="en-US" sz="1400" dirty="0">
                <a:solidFill>
                  <a:srgbClr val="1B1A17"/>
                </a:solidFill>
                <a:latin typeface="Calibri" pitchFamily="34" charset="0"/>
                <a:ea typeface="Calibri" pitchFamily="34" charset="-122"/>
                <a:cs typeface="Calibri" pitchFamily="34" charset="-120"/>
              </a:rPr>
              <a:t>More than one partner shop during testing</a:t>
            </a:r>
            <a:endParaRPr lang="en-US" sz="1400" dirty="0"/>
          </a:p>
        </p:txBody>
      </p:sp>
      <p:pic>
        <p:nvPicPr>
          <p:cNvPr id="35" name="Image 14" descr="preencoded.png">    </p:cNvPr>
          <p:cNvPicPr>
            <a:picLocks noChangeAspect="1"/>
          </p:cNvPicPr>
          <p:nvPr/>
        </p:nvPicPr>
        <p:blipFill>
          <a:blip r:embed="rId15"/>
          <a:stretch>
            <a:fillRect/>
          </a:stretch>
        </p:blipFill>
        <p:spPr>
          <a:xfrm>
            <a:off x="8138160" y="5294376"/>
            <a:ext cx="256032" cy="256032"/>
          </a:xfrm>
          <a:prstGeom prst="rect">
            <a:avLst/>
          </a:prstGeom>
        </p:spPr>
      </p:pic>
      <p:sp>
        <p:nvSpPr>
          <p:cNvPr id="36" name="Text 19"/>
          <p:cNvSpPr txBox="1"/>
          <p:nvPr/>
        </p:nvSpPr>
        <p:spPr>
          <a:xfrm>
            <a:off x="8503920" y="5230368"/>
            <a:ext cx="2926080" cy="548640"/>
          </a:xfrm>
          <a:prstGeom prst="rect">
            <a:avLst/>
          </a:prstGeom>
          <a:noFill/>
          <a:ln/>
        </p:spPr>
        <p:txBody>
          <a:bodyPr wrap="square" lIns="0" tIns="0" rIns="0" bIns="0" rtlCol="0" anchor="t"/>
          <a:lstStyle/>
          <a:p>
            <a:pPr indent="0" marL="0">
              <a:buNone/>
            </a:pPr>
            <a:r>
              <a:rPr lang="en-US" sz="1400" dirty="0">
                <a:solidFill>
                  <a:srgbClr val="1B1A17"/>
                </a:solidFill>
                <a:latin typeface="Calibri" pitchFamily="34" charset="0"/>
                <a:ea typeface="Calibri" pitchFamily="34" charset="-122"/>
                <a:cs typeface="Calibri" pitchFamily="34" charset="-120"/>
              </a:rPr>
              <a:t>Offline use (needs internet)</a:t>
            </a:r>
            <a:endParaRPr lang="en-US" sz="1400" dirty="0"/>
          </a:p>
        </p:txBody>
      </p:sp>
      <p:sp>
        <p:nvSpPr>
          <p:cNvPr id="37" name="Text 20"/>
          <p:cNvSpPr txBox="1"/>
          <p:nvPr/>
        </p:nvSpPr>
        <p:spPr>
          <a:xfrm>
            <a:off x="548640" y="5989320"/>
            <a:ext cx="7132320" cy="548640"/>
          </a:xfrm>
          <a:prstGeom prst="rect">
            <a:avLst/>
          </a:prstGeom>
          <a:noFill/>
          <a:ln/>
        </p:spPr>
        <p:txBody>
          <a:bodyPr wrap="square" lIns="0" tIns="0" rIns="0" bIns="0" rtlCol="0" anchor="t"/>
          <a:lstStyle/>
          <a:p>
            <a:pPr indent="0" marL="0">
              <a:buNone/>
            </a:pPr>
            <a:r>
              <a:rPr lang="en-US" sz="1200" b="1" dirty="0">
                <a:solidFill>
                  <a:srgbClr val="6F6A60"/>
                </a:solidFill>
                <a:latin typeface="Calibri" pitchFamily="34" charset="0"/>
                <a:ea typeface="Calibri" pitchFamily="34" charset="-122"/>
                <a:cs typeface="Calibri" pitchFamily="34" charset="-120"/>
              </a:rPr>
              <a:t>Setting: </a:t>
            </a:r>
            <a:pPr indent="0" marL="0">
              <a:buNone/>
            </a:pPr>
            <a:r>
              <a:rPr lang="en-US" sz="1200" dirty="0">
                <a:solidFill>
                  <a:srgbClr val="1B1A17"/>
                </a:solidFill>
                <a:highlight>
                  <a:srgbClr val="FFFF00"/>
                </a:highlight>
                <a:latin typeface="Calibri" pitchFamily="34" charset="0"/>
                <a:ea typeface="Calibri" pitchFamily="34" charset="-122"/>
                <a:cs typeface="Calibri" pitchFamily="34" charset="-120"/>
              </a:rPr>
              <a:t>[Partner Barbershop], [Municipality/City]</a:t>
            </a:r>
            <a:pPr indent="0" marL="0">
              <a:buNone/>
            </a:pPr>
            <a:r>
              <a:rPr lang="en-US" sz="1200" dirty="0">
                <a:solidFill>
                  <a:srgbClr val="6F6A60"/>
                </a:solidFill>
                <a:latin typeface="Calibri" pitchFamily="34" charset="0"/>
                <a:ea typeface="Calibri" pitchFamily="34" charset="-122"/>
                <a:cs typeface="Calibri" pitchFamily="34" charset="-120"/>
              </a:rPr>
              <a:t>   |   Period: October 2026 to March 2027   |   Walk-ins are still encoded manually by the owner.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B1A17"/>
                </a:solidFill>
                <a:latin typeface="Cambria" pitchFamily="34" charset="0"/>
                <a:ea typeface="Cambria" pitchFamily="34" charset="-122"/>
                <a:cs typeface="Cambria" pitchFamily="34" charset="-120"/>
              </a:rPr>
              <a:t>How we will build it: Agile, in three sprints</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F6A60"/>
                </a:solidFill>
                <a:latin typeface="Calibri" pitchFamily="34" charset="0"/>
                <a:ea typeface="Calibri" pitchFamily="34" charset="-122"/>
                <a:cs typeface="Calibri" pitchFamily="34" charset="-120"/>
              </a:rPr>
              <a:t>Show the owner a working part after every sprint, then improve it right away</a:t>
            </a:r>
            <a:endParaRPr lang="en-US" sz="1600" dirty="0"/>
          </a:p>
        </p:txBody>
      </p:sp>
      <p:sp>
        <p:nvSpPr>
          <p:cNvPr id="4" name="Shape 2"/>
          <p:cNvSpPr/>
          <p:nvPr/>
        </p:nvSpPr>
        <p:spPr>
          <a:xfrm>
            <a:off x="822960" y="3017520"/>
            <a:ext cx="10515600" cy="0"/>
          </a:xfrm>
          <a:prstGeom prst="line">
            <a:avLst/>
          </a:prstGeom>
          <a:noFill/>
          <a:ln w="50800">
            <a:solidFill>
              <a:srgbClr val="E4E0D8"/>
            </a:solidFill>
            <a:prstDash val="solid"/>
          </a:ln>
        </p:spPr>
      </p:sp>
      <p:sp>
        <p:nvSpPr>
          <p:cNvPr id="5" name="Shape 3"/>
          <p:cNvSpPr/>
          <p:nvPr/>
        </p:nvSpPr>
        <p:spPr>
          <a:xfrm>
            <a:off x="1005840" y="2834640"/>
            <a:ext cx="365760" cy="365760"/>
          </a:xfrm>
          <a:prstGeom prst="ellipse">
            <a:avLst/>
          </a:prstGeom>
          <a:solidFill>
            <a:srgbClr val="8A5A2B"/>
          </a:solidFill>
          <a:ln w="25400">
            <a:solidFill>
              <a:srgbClr val="FFFFFF"/>
            </a:solidFill>
            <a:prstDash val="solid"/>
          </a:ln>
        </p:spPr>
      </p:sp>
      <p:sp>
        <p:nvSpPr>
          <p:cNvPr id="6" name="Text 4"/>
          <p:cNvSpPr txBox="1"/>
          <p:nvPr/>
        </p:nvSpPr>
        <p:spPr>
          <a:xfrm>
            <a:off x="548640" y="2240280"/>
            <a:ext cx="1280160" cy="411480"/>
          </a:xfrm>
          <a:prstGeom prst="rect">
            <a:avLst/>
          </a:prstGeom>
          <a:noFill/>
          <a:ln/>
        </p:spPr>
        <p:txBody>
          <a:bodyPr wrap="square" lIns="0" tIns="0" rIns="0" bIns="0" rtlCol="0" anchor="ctr"/>
          <a:lstStyle/>
          <a:p>
            <a:pPr algn="ctr" indent="0" marL="0">
              <a:buNone/>
            </a:pPr>
            <a:r>
              <a:rPr lang="en-US" sz="1300" b="1" dirty="0">
                <a:solidFill>
                  <a:srgbClr val="1B1A17"/>
                </a:solidFill>
                <a:latin typeface="Calibri" pitchFamily="34" charset="0"/>
                <a:ea typeface="Calibri" pitchFamily="34" charset="-122"/>
                <a:cs typeface="Calibri" pitchFamily="34" charset="-120"/>
              </a:rPr>
              <a:t>Oct 2026</a:t>
            </a:r>
            <a:endParaRPr lang="en-US" sz="1300" dirty="0"/>
          </a:p>
        </p:txBody>
      </p:sp>
      <p:sp>
        <p:nvSpPr>
          <p:cNvPr id="7" name="Text 5"/>
          <p:cNvSpPr txBox="1"/>
          <p:nvPr/>
        </p:nvSpPr>
        <p:spPr>
          <a:xfrm>
            <a:off x="530352" y="3383280"/>
            <a:ext cx="1325880" cy="914400"/>
          </a:xfrm>
          <a:prstGeom prst="rect">
            <a:avLst/>
          </a:prstGeom>
          <a:noFill/>
          <a:ln/>
        </p:spPr>
        <p:txBody>
          <a:bodyPr wrap="square" lIns="0" tIns="0" rIns="0" bIns="0" rtlCol="0" anchor="t"/>
          <a:lstStyle/>
          <a:p>
            <a:pPr algn="ctr" indent="0" marL="0">
              <a:buNone/>
            </a:pPr>
            <a:r>
              <a:rPr lang="en-US" sz="1200" dirty="0">
                <a:solidFill>
                  <a:srgbClr val="6F6A60"/>
                </a:solidFill>
                <a:latin typeface="Calibri" pitchFamily="34" charset="0"/>
                <a:ea typeface="Calibri" pitchFamily="34" charset="-122"/>
                <a:cs typeface="Calibri" pitchFamily="34" charset="-120"/>
              </a:rPr>
              <a:t>Topic approval and concept paper</a:t>
            </a:r>
            <a:endParaRPr lang="en-US" sz="1200" dirty="0"/>
          </a:p>
        </p:txBody>
      </p:sp>
      <p:sp>
        <p:nvSpPr>
          <p:cNvPr id="8" name="Shape 6"/>
          <p:cNvSpPr/>
          <p:nvPr/>
        </p:nvSpPr>
        <p:spPr>
          <a:xfrm>
            <a:off x="2404872" y="2834640"/>
            <a:ext cx="365760" cy="365760"/>
          </a:xfrm>
          <a:prstGeom prst="ellipse">
            <a:avLst/>
          </a:prstGeom>
          <a:solidFill>
            <a:srgbClr val="8A5A2B"/>
          </a:solidFill>
          <a:ln w="25400">
            <a:solidFill>
              <a:srgbClr val="FFFFFF"/>
            </a:solidFill>
            <a:prstDash val="solid"/>
          </a:ln>
        </p:spPr>
      </p:sp>
      <p:sp>
        <p:nvSpPr>
          <p:cNvPr id="9" name="Text 7"/>
          <p:cNvSpPr txBox="1"/>
          <p:nvPr/>
        </p:nvSpPr>
        <p:spPr>
          <a:xfrm>
            <a:off x="1947672" y="2240280"/>
            <a:ext cx="1280160" cy="411480"/>
          </a:xfrm>
          <a:prstGeom prst="rect">
            <a:avLst/>
          </a:prstGeom>
          <a:noFill/>
          <a:ln/>
        </p:spPr>
        <p:txBody>
          <a:bodyPr wrap="square" lIns="0" tIns="0" rIns="0" bIns="0" rtlCol="0" anchor="ctr"/>
          <a:lstStyle/>
          <a:p>
            <a:pPr algn="ctr" indent="0" marL="0">
              <a:buNone/>
            </a:pPr>
            <a:r>
              <a:rPr lang="en-US" sz="1300" b="1" dirty="0">
                <a:solidFill>
                  <a:srgbClr val="1B1A17"/>
                </a:solidFill>
                <a:latin typeface="Calibri" pitchFamily="34" charset="0"/>
                <a:ea typeface="Calibri" pitchFamily="34" charset="-122"/>
                <a:cs typeface="Calibri" pitchFamily="34" charset="-120"/>
              </a:rPr>
              <a:t>Oct to Nov</a:t>
            </a:r>
            <a:endParaRPr lang="en-US" sz="1300" dirty="0"/>
          </a:p>
        </p:txBody>
      </p:sp>
      <p:sp>
        <p:nvSpPr>
          <p:cNvPr id="10" name="Text 8"/>
          <p:cNvSpPr txBox="1"/>
          <p:nvPr/>
        </p:nvSpPr>
        <p:spPr>
          <a:xfrm>
            <a:off x="1929384" y="3383280"/>
            <a:ext cx="1325880" cy="914400"/>
          </a:xfrm>
          <a:prstGeom prst="rect">
            <a:avLst/>
          </a:prstGeom>
          <a:noFill/>
          <a:ln/>
        </p:spPr>
        <p:txBody>
          <a:bodyPr wrap="square" lIns="0" tIns="0" rIns="0" bIns="0" rtlCol="0" anchor="t"/>
          <a:lstStyle/>
          <a:p>
            <a:pPr algn="ctr" indent="0" marL="0">
              <a:buNone/>
            </a:pPr>
            <a:r>
              <a:rPr lang="en-US" sz="1200" dirty="0">
                <a:solidFill>
                  <a:srgbClr val="6F6A60"/>
                </a:solidFill>
                <a:latin typeface="Calibri" pitchFamily="34" charset="0"/>
                <a:ea typeface="Calibri" pitchFamily="34" charset="-122"/>
                <a:cs typeface="Calibri" pitchFamily="34" charset="-120"/>
              </a:rPr>
              <a:t>Interview, survey, requirements</a:t>
            </a:r>
            <a:endParaRPr lang="en-US" sz="1200" dirty="0"/>
          </a:p>
        </p:txBody>
      </p:sp>
      <p:sp>
        <p:nvSpPr>
          <p:cNvPr id="11" name="Shape 9"/>
          <p:cNvSpPr/>
          <p:nvPr/>
        </p:nvSpPr>
        <p:spPr>
          <a:xfrm>
            <a:off x="3803904" y="2834640"/>
            <a:ext cx="365760" cy="365760"/>
          </a:xfrm>
          <a:prstGeom prst="ellipse">
            <a:avLst/>
          </a:prstGeom>
          <a:solidFill>
            <a:srgbClr val="8A5A2B"/>
          </a:solidFill>
          <a:ln w="25400">
            <a:solidFill>
              <a:srgbClr val="FFFFFF"/>
            </a:solidFill>
            <a:prstDash val="solid"/>
          </a:ln>
        </p:spPr>
      </p:sp>
      <p:sp>
        <p:nvSpPr>
          <p:cNvPr id="12" name="Text 10"/>
          <p:cNvSpPr txBox="1"/>
          <p:nvPr/>
        </p:nvSpPr>
        <p:spPr>
          <a:xfrm>
            <a:off x="3346704" y="2240280"/>
            <a:ext cx="1280160" cy="411480"/>
          </a:xfrm>
          <a:prstGeom prst="rect">
            <a:avLst/>
          </a:prstGeom>
          <a:noFill/>
          <a:ln/>
        </p:spPr>
        <p:txBody>
          <a:bodyPr wrap="square" lIns="0" tIns="0" rIns="0" bIns="0" rtlCol="0" anchor="ctr"/>
          <a:lstStyle/>
          <a:p>
            <a:pPr algn="ctr" indent="0" marL="0">
              <a:buNone/>
            </a:pPr>
            <a:r>
              <a:rPr lang="en-US" sz="1300" b="1" dirty="0">
                <a:solidFill>
                  <a:srgbClr val="1B1A17"/>
                </a:solidFill>
                <a:latin typeface="Calibri" pitchFamily="34" charset="0"/>
                <a:ea typeface="Calibri" pitchFamily="34" charset="-122"/>
                <a:cs typeface="Calibri" pitchFamily="34" charset="-120"/>
              </a:rPr>
              <a:t>Nov to Dec</a:t>
            </a:r>
            <a:endParaRPr lang="en-US" sz="1300" dirty="0"/>
          </a:p>
        </p:txBody>
      </p:sp>
      <p:sp>
        <p:nvSpPr>
          <p:cNvPr id="13" name="Text 11"/>
          <p:cNvSpPr txBox="1"/>
          <p:nvPr/>
        </p:nvSpPr>
        <p:spPr>
          <a:xfrm>
            <a:off x="3328416" y="3383280"/>
            <a:ext cx="1325880" cy="914400"/>
          </a:xfrm>
          <a:prstGeom prst="rect">
            <a:avLst/>
          </a:prstGeom>
          <a:noFill/>
          <a:ln/>
        </p:spPr>
        <p:txBody>
          <a:bodyPr wrap="square" lIns="0" tIns="0" rIns="0" bIns="0" rtlCol="0" anchor="t"/>
          <a:lstStyle/>
          <a:p>
            <a:pPr algn="ctr" indent="0" marL="0">
              <a:buNone/>
            </a:pPr>
            <a:r>
              <a:rPr lang="en-US" sz="1200" dirty="0">
                <a:solidFill>
                  <a:srgbClr val="6F6A60"/>
                </a:solidFill>
                <a:latin typeface="Calibri" pitchFamily="34" charset="0"/>
                <a:ea typeface="Calibri" pitchFamily="34" charset="-122"/>
                <a:cs typeface="Calibri" pitchFamily="34" charset="-120"/>
              </a:rPr>
              <a:t>System design, Chapters 1 to 3</a:t>
            </a:r>
            <a:endParaRPr lang="en-US" sz="1200" dirty="0"/>
          </a:p>
        </p:txBody>
      </p:sp>
      <p:sp>
        <p:nvSpPr>
          <p:cNvPr id="14" name="Shape 12"/>
          <p:cNvSpPr/>
          <p:nvPr/>
        </p:nvSpPr>
        <p:spPr>
          <a:xfrm>
            <a:off x="5202936" y="2834640"/>
            <a:ext cx="365760" cy="365760"/>
          </a:xfrm>
          <a:prstGeom prst="ellipse">
            <a:avLst/>
          </a:prstGeom>
          <a:solidFill>
            <a:srgbClr val="C9A227"/>
          </a:solidFill>
          <a:ln w="25400">
            <a:solidFill>
              <a:srgbClr val="FFFFFF"/>
            </a:solidFill>
            <a:prstDash val="solid"/>
          </a:ln>
        </p:spPr>
      </p:sp>
      <p:sp>
        <p:nvSpPr>
          <p:cNvPr id="15" name="Text 13"/>
          <p:cNvSpPr txBox="1"/>
          <p:nvPr/>
        </p:nvSpPr>
        <p:spPr>
          <a:xfrm>
            <a:off x="4745736" y="2240280"/>
            <a:ext cx="1280160" cy="411480"/>
          </a:xfrm>
          <a:prstGeom prst="rect">
            <a:avLst/>
          </a:prstGeom>
          <a:noFill/>
          <a:ln/>
        </p:spPr>
        <p:txBody>
          <a:bodyPr wrap="square" lIns="0" tIns="0" rIns="0" bIns="0" rtlCol="0" anchor="ctr"/>
          <a:lstStyle/>
          <a:p>
            <a:pPr algn="ctr" indent="0" marL="0">
              <a:buNone/>
            </a:pPr>
            <a:r>
              <a:rPr lang="en-US" sz="1300" b="1" dirty="0">
                <a:solidFill>
                  <a:srgbClr val="8A5A2B"/>
                </a:solidFill>
                <a:latin typeface="Calibri" pitchFamily="34" charset="0"/>
                <a:ea typeface="Calibri" pitchFamily="34" charset="-122"/>
                <a:cs typeface="Calibri" pitchFamily="34" charset="-120"/>
              </a:rPr>
              <a:t>Dec 2026</a:t>
            </a:r>
            <a:endParaRPr lang="en-US" sz="1300" dirty="0"/>
          </a:p>
        </p:txBody>
      </p:sp>
      <p:sp>
        <p:nvSpPr>
          <p:cNvPr id="16" name="Text 14"/>
          <p:cNvSpPr txBox="1"/>
          <p:nvPr/>
        </p:nvSpPr>
        <p:spPr>
          <a:xfrm>
            <a:off x="4727448" y="3383280"/>
            <a:ext cx="1325880" cy="914400"/>
          </a:xfrm>
          <a:prstGeom prst="rect">
            <a:avLst/>
          </a:prstGeom>
          <a:noFill/>
          <a:ln/>
        </p:spPr>
        <p:txBody>
          <a:bodyPr wrap="square" lIns="0" tIns="0" rIns="0" bIns="0" rtlCol="0" anchor="t"/>
          <a:lstStyle/>
          <a:p>
            <a:pPr algn="ctr" indent="0" marL="0">
              <a:buNone/>
            </a:pPr>
            <a:r>
              <a:rPr lang="en-US" sz="1200" dirty="0">
                <a:solidFill>
                  <a:srgbClr val="6F6A60"/>
                </a:solidFill>
                <a:latin typeface="Calibri" pitchFamily="34" charset="0"/>
                <a:ea typeface="Calibri" pitchFamily="34" charset="-122"/>
                <a:cs typeface="Calibri" pitchFamily="34" charset="-120"/>
              </a:rPr>
              <a:t>Sprint 1: accounts and booking</a:t>
            </a:r>
            <a:endParaRPr lang="en-US" sz="1200" dirty="0"/>
          </a:p>
        </p:txBody>
      </p:sp>
      <p:sp>
        <p:nvSpPr>
          <p:cNvPr id="17" name="Shape 15"/>
          <p:cNvSpPr/>
          <p:nvPr/>
        </p:nvSpPr>
        <p:spPr>
          <a:xfrm>
            <a:off x="6601968" y="2834640"/>
            <a:ext cx="365760" cy="365760"/>
          </a:xfrm>
          <a:prstGeom prst="ellipse">
            <a:avLst/>
          </a:prstGeom>
          <a:solidFill>
            <a:srgbClr val="C9A227"/>
          </a:solidFill>
          <a:ln w="25400">
            <a:solidFill>
              <a:srgbClr val="FFFFFF"/>
            </a:solidFill>
            <a:prstDash val="solid"/>
          </a:ln>
        </p:spPr>
      </p:sp>
      <p:sp>
        <p:nvSpPr>
          <p:cNvPr id="18" name="Text 16"/>
          <p:cNvSpPr txBox="1"/>
          <p:nvPr/>
        </p:nvSpPr>
        <p:spPr>
          <a:xfrm>
            <a:off x="6144768" y="2240280"/>
            <a:ext cx="1280160" cy="411480"/>
          </a:xfrm>
          <a:prstGeom prst="rect">
            <a:avLst/>
          </a:prstGeom>
          <a:noFill/>
          <a:ln/>
        </p:spPr>
        <p:txBody>
          <a:bodyPr wrap="square" lIns="0" tIns="0" rIns="0" bIns="0" rtlCol="0" anchor="ctr"/>
          <a:lstStyle/>
          <a:p>
            <a:pPr algn="ctr" indent="0" marL="0">
              <a:buNone/>
            </a:pPr>
            <a:r>
              <a:rPr lang="en-US" sz="1300" b="1" dirty="0">
                <a:solidFill>
                  <a:srgbClr val="8A5A2B"/>
                </a:solidFill>
                <a:latin typeface="Calibri" pitchFamily="34" charset="0"/>
                <a:ea typeface="Calibri" pitchFamily="34" charset="-122"/>
                <a:cs typeface="Calibri" pitchFamily="34" charset="-120"/>
              </a:rPr>
              <a:t>Jan 2027</a:t>
            </a:r>
            <a:endParaRPr lang="en-US" sz="1300" dirty="0"/>
          </a:p>
        </p:txBody>
      </p:sp>
      <p:sp>
        <p:nvSpPr>
          <p:cNvPr id="19" name="Text 17"/>
          <p:cNvSpPr txBox="1"/>
          <p:nvPr/>
        </p:nvSpPr>
        <p:spPr>
          <a:xfrm>
            <a:off x="6126480" y="3383280"/>
            <a:ext cx="1325880" cy="914400"/>
          </a:xfrm>
          <a:prstGeom prst="rect">
            <a:avLst/>
          </a:prstGeom>
          <a:noFill/>
          <a:ln/>
        </p:spPr>
        <p:txBody>
          <a:bodyPr wrap="square" lIns="0" tIns="0" rIns="0" bIns="0" rtlCol="0" anchor="t"/>
          <a:lstStyle/>
          <a:p>
            <a:pPr algn="ctr" indent="0" marL="0">
              <a:buNone/>
            </a:pPr>
            <a:r>
              <a:rPr lang="en-US" sz="1200" dirty="0">
                <a:solidFill>
                  <a:srgbClr val="6F6A60"/>
                </a:solidFill>
                <a:latin typeface="Calibri" pitchFamily="34" charset="0"/>
                <a:ea typeface="Calibri" pitchFamily="34" charset="-122"/>
                <a:cs typeface="Calibri" pitchFamily="34" charset="-120"/>
              </a:rPr>
              <a:t>Sprint 2: gallery and preferences</a:t>
            </a:r>
            <a:endParaRPr lang="en-US" sz="1200" dirty="0"/>
          </a:p>
        </p:txBody>
      </p:sp>
      <p:sp>
        <p:nvSpPr>
          <p:cNvPr id="20" name="Shape 18"/>
          <p:cNvSpPr/>
          <p:nvPr/>
        </p:nvSpPr>
        <p:spPr>
          <a:xfrm>
            <a:off x="8001000" y="2834640"/>
            <a:ext cx="365760" cy="365760"/>
          </a:xfrm>
          <a:prstGeom prst="ellipse">
            <a:avLst/>
          </a:prstGeom>
          <a:solidFill>
            <a:srgbClr val="C9A227"/>
          </a:solidFill>
          <a:ln w="25400">
            <a:solidFill>
              <a:srgbClr val="FFFFFF"/>
            </a:solidFill>
            <a:prstDash val="solid"/>
          </a:ln>
        </p:spPr>
      </p:sp>
      <p:sp>
        <p:nvSpPr>
          <p:cNvPr id="21" name="Text 19"/>
          <p:cNvSpPr txBox="1"/>
          <p:nvPr/>
        </p:nvSpPr>
        <p:spPr>
          <a:xfrm>
            <a:off x="7543800" y="2240280"/>
            <a:ext cx="1280160" cy="411480"/>
          </a:xfrm>
          <a:prstGeom prst="rect">
            <a:avLst/>
          </a:prstGeom>
          <a:noFill/>
          <a:ln/>
        </p:spPr>
        <p:txBody>
          <a:bodyPr wrap="square" lIns="0" tIns="0" rIns="0" bIns="0" rtlCol="0" anchor="ctr"/>
          <a:lstStyle/>
          <a:p>
            <a:pPr algn="ctr" indent="0" marL="0">
              <a:buNone/>
            </a:pPr>
            <a:r>
              <a:rPr lang="en-US" sz="1300" b="1" dirty="0">
                <a:solidFill>
                  <a:srgbClr val="8A5A2B"/>
                </a:solidFill>
                <a:latin typeface="Calibri" pitchFamily="34" charset="0"/>
                <a:ea typeface="Calibri" pitchFamily="34" charset="-122"/>
                <a:cs typeface="Calibri" pitchFamily="34" charset="-120"/>
              </a:rPr>
              <a:t>Jan to Feb</a:t>
            </a:r>
            <a:endParaRPr lang="en-US" sz="1300" dirty="0"/>
          </a:p>
        </p:txBody>
      </p:sp>
      <p:sp>
        <p:nvSpPr>
          <p:cNvPr id="22" name="Text 20"/>
          <p:cNvSpPr txBox="1"/>
          <p:nvPr/>
        </p:nvSpPr>
        <p:spPr>
          <a:xfrm>
            <a:off x="7525512" y="3383280"/>
            <a:ext cx="1325880" cy="914400"/>
          </a:xfrm>
          <a:prstGeom prst="rect">
            <a:avLst/>
          </a:prstGeom>
          <a:noFill/>
          <a:ln/>
        </p:spPr>
        <p:txBody>
          <a:bodyPr wrap="square" lIns="0" tIns="0" rIns="0" bIns="0" rtlCol="0" anchor="t"/>
          <a:lstStyle/>
          <a:p>
            <a:pPr algn="ctr" indent="0" marL="0">
              <a:buNone/>
            </a:pPr>
            <a:r>
              <a:rPr lang="en-US" sz="1200" dirty="0">
                <a:solidFill>
                  <a:srgbClr val="6F6A60"/>
                </a:solidFill>
                <a:latin typeface="Calibri" pitchFamily="34" charset="0"/>
                <a:ea typeface="Calibri" pitchFamily="34" charset="-122"/>
                <a:cs typeface="Calibri" pitchFamily="34" charset="-120"/>
              </a:rPr>
              <a:t>Sprint 3: dashboard and notifications</a:t>
            </a:r>
            <a:endParaRPr lang="en-US" sz="1200" dirty="0"/>
          </a:p>
        </p:txBody>
      </p:sp>
      <p:sp>
        <p:nvSpPr>
          <p:cNvPr id="23" name="Shape 21"/>
          <p:cNvSpPr/>
          <p:nvPr/>
        </p:nvSpPr>
        <p:spPr>
          <a:xfrm>
            <a:off x="9400032" y="2834640"/>
            <a:ext cx="365760" cy="365760"/>
          </a:xfrm>
          <a:prstGeom prst="ellipse">
            <a:avLst/>
          </a:prstGeom>
          <a:solidFill>
            <a:srgbClr val="8A5A2B"/>
          </a:solidFill>
          <a:ln w="25400">
            <a:solidFill>
              <a:srgbClr val="FFFFFF"/>
            </a:solidFill>
            <a:prstDash val="solid"/>
          </a:ln>
        </p:spPr>
      </p:sp>
      <p:sp>
        <p:nvSpPr>
          <p:cNvPr id="24" name="Text 22"/>
          <p:cNvSpPr txBox="1"/>
          <p:nvPr/>
        </p:nvSpPr>
        <p:spPr>
          <a:xfrm>
            <a:off x="8942832" y="2240280"/>
            <a:ext cx="1280160" cy="411480"/>
          </a:xfrm>
          <a:prstGeom prst="rect">
            <a:avLst/>
          </a:prstGeom>
          <a:noFill/>
          <a:ln/>
        </p:spPr>
        <p:txBody>
          <a:bodyPr wrap="square" lIns="0" tIns="0" rIns="0" bIns="0" rtlCol="0" anchor="ctr"/>
          <a:lstStyle/>
          <a:p>
            <a:pPr algn="ctr" indent="0" marL="0">
              <a:buNone/>
            </a:pPr>
            <a:r>
              <a:rPr lang="en-US" sz="1300" b="1" dirty="0">
                <a:solidFill>
                  <a:srgbClr val="1B1A17"/>
                </a:solidFill>
                <a:latin typeface="Calibri" pitchFamily="34" charset="0"/>
                <a:ea typeface="Calibri" pitchFamily="34" charset="-122"/>
                <a:cs typeface="Calibri" pitchFamily="34" charset="-120"/>
              </a:rPr>
              <a:t>Feb 2027</a:t>
            </a:r>
            <a:endParaRPr lang="en-US" sz="1300" dirty="0"/>
          </a:p>
        </p:txBody>
      </p:sp>
      <p:sp>
        <p:nvSpPr>
          <p:cNvPr id="25" name="Text 23"/>
          <p:cNvSpPr txBox="1"/>
          <p:nvPr/>
        </p:nvSpPr>
        <p:spPr>
          <a:xfrm>
            <a:off x="8924544" y="3383280"/>
            <a:ext cx="1325880" cy="914400"/>
          </a:xfrm>
          <a:prstGeom prst="rect">
            <a:avLst/>
          </a:prstGeom>
          <a:noFill/>
          <a:ln/>
        </p:spPr>
        <p:txBody>
          <a:bodyPr wrap="square" lIns="0" tIns="0" rIns="0" bIns="0" rtlCol="0" anchor="t"/>
          <a:lstStyle/>
          <a:p>
            <a:pPr algn="ctr" indent="0" marL="0">
              <a:buNone/>
            </a:pPr>
            <a:r>
              <a:rPr lang="en-US" sz="1200" dirty="0">
                <a:solidFill>
                  <a:srgbClr val="6F6A60"/>
                </a:solidFill>
                <a:latin typeface="Calibri" pitchFamily="34" charset="0"/>
                <a:ea typeface="Calibri" pitchFamily="34" charset="-122"/>
                <a:cs typeface="Calibri" pitchFamily="34" charset="-120"/>
              </a:rPr>
              <a:t>Testing and evaluation</a:t>
            </a:r>
            <a:endParaRPr lang="en-US" sz="1200" dirty="0"/>
          </a:p>
        </p:txBody>
      </p:sp>
      <p:sp>
        <p:nvSpPr>
          <p:cNvPr id="26" name="Shape 24"/>
          <p:cNvSpPr/>
          <p:nvPr/>
        </p:nvSpPr>
        <p:spPr>
          <a:xfrm>
            <a:off x="10799064" y="2834640"/>
            <a:ext cx="365760" cy="365760"/>
          </a:xfrm>
          <a:prstGeom prst="ellipse">
            <a:avLst/>
          </a:prstGeom>
          <a:solidFill>
            <a:srgbClr val="8A5A2B"/>
          </a:solidFill>
          <a:ln w="25400">
            <a:solidFill>
              <a:srgbClr val="FFFFFF"/>
            </a:solidFill>
            <a:prstDash val="solid"/>
          </a:ln>
        </p:spPr>
      </p:sp>
      <p:sp>
        <p:nvSpPr>
          <p:cNvPr id="27" name="Text 25"/>
          <p:cNvSpPr txBox="1"/>
          <p:nvPr/>
        </p:nvSpPr>
        <p:spPr>
          <a:xfrm>
            <a:off x="10341864" y="2240280"/>
            <a:ext cx="1280160" cy="411480"/>
          </a:xfrm>
          <a:prstGeom prst="rect">
            <a:avLst/>
          </a:prstGeom>
          <a:noFill/>
          <a:ln/>
        </p:spPr>
        <p:txBody>
          <a:bodyPr wrap="square" lIns="0" tIns="0" rIns="0" bIns="0" rtlCol="0" anchor="ctr"/>
          <a:lstStyle/>
          <a:p>
            <a:pPr algn="ctr" indent="0" marL="0">
              <a:buNone/>
            </a:pPr>
            <a:r>
              <a:rPr lang="en-US" sz="1300" b="1" dirty="0">
                <a:solidFill>
                  <a:srgbClr val="1B1A17"/>
                </a:solidFill>
                <a:latin typeface="Calibri" pitchFamily="34" charset="0"/>
                <a:ea typeface="Calibri" pitchFamily="34" charset="-122"/>
                <a:cs typeface="Calibri" pitchFamily="34" charset="-120"/>
              </a:rPr>
              <a:t>Mar 2027</a:t>
            </a:r>
            <a:endParaRPr lang="en-US" sz="1300" dirty="0"/>
          </a:p>
        </p:txBody>
      </p:sp>
      <p:sp>
        <p:nvSpPr>
          <p:cNvPr id="28" name="Text 26"/>
          <p:cNvSpPr txBox="1"/>
          <p:nvPr/>
        </p:nvSpPr>
        <p:spPr>
          <a:xfrm>
            <a:off x="10323576" y="3383280"/>
            <a:ext cx="1325880" cy="914400"/>
          </a:xfrm>
          <a:prstGeom prst="rect">
            <a:avLst/>
          </a:prstGeom>
          <a:noFill/>
          <a:ln/>
        </p:spPr>
        <p:txBody>
          <a:bodyPr wrap="square" lIns="0" tIns="0" rIns="0" bIns="0" rtlCol="0" anchor="t"/>
          <a:lstStyle/>
          <a:p>
            <a:pPr algn="ctr" indent="0" marL="0">
              <a:buNone/>
            </a:pPr>
            <a:r>
              <a:rPr lang="en-US" sz="1200" dirty="0">
                <a:solidFill>
                  <a:srgbClr val="6F6A60"/>
                </a:solidFill>
                <a:latin typeface="Calibri" pitchFamily="34" charset="0"/>
                <a:ea typeface="Calibri" pitchFamily="34" charset="-122"/>
                <a:cs typeface="Calibri" pitchFamily="34" charset="-120"/>
              </a:rPr>
              <a:t>Revision, documentation, defense</a:t>
            </a:r>
            <a:endParaRPr lang="en-US" sz="1200" dirty="0"/>
          </a:p>
        </p:txBody>
      </p:sp>
      <p:sp>
        <p:nvSpPr>
          <p:cNvPr id="29" name="Shape 27"/>
          <p:cNvSpPr/>
          <p:nvPr/>
        </p:nvSpPr>
        <p:spPr>
          <a:xfrm>
            <a:off x="548640" y="4572000"/>
            <a:ext cx="2606040" cy="1463040"/>
          </a:xfrm>
          <a:prstGeom prst="roundRect">
            <a:avLst>
              <a:gd name="adj" fmla="val 6250"/>
            </a:avLst>
          </a:prstGeom>
          <a:solidFill>
            <a:srgbClr val="F7F4EF"/>
          </a:solidFill>
          <a:ln w="12700">
            <a:solidFill>
              <a:srgbClr val="E4E0D8"/>
            </a:solidFill>
            <a:prstDash val="solid"/>
          </a:ln>
        </p:spPr>
      </p:sp>
      <p:sp>
        <p:nvSpPr>
          <p:cNvPr id="30" name="Shape 28"/>
          <p:cNvSpPr/>
          <p:nvPr/>
        </p:nvSpPr>
        <p:spPr>
          <a:xfrm>
            <a:off x="731520" y="4754880"/>
            <a:ext cx="457200" cy="457200"/>
          </a:xfrm>
          <a:prstGeom prst="ellipse">
            <a:avLst/>
          </a:prstGeom>
          <a:solidFill>
            <a:srgbClr val="8A5A2B"/>
          </a:solidFill>
          <a:ln w="12700">
            <a:solidFill>
              <a:srgbClr val="8A5A2B"/>
            </a:solidFill>
            <a:prstDash val="solid"/>
          </a:ln>
        </p:spPr>
      </p:sp>
      <p:pic>
        <p:nvPicPr>
          <p:cNvPr id="31" name="Image 0" descr="preencoded.png">    </p:cNvPr>
          <p:cNvPicPr>
            <a:picLocks noChangeAspect="1"/>
          </p:cNvPicPr>
          <p:nvPr/>
        </p:nvPicPr>
        <p:blipFill>
          <a:blip r:embed="rId1"/>
          <a:stretch>
            <a:fillRect/>
          </a:stretch>
        </p:blipFill>
        <p:spPr>
          <a:xfrm>
            <a:off x="845820" y="4869180"/>
            <a:ext cx="228600" cy="228600"/>
          </a:xfrm>
          <a:prstGeom prst="rect">
            <a:avLst/>
          </a:prstGeom>
        </p:spPr>
      </p:pic>
      <p:sp>
        <p:nvSpPr>
          <p:cNvPr id="32" name="Text 29"/>
          <p:cNvSpPr txBox="1"/>
          <p:nvPr/>
        </p:nvSpPr>
        <p:spPr>
          <a:xfrm>
            <a:off x="1325880" y="4754880"/>
            <a:ext cx="1737360" cy="457200"/>
          </a:xfrm>
          <a:prstGeom prst="rect">
            <a:avLst/>
          </a:prstGeom>
          <a:noFill/>
          <a:ln/>
        </p:spPr>
        <p:txBody>
          <a:bodyPr wrap="square" lIns="0" tIns="0" rIns="0" bIns="0" rtlCol="0" anchor="ctr"/>
          <a:lstStyle/>
          <a:p>
            <a:pPr indent="0" marL="0">
              <a:buNone/>
            </a:pPr>
            <a:r>
              <a:rPr lang="en-US" sz="1400" b="1" dirty="0">
                <a:solidFill>
                  <a:srgbClr val="1B1A17"/>
                </a:solidFill>
                <a:latin typeface="Calibri" pitchFamily="34" charset="0"/>
                <a:ea typeface="Calibri" pitchFamily="34" charset="-122"/>
                <a:cs typeface="Calibri" pitchFamily="34" charset="-120"/>
              </a:rPr>
              <a:t>Front end</a:t>
            </a:r>
            <a:endParaRPr lang="en-US" sz="1400" dirty="0"/>
          </a:p>
        </p:txBody>
      </p:sp>
      <p:sp>
        <p:nvSpPr>
          <p:cNvPr id="33" name="Text 30"/>
          <p:cNvSpPr txBox="1"/>
          <p:nvPr/>
        </p:nvSpPr>
        <p:spPr>
          <a:xfrm>
            <a:off x="731520" y="5303520"/>
            <a:ext cx="2286000" cy="640080"/>
          </a:xfrm>
          <a:prstGeom prst="rect">
            <a:avLst/>
          </a:prstGeom>
          <a:noFill/>
          <a:ln/>
        </p:spPr>
        <p:txBody>
          <a:bodyPr wrap="square" lIns="0" tIns="0" rIns="0" bIns="0" rtlCol="0" anchor="t"/>
          <a:lstStyle/>
          <a:p>
            <a:pPr indent="0" marL="0">
              <a:buNone/>
            </a:pPr>
            <a:r>
              <a:rPr lang="en-US" sz="1200" dirty="0">
                <a:solidFill>
                  <a:srgbClr val="6F6A60"/>
                </a:solidFill>
                <a:latin typeface="Calibri" pitchFamily="34" charset="0"/>
                <a:ea typeface="Calibri" pitchFamily="34" charset="-122"/>
                <a:cs typeface="Calibri" pitchFamily="34" charset="-120"/>
              </a:rPr>
              <a:t>HTML5, CSS3, JavaScript, Bootstrap</a:t>
            </a:r>
            <a:endParaRPr lang="en-US" sz="1200" dirty="0"/>
          </a:p>
        </p:txBody>
      </p:sp>
      <p:sp>
        <p:nvSpPr>
          <p:cNvPr id="34" name="Shape 31"/>
          <p:cNvSpPr/>
          <p:nvPr/>
        </p:nvSpPr>
        <p:spPr>
          <a:xfrm>
            <a:off x="3364992" y="4572000"/>
            <a:ext cx="2606040" cy="1463040"/>
          </a:xfrm>
          <a:prstGeom prst="roundRect">
            <a:avLst>
              <a:gd name="adj" fmla="val 6250"/>
            </a:avLst>
          </a:prstGeom>
          <a:solidFill>
            <a:srgbClr val="F7F4EF"/>
          </a:solidFill>
          <a:ln w="12700">
            <a:solidFill>
              <a:srgbClr val="E4E0D8"/>
            </a:solidFill>
            <a:prstDash val="solid"/>
          </a:ln>
        </p:spPr>
      </p:sp>
      <p:sp>
        <p:nvSpPr>
          <p:cNvPr id="35" name="Shape 32"/>
          <p:cNvSpPr/>
          <p:nvPr/>
        </p:nvSpPr>
        <p:spPr>
          <a:xfrm>
            <a:off x="3547872" y="4754880"/>
            <a:ext cx="457200" cy="457200"/>
          </a:xfrm>
          <a:prstGeom prst="ellipse">
            <a:avLst/>
          </a:prstGeom>
          <a:solidFill>
            <a:srgbClr val="8A5A2B"/>
          </a:solidFill>
          <a:ln w="12700">
            <a:solidFill>
              <a:srgbClr val="8A5A2B"/>
            </a:solidFill>
            <a:prstDash val="solid"/>
          </a:ln>
        </p:spPr>
      </p:sp>
      <p:pic>
        <p:nvPicPr>
          <p:cNvPr id="36" name="Image 1" descr="preencoded.png">    </p:cNvPr>
          <p:cNvPicPr>
            <a:picLocks noChangeAspect="1"/>
          </p:cNvPicPr>
          <p:nvPr/>
        </p:nvPicPr>
        <p:blipFill>
          <a:blip r:embed="rId2"/>
          <a:stretch>
            <a:fillRect/>
          </a:stretch>
        </p:blipFill>
        <p:spPr>
          <a:xfrm>
            <a:off x="3662172" y="4869180"/>
            <a:ext cx="228600" cy="228600"/>
          </a:xfrm>
          <a:prstGeom prst="rect">
            <a:avLst/>
          </a:prstGeom>
        </p:spPr>
      </p:pic>
      <p:sp>
        <p:nvSpPr>
          <p:cNvPr id="37" name="Text 33"/>
          <p:cNvSpPr txBox="1"/>
          <p:nvPr/>
        </p:nvSpPr>
        <p:spPr>
          <a:xfrm>
            <a:off x="4142232" y="4754880"/>
            <a:ext cx="1737360" cy="457200"/>
          </a:xfrm>
          <a:prstGeom prst="rect">
            <a:avLst/>
          </a:prstGeom>
          <a:noFill/>
          <a:ln/>
        </p:spPr>
        <p:txBody>
          <a:bodyPr wrap="square" lIns="0" tIns="0" rIns="0" bIns="0" rtlCol="0" anchor="ctr"/>
          <a:lstStyle/>
          <a:p>
            <a:pPr indent="0" marL="0">
              <a:buNone/>
            </a:pPr>
            <a:r>
              <a:rPr lang="en-US" sz="1400" b="1" dirty="0">
                <a:solidFill>
                  <a:srgbClr val="1B1A17"/>
                </a:solidFill>
                <a:latin typeface="Calibri" pitchFamily="34" charset="0"/>
                <a:ea typeface="Calibri" pitchFamily="34" charset="-122"/>
                <a:cs typeface="Calibri" pitchFamily="34" charset="-120"/>
              </a:rPr>
              <a:t>Back end</a:t>
            </a:r>
            <a:endParaRPr lang="en-US" sz="1400" dirty="0"/>
          </a:p>
        </p:txBody>
      </p:sp>
      <p:sp>
        <p:nvSpPr>
          <p:cNvPr id="38" name="Text 34"/>
          <p:cNvSpPr txBox="1"/>
          <p:nvPr/>
        </p:nvSpPr>
        <p:spPr>
          <a:xfrm>
            <a:off x="3547872" y="5303520"/>
            <a:ext cx="2286000" cy="640080"/>
          </a:xfrm>
          <a:prstGeom prst="rect">
            <a:avLst/>
          </a:prstGeom>
          <a:noFill/>
          <a:ln/>
        </p:spPr>
        <p:txBody>
          <a:bodyPr wrap="square" lIns="0" tIns="0" rIns="0" bIns="0" rtlCol="0" anchor="t"/>
          <a:lstStyle/>
          <a:p>
            <a:pPr indent="0" marL="0">
              <a:buNone/>
            </a:pPr>
            <a:r>
              <a:rPr lang="en-US" sz="1200" dirty="0">
                <a:solidFill>
                  <a:srgbClr val="6F6A60"/>
                </a:solidFill>
                <a:latin typeface="Calibri" pitchFamily="34" charset="0"/>
                <a:ea typeface="Calibri" pitchFamily="34" charset="-122"/>
                <a:cs typeface="Calibri" pitchFamily="34" charset="-120"/>
              </a:rPr>
              <a:t>PHP with Laravel</a:t>
            </a:r>
            <a:endParaRPr lang="en-US" sz="1200" dirty="0"/>
          </a:p>
        </p:txBody>
      </p:sp>
      <p:sp>
        <p:nvSpPr>
          <p:cNvPr id="39" name="Shape 35"/>
          <p:cNvSpPr/>
          <p:nvPr/>
        </p:nvSpPr>
        <p:spPr>
          <a:xfrm>
            <a:off x="6181344" y="4572000"/>
            <a:ext cx="2606040" cy="1463040"/>
          </a:xfrm>
          <a:prstGeom prst="roundRect">
            <a:avLst>
              <a:gd name="adj" fmla="val 6250"/>
            </a:avLst>
          </a:prstGeom>
          <a:solidFill>
            <a:srgbClr val="F7F4EF"/>
          </a:solidFill>
          <a:ln w="12700">
            <a:solidFill>
              <a:srgbClr val="E4E0D8"/>
            </a:solidFill>
            <a:prstDash val="solid"/>
          </a:ln>
        </p:spPr>
      </p:sp>
      <p:sp>
        <p:nvSpPr>
          <p:cNvPr id="40" name="Shape 36"/>
          <p:cNvSpPr/>
          <p:nvPr/>
        </p:nvSpPr>
        <p:spPr>
          <a:xfrm>
            <a:off x="6364224" y="4754880"/>
            <a:ext cx="457200" cy="457200"/>
          </a:xfrm>
          <a:prstGeom prst="ellipse">
            <a:avLst/>
          </a:prstGeom>
          <a:solidFill>
            <a:srgbClr val="8A5A2B"/>
          </a:solidFill>
          <a:ln w="12700">
            <a:solidFill>
              <a:srgbClr val="8A5A2B"/>
            </a:solidFill>
            <a:prstDash val="solid"/>
          </a:ln>
        </p:spPr>
      </p:sp>
      <p:pic>
        <p:nvPicPr>
          <p:cNvPr id="41" name="Image 2" descr="preencoded.png">    </p:cNvPr>
          <p:cNvPicPr>
            <a:picLocks noChangeAspect="1"/>
          </p:cNvPicPr>
          <p:nvPr/>
        </p:nvPicPr>
        <p:blipFill>
          <a:blip r:embed="rId3"/>
          <a:stretch>
            <a:fillRect/>
          </a:stretch>
        </p:blipFill>
        <p:spPr>
          <a:xfrm>
            <a:off x="6478524" y="4869180"/>
            <a:ext cx="228600" cy="228600"/>
          </a:xfrm>
          <a:prstGeom prst="rect">
            <a:avLst/>
          </a:prstGeom>
        </p:spPr>
      </p:pic>
      <p:sp>
        <p:nvSpPr>
          <p:cNvPr id="42" name="Text 37"/>
          <p:cNvSpPr txBox="1"/>
          <p:nvPr/>
        </p:nvSpPr>
        <p:spPr>
          <a:xfrm>
            <a:off x="6958584" y="4754880"/>
            <a:ext cx="1737360" cy="457200"/>
          </a:xfrm>
          <a:prstGeom prst="rect">
            <a:avLst/>
          </a:prstGeom>
          <a:noFill/>
          <a:ln/>
        </p:spPr>
        <p:txBody>
          <a:bodyPr wrap="square" lIns="0" tIns="0" rIns="0" bIns="0" rtlCol="0" anchor="ctr"/>
          <a:lstStyle/>
          <a:p>
            <a:pPr indent="0" marL="0">
              <a:buNone/>
            </a:pPr>
            <a:r>
              <a:rPr lang="en-US" sz="1400" b="1" dirty="0">
                <a:solidFill>
                  <a:srgbClr val="1B1A17"/>
                </a:solidFill>
                <a:latin typeface="Calibri" pitchFamily="34" charset="0"/>
                <a:ea typeface="Calibri" pitchFamily="34" charset="-122"/>
                <a:cs typeface="Calibri" pitchFamily="34" charset="-120"/>
              </a:rPr>
              <a:t>Database</a:t>
            </a:r>
            <a:endParaRPr lang="en-US" sz="1400" dirty="0"/>
          </a:p>
        </p:txBody>
      </p:sp>
      <p:sp>
        <p:nvSpPr>
          <p:cNvPr id="43" name="Text 38"/>
          <p:cNvSpPr txBox="1"/>
          <p:nvPr/>
        </p:nvSpPr>
        <p:spPr>
          <a:xfrm>
            <a:off x="6364224" y="5303520"/>
            <a:ext cx="2286000" cy="640080"/>
          </a:xfrm>
          <a:prstGeom prst="rect">
            <a:avLst/>
          </a:prstGeom>
          <a:noFill/>
          <a:ln/>
        </p:spPr>
        <p:txBody>
          <a:bodyPr wrap="square" lIns="0" tIns="0" rIns="0" bIns="0" rtlCol="0" anchor="t"/>
          <a:lstStyle/>
          <a:p>
            <a:pPr indent="0" marL="0">
              <a:buNone/>
            </a:pPr>
            <a:r>
              <a:rPr lang="en-US" sz="1200" dirty="0">
                <a:solidFill>
                  <a:srgbClr val="6F6A60"/>
                </a:solidFill>
                <a:latin typeface="Calibri" pitchFamily="34" charset="0"/>
                <a:ea typeface="Calibri" pitchFamily="34" charset="-122"/>
                <a:cs typeface="Calibri" pitchFamily="34" charset="-120"/>
              </a:rPr>
              <a:t>MySQL (XAMPP for local testing)</a:t>
            </a:r>
            <a:endParaRPr lang="en-US" sz="1200" dirty="0"/>
          </a:p>
        </p:txBody>
      </p:sp>
      <p:sp>
        <p:nvSpPr>
          <p:cNvPr id="44" name="Shape 39"/>
          <p:cNvSpPr/>
          <p:nvPr/>
        </p:nvSpPr>
        <p:spPr>
          <a:xfrm>
            <a:off x="8997696" y="4572000"/>
            <a:ext cx="2606040" cy="1463040"/>
          </a:xfrm>
          <a:prstGeom prst="roundRect">
            <a:avLst>
              <a:gd name="adj" fmla="val 6250"/>
            </a:avLst>
          </a:prstGeom>
          <a:solidFill>
            <a:srgbClr val="F7F4EF"/>
          </a:solidFill>
          <a:ln w="12700">
            <a:solidFill>
              <a:srgbClr val="E4E0D8"/>
            </a:solidFill>
            <a:prstDash val="solid"/>
          </a:ln>
        </p:spPr>
      </p:sp>
      <p:sp>
        <p:nvSpPr>
          <p:cNvPr id="45" name="Shape 40"/>
          <p:cNvSpPr/>
          <p:nvPr/>
        </p:nvSpPr>
        <p:spPr>
          <a:xfrm>
            <a:off x="9180576" y="4754880"/>
            <a:ext cx="457200" cy="457200"/>
          </a:xfrm>
          <a:prstGeom prst="ellipse">
            <a:avLst/>
          </a:prstGeom>
          <a:solidFill>
            <a:srgbClr val="8A5A2B"/>
          </a:solidFill>
          <a:ln w="12700">
            <a:solidFill>
              <a:srgbClr val="8A5A2B"/>
            </a:solidFill>
            <a:prstDash val="solid"/>
          </a:ln>
        </p:spPr>
      </p:sp>
      <p:pic>
        <p:nvPicPr>
          <p:cNvPr id="46" name="Image 3" descr="preencoded.png">    </p:cNvPr>
          <p:cNvPicPr>
            <a:picLocks noChangeAspect="1"/>
          </p:cNvPicPr>
          <p:nvPr/>
        </p:nvPicPr>
        <p:blipFill>
          <a:blip r:embed="rId4"/>
          <a:stretch>
            <a:fillRect/>
          </a:stretch>
        </p:blipFill>
        <p:spPr>
          <a:xfrm>
            <a:off x="9294876" y="4869180"/>
            <a:ext cx="228600" cy="228600"/>
          </a:xfrm>
          <a:prstGeom prst="rect">
            <a:avLst/>
          </a:prstGeom>
        </p:spPr>
      </p:pic>
      <p:sp>
        <p:nvSpPr>
          <p:cNvPr id="47" name="Text 41"/>
          <p:cNvSpPr txBox="1"/>
          <p:nvPr/>
        </p:nvSpPr>
        <p:spPr>
          <a:xfrm>
            <a:off x="9774936" y="4754880"/>
            <a:ext cx="1737360" cy="457200"/>
          </a:xfrm>
          <a:prstGeom prst="rect">
            <a:avLst/>
          </a:prstGeom>
          <a:noFill/>
          <a:ln/>
        </p:spPr>
        <p:txBody>
          <a:bodyPr wrap="square" lIns="0" tIns="0" rIns="0" bIns="0" rtlCol="0" anchor="ctr"/>
          <a:lstStyle/>
          <a:p>
            <a:pPr indent="0" marL="0">
              <a:buNone/>
            </a:pPr>
            <a:r>
              <a:rPr lang="en-US" sz="1400" b="1" dirty="0">
                <a:solidFill>
                  <a:srgbClr val="1B1A17"/>
                </a:solidFill>
                <a:latin typeface="Calibri" pitchFamily="34" charset="0"/>
                <a:ea typeface="Calibri" pitchFamily="34" charset="-122"/>
                <a:cs typeface="Calibri" pitchFamily="34" charset="-120"/>
              </a:rPr>
              <a:t>Design and versioning</a:t>
            </a:r>
            <a:endParaRPr lang="en-US" sz="1400" dirty="0"/>
          </a:p>
        </p:txBody>
      </p:sp>
      <p:sp>
        <p:nvSpPr>
          <p:cNvPr id="48" name="Text 42"/>
          <p:cNvSpPr txBox="1"/>
          <p:nvPr/>
        </p:nvSpPr>
        <p:spPr>
          <a:xfrm>
            <a:off x="9180576" y="5303520"/>
            <a:ext cx="2286000" cy="640080"/>
          </a:xfrm>
          <a:prstGeom prst="rect">
            <a:avLst/>
          </a:prstGeom>
          <a:noFill/>
          <a:ln/>
        </p:spPr>
        <p:txBody>
          <a:bodyPr wrap="square" lIns="0" tIns="0" rIns="0" bIns="0" rtlCol="0" anchor="t"/>
          <a:lstStyle/>
          <a:p>
            <a:pPr indent="0" marL="0">
              <a:buNone/>
            </a:pPr>
            <a:r>
              <a:rPr lang="en-US" sz="1200" dirty="0">
                <a:solidFill>
                  <a:srgbClr val="6F6A60"/>
                </a:solidFill>
                <a:latin typeface="Calibri" pitchFamily="34" charset="0"/>
                <a:ea typeface="Calibri" pitchFamily="34" charset="-122"/>
                <a:cs typeface="Calibri" pitchFamily="34" charset="-120"/>
              </a:rPr>
              <a:t>Figma, VS Code, GitHub</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B1A17"/>
                </a:solidFill>
                <a:latin typeface="Cambria" pitchFamily="34" charset="0"/>
                <a:ea typeface="Cambria" pitchFamily="34" charset="-122"/>
                <a:cs typeface="Cambria" pitchFamily="34" charset="-120"/>
              </a:rPr>
              <a:t>How we will evaluate it</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F6A60"/>
                </a:solidFill>
                <a:latin typeface="Calibri" pitchFamily="34" charset="0"/>
                <a:ea typeface="Calibri" pitchFamily="34" charset="-122"/>
                <a:cs typeface="Calibri" pitchFamily="34" charset="-120"/>
              </a:rPr>
              <a:t>ISO/IEC 25010-based questionnaire, four-point Likert scale, weighted mean</a:t>
            </a:r>
            <a:endParaRPr lang="en-US" sz="1600" dirty="0"/>
          </a:p>
        </p:txBody>
      </p:sp>
      <p:sp>
        <p:nvSpPr>
          <p:cNvPr id="4" name="Text 2"/>
          <p:cNvSpPr txBox="1"/>
          <p:nvPr/>
        </p:nvSpPr>
        <p:spPr>
          <a:xfrm>
            <a:off x="548640" y="1691640"/>
            <a:ext cx="4572000" cy="320040"/>
          </a:xfrm>
          <a:prstGeom prst="rect">
            <a:avLst/>
          </a:prstGeom>
          <a:noFill/>
          <a:ln/>
        </p:spPr>
        <p:txBody>
          <a:bodyPr wrap="square" lIns="0" tIns="0" rIns="0" bIns="0" rtlCol="0" anchor="ctr"/>
          <a:lstStyle/>
          <a:p>
            <a:pPr indent="0" marL="0">
              <a:buNone/>
            </a:pPr>
            <a:r>
              <a:rPr lang="en-US" sz="1200" b="1" spc="200" kern="0" dirty="0">
                <a:solidFill>
                  <a:srgbClr val="6F6A60"/>
                </a:solidFill>
                <a:latin typeface="Calibri" pitchFamily="34" charset="0"/>
                <a:ea typeface="Calibri" pitchFamily="34" charset="-122"/>
                <a:cs typeface="Calibri" pitchFamily="34" charset="-120"/>
              </a:rPr>
              <a:t>RESPONDENTS (PURPOSIVE SAMPLING)</a:t>
            </a:r>
            <a:endParaRPr lang="en-US" sz="1200" dirty="0"/>
          </a:p>
        </p:txBody>
      </p:sp>
      <p:sp>
        <p:nvSpPr>
          <p:cNvPr id="5" name="Shape 3"/>
          <p:cNvSpPr/>
          <p:nvPr/>
        </p:nvSpPr>
        <p:spPr>
          <a:xfrm>
            <a:off x="548640" y="2103120"/>
            <a:ext cx="3840480" cy="1005840"/>
          </a:xfrm>
          <a:prstGeom prst="roundRect">
            <a:avLst>
              <a:gd name="adj" fmla="val 9091"/>
            </a:avLst>
          </a:prstGeom>
          <a:solidFill>
            <a:srgbClr val="F3E7D9"/>
          </a:solidFill>
          <a:ln w="12700">
            <a:solidFill>
              <a:srgbClr val="F3E7D9"/>
            </a:solidFill>
            <a:prstDash val="solid"/>
          </a:ln>
        </p:spPr>
      </p:sp>
      <p:sp>
        <p:nvSpPr>
          <p:cNvPr id="6" name="Text 4"/>
          <p:cNvSpPr txBox="1"/>
          <p:nvPr/>
        </p:nvSpPr>
        <p:spPr>
          <a:xfrm>
            <a:off x="777240" y="2103120"/>
            <a:ext cx="1645920" cy="1005840"/>
          </a:xfrm>
          <a:prstGeom prst="rect">
            <a:avLst/>
          </a:prstGeom>
          <a:noFill/>
          <a:ln/>
        </p:spPr>
        <p:txBody>
          <a:bodyPr wrap="square" lIns="0" tIns="0" rIns="0" bIns="0" rtlCol="0" anchor="ctr"/>
          <a:lstStyle/>
          <a:p>
            <a:pPr indent="0" marL="0">
              <a:buNone/>
            </a:pPr>
            <a:r>
              <a:rPr lang="en-US" sz="3400" b="1" dirty="0">
                <a:solidFill>
                  <a:srgbClr val="8A5A2B"/>
                </a:solidFill>
                <a:latin typeface="Cambria" pitchFamily="34" charset="0"/>
                <a:ea typeface="Cambria" pitchFamily="34" charset="-122"/>
                <a:cs typeface="Cambria" pitchFamily="34" charset="-120"/>
              </a:rPr>
              <a:t>1</a:t>
            </a:r>
            <a:endParaRPr lang="en-US" sz="3400" dirty="0"/>
          </a:p>
        </p:txBody>
      </p:sp>
      <p:sp>
        <p:nvSpPr>
          <p:cNvPr id="7" name="Text 5"/>
          <p:cNvSpPr txBox="1"/>
          <p:nvPr/>
        </p:nvSpPr>
        <p:spPr>
          <a:xfrm>
            <a:off x="2377440" y="2103120"/>
            <a:ext cx="1920240" cy="1005840"/>
          </a:xfrm>
          <a:prstGeom prst="rect">
            <a:avLst/>
          </a:prstGeom>
          <a:noFill/>
          <a:ln/>
        </p:spPr>
        <p:txBody>
          <a:bodyPr wrap="square" lIns="0" tIns="0" rIns="0" bIns="0" rtlCol="0" anchor="ctr"/>
          <a:lstStyle/>
          <a:p>
            <a:pPr indent="0" marL="0">
              <a:buNone/>
            </a:pPr>
            <a:r>
              <a:rPr lang="en-US" sz="1700" b="1" dirty="0">
                <a:solidFill>
                  <a:srgbClr val="1B1A17"/>
                </a:solidFill>
                <a:latin typeface="Calibri" pitchFamily="34" charset="0"/>
                <a:ea typeface="Calibri" pitchFamily="34" charset="-122"/>
                <a:cs typeface="Calibri" pitchFamily="34" charset="-120"/>
              </a:rPr>
              <a:t>owner</a:t>
            </a:r>
            <a:endParaRPr lang="en-US" sz="1700" dirty="0"/>
          </a:p>
        </p:txBody>
      </p:sp>
      <p:sp>
        <p:nvSpPr>
          <p:cNvPr id="8" name="Shape 6"/>
          <p:cNvSpPr/>
          <p:nvPr/>
        </p:nvSpPr>
        <p:spPr>
          <a:xfrm>
            <a:off x="548640" y="3291840"/>
            <a:ext cx="3840480" cy="1005840"/>
          </a:xfrm>
          <a:prstGeom prst="roundRect">
            <a:avLst>
              <a:gd name="adj" fmla="val 9091"/>
            </a:avLst>
          </a:prstGeom>
          <a:solidFill>
            <a:srgbClr val="F3E7D9"/>
          </a:solidFill>
          <a:ln w="12700">
            <a:solidFill>
              <a:srgbClr val="F3E7D9"/>
            </a:solidFill>
            <a:prstDash val="solid"/>
          </a:ln>
        </p:spPr>
      </p:sp>
      <p:sp>
        <p:nvSpPr>
          <p:cNvPr id="9" name="Text 7"/>
          <p:cNvSpPr txBox="1"/>
          <p:nvPr/>
        </p:nvSpPr>
        <p:spPr>
          <a:xfrm>
            <a:off x="777240" y="3291840"/>
            <a:ext cx="1645920" cy="1005840"/>
          </a:xfrm>
          <a:prstGeom prst="rect">
            <a:avLst/>
          </a:prstGeom>
          <a:noFill/>
          <a:ln/>
        </p:spPr>
        <p:txBody>
          <a:bodyPr wrap="square" lIns="0" tIns="0" rIns="0" bIns="0" rtlCol="0" anchor="ctr"/>
          <a:lstStyle/>
          <a:p>
            <a:pPr indent="0" marL="0">
              <a:buNone/>
            </a:pPr>
            <a:r>
              <a:rPr lang="en-US" sz="3400" b="1" dirty="0">
                <a:solidFill>
                  <a:srgbClr val="8A5A2B"/>
                </a:solidFill>
                <a:latin typeface="Cambria" pitchFamily="34" charset="0"/>
                <a:ea typeface="Cambria" pitchFamily="34" charset="-122"/>
                <a:cs typeface="Cambria" pitchFamily="34" charset="-120"/>
              </a:rPr>
              <a:t>3 to 5</a:t>
            </a:r>
            <a:endParaRPr lang="en-US" sz="3400" dirty="0"/>
          </a:p>
        </p:txBody>
      </p:sp>
      <p:sp>
        <p:nvSpPr>
          <p:cNvPr id="10" name="Text 8"/>
          <p:cNvSpPr txBox="1"/>
          <p:nvPr/>
        </p:nvSpPr>
        <p:spPr>
          <a:xfrm>
            <a:off x="2377440" y="3291840"/>
            <a:ext cx="1920240" cy="1005840"/>
          </a:xfrm>
          <a:prstGeom prst="rect">
            <a:avLst/>
          </a:prstGeom>
          <a:noFill/>
          <a:ln/>
        </p:spPr>
        <p:txBody>
          <a:bodyPr wrap="square" lIns="0" tIns="0" rIns="0" bIns="0" rtlCol="0" anchor="ctr"/>
          <a:lstStyle/>
          <a:p>
            <a:pPr indent="0" marL="0">
              <a:buNone/>
            </a:pPr>
            <a:r>
              <a:rPr lang="en-US" sz="1700" b="1" dirty="0">
                <a:solidFill>
                  <a:srgbClr val="1B1A17"/>
                </a:solidFill>
                <a:latin typeface="Calibri" pitchFamily="34" charset="0"/>
                <a:ea typeface="Calibri" pitchFamily="34" charset="-122"/>
                <a:cs typeface="Calibri" pitchFamily="34" charset="-120"/>
              </a:rPr>
              <a:t>barbers</a:t>
            </a:r>
            <a:endParaRPr lang="en-US" sz="1700" dirty="0"/>
          </a:p>
        </p:txBody>
      </p:sp>
      <p:sp>
        <p:nvSpPr>
          <p:cNvPr id="11" name="Shape 9"/>
          <p:cNvSpPr/>
          <p:nvPr/>
        </p:nvSpPr>
        <p:spPr>
          <a:xfrm>
            <a:off x="548640" y="4480560"/>
            <a:ext cx="3840480" cy="1005840"/>
          </a:xfrm>
          <a:prstGeom prst="roundRect">
            <a:avLst>
              <a:gd name="adj" fmla="val 9091"/>
            </a:avLst>
          </a:prstGeom>
          <a:solidFill>
            <a:srgbClr val="F3E7D9"/>
          </a:solidFill>
          <a:ln w="12700">
            <a:solidFill>
              <a:srgbClr val="F3E7D9"/>
            </a:solidFill>
            <a:prstDash val="solid"/>
          </a:ln>
        </p:spPr>
      </p:sp>
      <p:sp>
        <p:nvSpPr>
          <p:cNvPr id="12" name="Text 10"/>
          <p:cNvSpPr txBox="1"/>
          <p:nvPr/>
        </p:nvSpPr>
        <p:spPr>
          <a:xfrm>
            <a:off x="777240" y="4480560"/>
            <a:ext cx="1645920" cy="1005840"/>
          </a:xfrm>
          <a:prstGeom prst="rect">
            <a:avLst/>
          </a:prstGeom>
          <a:noFill/>
          <a:ln/>
        </p:spPr>
        <p:txBody>
          <a:bodyPr wrap="square" lIns="0" tIns="0" rIns="0" bIns="0" rtlCol="0" anchor="ctr"/>
          <a:lstStyle/>
          <a:p>
            <a:pPr indent="0" marL="0">
              <a:buNone/>
            </a:pPr>
            <a:r>
              <a:rPr lang="en-US" sz="3400" b="1" dirty="0">
                <a:solidFill>
                  <a:srgbClr val="8A5A2B"/>
                </a:solidFill>
                <a:latin typeface="Cambria" pitchFamily="34" charset="0"/>
                <a:ea typeface="Cambria" pitchFamily="34" charset="-122"/>
                <a:cs typeface="Cambria" pitchFamily="34" charset="-120"/>
              </a:rPr>
              <a:t>30</a:t>
            </a:r>
            <a:endParaRPr lang="en-US" sz="3400" dirty="0"/>
          </a:p>
        </p:txBody>
      </p:sp>
      <p:sp>
        <p:nvSpPr>
          <p:cNvPr id="13" name="Text 11"/>
          <p:cNvSpPr txBox="1"/>
          <p:nvPr/>
        </p:nvSpPr>
        <p:spPr>
          <a:xfrm>
            <a:off x="2377440" y="4480560"/>
            <a:ext cx="1920240" cy="1005840"/>
          </a:xfrm>
          <a:prstGeom prst="rect">
            <a:avLst/>
          </a:prstGeom>
          <a:noFill/>
          <a:ln/>
        </p:spPr>
        <p:txBody>
          <a:bodyPr wrap="square" lIns="0" tIns="0" rIns="0" bIns="0" rtlCol="0" anchor="ctr"/>
          <a:lstStyle/>
          <a:p>
            <a:pPr indent="0" marL="0">
              <a:buNone/>
            </a:pPr>
            <a:r>
              <a:rPr lang="en-US" sz="1700" b="1" dirty="0">
                <a:solidFill>
                  <a:srgbClr val="1B1A17"/>
                </a:solidFill>
                <a:latin typeface="Calibri" pitchFamily="34" charset="0"/>
                <a:ea typeface="Calibri" pitchFamily="34" charset="-122"/>
                <a:cs typeface="Calibri" pitchFamily="34" charset="-120"/>
              </a:rPr>
              <a:t>regular customers</a:t>
            </a:r>
            <a:endParaRPr lang="en-US" sz="1700" dirty="0"/>
          </a:p>
        </p:txBody>
      </p:sp>
      <p:sp>
        <p:nvSpPr>
          <p:cNvPr id="14" name="Text 12"/>
          <p:cNvSpPr txBox="1"/>
          <p:nvPr/>
        </p:nvSpPr>
        <p:spPr>
          <a:xfrm>
            <a:off x="4846320" y="1691640"/>
            <a:ext cx="2743200" cy="320040"/>
          </a:xfrm>
          <a:prstGeom prst="rect">
            <a:avLst/>
          </a:prstGeom>
          <a:noFill/>
          <a:ln/>
        </p:spPr>
        <p:txBody>
          <a:bodyPr wrap="square" lIns="0" tIns="0" rIns="0" bIns="0" rtlCol="0" anchor="ctr"/>
          <a:lstStyle/>
          <a:p>
            <a:pPr indent="0" marL="0">
              <a:buNone/>
            </a:pPr>
            <a:r>
              <a:rPr lang="en-US" sz="1200" b="1" spc="200" kern="0" dirty="0">
                <a:solidFill>
                  <a:srgbClr val="6F6A60"/>
                </a:solidFill>
                <a:latin typeface="Calibri" pitchFamily="34" charset="0"/>
                <a:ea typeface="Calibri" pitchFamily="34" charset="-122"/>
                <a:cs typeface="Calibri" pitchFamily="34" charset="-120"/>
              </a:rPr>
              <a:t>CRITERIA</a:t>
            </a:r>
            <a:endParaRPr lang="en-US" sz="1200" dirty="0"/>
          </a:p>
        </p:txBody>
      </p:sp>
      <p:sp>
        <p:nvSpPr>
          <p:cNvPr id="15" name="Shape 13"/>
          <p:cNvSpPr/>
          <p:nvPr/>
        </p:nvSpPr>
        <p:spPr>
          <a:xfrm>
            <a:off x="4846320" y="2103120"/>
            <a:ext cx="502920" cy="502920"/>
          </a:xfrm>
          <a:prstGeom prst="ellipse">
            <a:avLst/>
          </a:prstGeom>
          <a:solidFill>
            <a:srgbClr val="1B1A17"/>
          </a:solidFill>
          <a:ln w="12700">
            <a:solidFill>
              <a:srgbClr val="1B1A17"/>
            </a:solidFill>
            <a:prstDash val="solid"/>
          </a:ln>
        </p:spPr>
      </p:sp>
      <p:pic>
        <p:nvPicPr>
          <p:cNvPr id="16" name="Image 0" descr="preencoded.png">    </p:cNvPr>
          <p:cNvPicPr>
            <a:picLocks noChangeAspect="1"/>
          </p:cNvPicPr>
          <p:nvPr/>
        </p:nvPicPr>
        <p:blipFill>
          <a:blip r:embed="rId1"/>
          <a:stretch>
            <a:fillRect/>
          </a:stretch>
        </p:blipFill>
        <p:spPr>
          <a:xfrm>
            <a:off x="4972050" y="2228850"/>
            <a:ext cx="251460" cy="251460"/>
          </a:xfrm>
          <a:prstGeom prst="rect">
            <a:avLst/>
          </a:prstGeom>
        </p:spPr>
      </p:pic>
      <p:sp>
        <p:nvSpPr>
          <p:cNvPr id="17" name="Text 14"/>
          <p:cNvSpPr txBox="1"/>
          <p:nvPr/>
        </p:nvSpPr>
        <p:spPr>
          <a:xfrm>
            <a:off x="5532120" y="2103120"/>
            <a:ext cx="2103120" cy="502920"/>
          </a:xfrm>
          <a:prstGeom prst="rect">
            <a:avLst/>
          </a:prstGeom>
          <a:noFill/>
          <a:ln/>
        </p:spPr>
        <p:txBody>
          <a:bodyPr wrap="square" lIns="0" tIns="0" rIns="0" bIns="0" rtlCol="0" anchor="ctr"/>
          <a:lstStyle/>
          <a:p>
            <a:pPr indent="0" marL="0">
              <a:buNone/>
            </a:pPr>
            <a:r>
              <a:rPr lang="en-US" sz="1600" b="1" dirty="0">
                <a:solidFill>
                  <a:srgbClr val="1B1A17"/>
                </a:solidFill>
                <a:latin typeface="Calibri" pitchFamily="34" charset="0"/>
                <a:ea typeface="Calibri" pitchFamily="34" charset="-122"/>
                <a:cs typeface="Calibri" pitchFamily="34" charset="-120"/>
              </a:rPr>
              <a:t>Functionality</a:t>
            </a:r>
            <a:endParaRPr lang="en-US" sz="1600" dirty="0"/>
          </a:p>
        </p:txBody>
      </p:sp>
      <p:sp>
        <p:nvSpPr>
          <p:cNvPr id="18" name="Shape 15"/>
          <p:cNvSpPr/>
          <p:nvPr/>
        </p:nvSpPr>
        <p:spPr>
          <a:xfrm>
            <a:off x="4846320" y="2816352"/>
            <a:ext cx="502920" cy="502920"/>
          </a:xfrm>
          <a:prstGeom prst="ellipse">
            <a:avLst/>
          </a:prstGeom>
          <a:solidFill>
            <a:srgbClr val="1B1A17"/>
          </a:solidFill>
          <a:ln w="12700">
            <a:solidFill>
              <a:srgbClr val="1B1A17"/>
            </a:solidFill>
            <a:prstDash val="solid"/>
          </a:ln>
        </p:spPr>
      </p:sp>
      <p:pic>
        <p:nvPicPr>
          <p:cNvPr id="19" name="Image 1" descr="preencoded.png">    </p:cNvPr>
          <p:cNvPicPr>
            <a:picLocks noChangeAspect="1"/>
          </p:cNvPicPr>
          <p:nvPr/>
        </p:nvPicPr>
        <p:blipFill>
          <a:blip r:embed="rId2"/>
          <a:stretch>
            <a:fillRect/>
          </a:stretch>
        </p:blipFill>
        <p:spPr>
          <a:xfrm>
            <a:off x="4972050" y="2942082"/>
            <a:ext cx="251460" cy="251460"/>
          </a:xfrm>
          <a:prstGeom prst="rect">
            <a:avLst/>
          </a:prstGeom>
        </p:spPr>
      </p:pic>
      <p:sp>
        <p:nvSpPr>
          <p:cNvPr id="20" name="Text 16"/>
          <p:cNvSpPr txBox="1"/>
          <p:nvPr/>
        </p:nvSpPr>
        <p:spPr>
          <a:xfrm>
            <a:off x="5532120" y="2816352"/>
            <a:ext cx="2103120" cy="502920"/>
          </a:xfrm>
          <a:prstGeom prst="rect">
            <a:avLst/>
          </a:prstGeom>
          <a:noFill/>
          <a:ln/>
        </p:spPr>
        <p:txBody>
          <a:bodyPr wrap="square" lIns="0" tIns="0" rIns="0" bIns="0" rtlCol="0" anchor="ctr"/>
          <a:lstStyle/>
          <a:p>
            <a:pPr indent="0" marL="0">
              <a:buNone/>
            </a:pPr>
            <a:r>
              <a:rPr lang="en-US" sz="1600" b="1" dirty="0">
                <a:solidFill>
                  <a:srgbClr val="1B1A17"/>
                </a:solidFill>
                <a:latin typeface="Calibri" pitchFamily="34" charset="0"/>
                <a:ea typeface="Calibri" pitchFamily="34" charset="-122"/>
                <a:cs typeface="Calibri" pitchFamily="34" charset="-120"/>
              </a:rPr>
              <a:t>Usability</a:t>
            </a:r>
            <a:endParaRPr lang="en-US" sz="1600" dirty="0"/>
          </a:p>
        </p:txBody>
      </p:sp>
      <p:sp>
        <p:nvSpPr>
          <p:cNvPr id="21" name="Shape 17"/>
          <p:cNvSpPr/>
          <p:nvPr/>
        </p:nvSpPr>
        <p:spPr>
          <a:xfrm>
            <a:off x="4846320" y="3529584"/>
            <a:ext cx="502920" cy="502920"/>
          </a:xfrm>
          <a:prstGeom prst="ellipse">
            <a:avLst/>
          </a:prstGeom>
          <a:solidFill>
            <a:srgbClr val="1B1A17"/>
          </a:solidFill>
          <a:ln w="12700">
            <a:solidFill>
              <a:srgbClr val="1B1A17"/>
            </a:solidFill>
            <a:prstDash val="solid"/>
          </a:ln>
        </p:spPr>
      </p:sp>
      <p:pic>
        <p:nvPicPr>
          <p:cNvPr id="22" name="Image 2" descr="preencoded.png">    </p:cNvPr>
          <p:cNvPicPr>
            <a:picLocks noChangeAspect="1"/>
          </p:cNvPicPr>
          <p:nvPr/>
        </p:nvPicPr>
        <p:blipFill>
          <a:blip r:embed="rId3"/>
          <a:stretch>
            <a:fillRect/>
          </a:stretch>
        </p:blipFill>
        <p:spPr>
          <a:xfrm>
            <a:off x="4972050" y="3655314"/>
            <a:ext cx="251460" cy="251460"/>
          </a:xfrm>
          <a:prstGeom prst="rect">
            <a:avLst/>
          </a:prstGeom>
        </p:spPr>
      </p:pic>
      <p:sp>
        <p:nvSpPr>
          <p:cNvPr id="23" name="Text 18"/>
          <p:cNvSpPr txBox="1"/>
          <p:nvPr/>
        </p:nvSpPr>
        <p:spPr>
          <a:xfrm>
            <a:off x="5532120" y="3529584"/>
            <a:ext cx="2103120" cy="502920"/>
          </a:xfrm>
          <a:prstGeom prst="rect">
            <a:avLst/>
          </a:prstGeom>
          <a:noFill/>
          <a:ln/>
        </p:spPr>
        <p:txBody>
          <a:bodyPr wrap="square" lIns="0" tIns="0" rIns="0" bIns="0" rtlCol="0" anchor="ctr"/>
          <a:lstStyle/>
          <a:p>
            <a:pPr indent="0" marL="0">
              <a:buNone/>
            </a:pPr>
            <a:r>
              <a:rPr lang="en-US" sz="1600" b="1" dirty="0">
                <a:solidFill>
                  <a:srgbClr val="1B1A17"/>
                </a:solidFill>
                <a:latin typeface="Calibri" pitchFamily="34" charset="0"/>
                <a:ea typeface="Calibri" pitchFamily="34" charset="-122"/>
                <a:cs typeface="Calibri" pitchFamily="34" charset="-120"/>
              </a:rPr>
              <a:t>Efficiency</a:t>
            </a:r>
            <a:endParaRPr lang="en-US" sz="1600" dirty="0"/>
          </a:p>
        </p:txBody>
      </p:sp>
      <p:sp>
        <p:nvSpPr>
          <p:cNvPr id="24" name="Shape 19"/>
          <p:cNvSpPr/>
          <p:nvPr/>
        </p:nvSpPr>
        <p:spPr>
          <a:xfrm>
            <a:off x="4846320" y="4242816"/>
            <a:ext cx="502920" cy="502920"/>
          </a:xfrm>
          <a:prstGeom prst="ellipse">
            <a:avLst/>
          </a:prstGeom>
          <a:solidFill>
            <a:srgbClr val="1B1A17"/>
          </a:solidFill>
          <a:ln w="12700">
            <a:solidFill>
              <a:srgbClr val="1B1A17"/>
            </a:solidFill>
            <a:prstDash val="solid"/>
          </a:ln>
        </p:spPr>
      </p:sp>
      <p:pic>
        <p:nvPicPr>
          <p:cNvPr id="25" name="Image 3" descr="preencoded.png">    </p:cNvPr>
          <p:cNvPicPr>
            <a:picLocks noChangeAspect="1"/>
          </p:cNvPicPr>
          <p:nvPr/>
        </p:nvPicPr>
        <p:blipFill>
          <a:blip r:embed="rId4"/>
          <a:stretch>
            <a:fillRect/>
          </a:stretch>
        </p:blipFill>
        <p:spPr>
          <a:xfrm>
            <a:off x="4972050" y="4368546"/>
            <a:ext cx="251460" cy="251460"/>
          </a:xfrm>
          <a:prstGeom prst="rect">
            <a:avLst/>
          </a:prstGeom>
        </p:spPr>
      </p:pic>
      <p:sp>
        <p:nvSpPr>
          <p:cNvPr id="26" name="Text 20"/>
          <p:cNvSpPr txBox="1"/>
          <p:nvPr/>
        </p:nvSpPr>
        <p:spPr>
          <a:xfrm>
            <a:off x="5532120" y="4242816"/>
            <a:ext cx="2103120" cy="502920"/>
          </a:xfrm>
          <a:prstGeom prst="rect">
            <a:avLst/>
          </a:prstGeom>
          <a:noFill/>
          <a:ln/>
        </p:spPr>
        <p:txBody>
          <a:bodyPr wrap="square" lIns="0" tIns="0" rIns="0" bIns="0" rtlCol="0" anchor="ctr"/>
          <a:lstStyle/>
          <a:p>
            <a:pPr indent="0" marL="0">
              <a:buNone/>
            </a:pPr>
            <a:r>
              <a:rPr lang="en-US" sz="1600" b="1" dirty="0">
                <a:solidFill>
                  <a:srgbClr val="1B1A17"/>
                </a:solidFill>
                <a:latin typeface="Calibri" pitchFamily="34" charset="0"/>
                <a:ea typeface="Calibri" pitchFamily="34" charset="-122"/>
                <a:cs typeface="Calibri" pitchFamily="34" charset="-120"/>
              </a:rPr>
              <a:t>Reliability</a:t>
            </a:r>
            <a:endParaRPr lang="en-US" sz="1600" dirty="0"/>
          </a:p>
        </p:txBody>
      </p:sp>
      <p:sp>
        <p:nvSpPr>
          <p:cNvPr id="27" name="Shape 21"/>
          <p:cNvSpPr/>
          <p:nvPr/>
        </p:nvSpPr>
        <p:spPr>
          <a:xfrm>
            <a:off x="4846320" y="4956048"/>
            <a:ext cx="502920" cy="502920"/>
          </a:xfrm>
          <a:prstGeom prst="ellipse">
            <a:avLst/>
          </a:prstGeom>
          <a:solidFill>
            <a:srgbClr val="1B1A17"/>
          </a:solidFill>
          <a:ln w="12700">
            <a:solidFill>
              <a:srgbClr val="1B1A17"/>
            </a:solidFill>
            <a:prstDash val="solid"/>
          </a:ln>
        </p:spPr>
      </p:sp>
      <p:pic>
        <p:nvPicPr>
          <p:cNvPr id="28" name="Image 4" descr="preencoded.png">    </p:cNvPr>
          <p:cNvPicPr>
            <a:picLocks noChangeAspect="1"/>
          </p:cNvPicPr>
          <p:nvPr/>
        </p:nvPicPr>
        <p:blipFill>
          <a:blip r:embed="rId5"/>
          <a:stretch>
            <a:fillRect/>
          </a:stretch>
        </p:blipFill>
        <p:spPr>
          <a:xfrm>
            <a:off x="4972050" y="5081778"/>
            <a:ext cx="251460" cy="251460"/>
          </a:xfrm>
          <a:prstGeom prst="rect">
            <a:avLst/>
          </a:prstGeom>
        </p:spPr>
      </p:pic>
      <p:sp>
        <p:nvSpPr>
          <p:cNvPr id="29" name="Text 22"/>
          <p:cNvSpPr txBox="1"/>
          <p:nvPr/>
        </p:nvSpPr>
        <p:spPr>
          <a:xfrm>
            <a:off x="5532120" y="4956048"/>
            <a:ext cx="2103120" cy="502920"/>
          </a:xfrm>
          <a:prstGeom prst="rect">
            <a:avLst/>
          </a:prstGeom>
          <a:noFill/>
          <a:ln/>
        </p:spPr>
        <p:txBody>
          <a:bodyPr wrap="square" lIns="0" tIns="0" rIns="0" bIns="0" rtlCol="0" anchor="ctr"/>
          <a:lstStyle/>
          <a:p>
            <a:pPr indent="0" marL="0">
              <a:buNone/>
            </a:pPr>
            <a:r>
              <a:rPr lang="en-US" sz="1600" b="1" dirty="0">
                <a:solidFill>
                  <a:srgbClr val="1B1A17"/>
                </a:solidFill>
                <a:latin typeface="Calibri" pitchFamily="34" charset="0"/>
                <a:ea typeface="Calibri" pitchFamily="34" charset="-122"/>
                <a:cs typeface="Calibri" pitchFamily="34" charset="-120"/>
              </a:rPr>
              <a:t>User satisfaction</a:t>
            </a:r>
            <a:endParaRPr lang="en-US" sz="1600" dirty="0"/>
          </a:p>
        </p:txBody>
      </p:sp>
      <p:sp>
        <p:nvSpPr>
          <p:cNvPr id="30" name="Text 23"/>
          <p:cNvSpPr txBox="1"/>
          <p:nvPr/>
        </p:nvSpPr>
        <p:spPr>
          <a:xfrm>
            <a:off x="8046720" y="1691640"/>
            <a:ext cx="3657600" cy="320040"/>
          </a:xfrm>
          <a:prstGeom prst="rect">
            <a:avLst/>
          </a:prstGeom>
          <a:noFill/>
          <a:ln/>
        </p:spPr>
        <p:txBody>
          <a:bodyPr wrap="square" lIns="0" tIns="0" rIns="0" bIns="0" rtlCol="0" anchor="ctr"/>
          <a:lstStyle/>
          <a:p>
            <a:pPr indent="0" marL="0">
              <a:buNone/>
            </a:pPr>
            <a:r>
              <a:rPr lang="en-US" sz="1200" b="1" spc="200" kern="0" dirty="0">
                <a:solidFill>
                  <a:srgbClr val="6F6A60"/>
                </a:solidFill>
                <a:latin typeface="Calibri" pitchFamily="34" charset="0"/>
                <a:ea typeface="Calibri" pitchFamily="34" charset="-122"/>
                <a:cs typeface="Calibri" pitchFamily="34" charset="-120"/>
              </a:rPr>
              <a:t>INTERPRETATION SCALE</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046720" y="2103120"/>
          <a:ext cx="3566160" cy="914400"/>
        </p:xfrm>
        <a:graphic>
          <a:graphicData uri="http://schemas.openxmlformats.org/drawingml/2006/table">
            <a:tbl>
              <a:tblPr/>
              <a:tblGrid>
                <a:gridCol w="640080"/>
                <a:gridCol w="1234440"/>
                <a:gridCol w="169164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Scale</a:t>
                      </a:r>
                      <a:endParaRPr lang="en-US" sz="1250" dirty="0">
                        <a:latin typeface="Calibri" charset="0"/>
                        <a:ea typeface="Calibri" charset="0"/>
                        <a:cs typeface="Calibri" charset="0"/>
                      </a:endParaRPr>
                    </a:p>
                  </a:txBody>
                  <a:tcPr marL="91440" marR="91440" marT="45720" marB="45720" anchor="ctr">
                    <a:lnL w="9525" cap="flat" cmpd="sng" algn="ctr">
                      <a:solidFill>
                        <a:srgbClr val="E4E0D8"/>
                      </a:solidFill>
                      <a:prstDash val="solid"/>
                      <a:round/>
                      <a:headEnd type="none" w="med" len="med"/>
                      <a:tailEnd type="none" w="med" len="med"/>
                    </a:lnL>
                    <a:lnR w="9525" cap="flat" cmpd="sng" algn="ctr">
                      <a:solidFill>
                        <a:srgbClr val="E4E0D8"/>
                      </a:solidFill>
                      <a:prstDash val="solid"/>
                      <a:round/>
                      <a:headEnd type="none" w="med" len="med"/>
                      <a:tailEnd type="none" w="med" len="med"/>
                    </a:lnR>
                    <a:lnT w="9525" cap="flat" cmpd="sng" algn="ctr">
                      <a:solidFill>
                        <a:srgbClr val="E4E0D8"/>
                      </a:solidFill>
                      <a:prstDash val="solid"/>
                      <a:round/>
                      <a:headEnd type="none" w="med" len="med"/>
                      <a:tailEnd type="none" w="med" len="med"/>
                    </a:lnT>
                    <a:lnB w="9525" cap="flat" cmpd="sng" algn="ctr">
                      <a:solidFill>
                        <a:srgbClr val="E4E0D8"/>
                      </a:solidFill>
                      <a:prstDash val="solid"/>
                      <a:round/>
                      <a:headEnd type="none" w="med" len="med"/>
                      <a:tailEnd type="none" w="med" len="med"/>
                    </a:lnB>
                    <a:solidFill>
                      <a:srgbClr val="1B1A17"/>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Mean range</a:t>
                      </a:r>
                      <a:endParaRPr lang="en-US" sz="1250" dirty="0">
                        <a:latin typeface="Calibri" charset="0"/>
                        <a:ea typeface="Calibri" charset="0"/>
                        <a:cs typeface="Calibri" charset="0"/>
                      </a:endParaRPr>
                    </a:p>
                  </a:txBody>
                  <a:tcPr marL="91440" marR="91440" marT="45720" marB="45720" anchor="ctr">
                    <a:lnL w="9525" cap="flat" cmpd="sng" algn="ctr">
                      <a:solidFill>
                        <a:srgbClr val="E4E0D8"/>
                      </a:solidFill>
                      <a:prstDash val="solid"/>
                      <a:round/>
                      <a:headEnd type="none" w="med" len="med"/>
                      <a:tailEnd type="none" w="med" len="med"/>
                    </a:lnL>
                    <a:lnR w="9525" cap="flat" cmpd="sng" algn="ctr">
                      <a:solidFill>
                        <a:srgbClr val="E4E0D8"/>
                      </a:solidFill>
                      <a:prstDash val="solid"/>
                      <a:round/>
                      <a:headEnd type="none" w="med" len="med"/>
                      <a:tailEnd type="none" w="med" len="med"/>
                    </a:lnR>
                    <a:lnT w="9525" cap="flat" cmpd="sng" algn="ctr">
                      <a:solidFill>
                        <a:srgbClr val="E4E0D8"/>
                      </a:solidFill>
                      <a:prstDash val="solid"/>
                      <a:round/>
                      <a:headEnd type="none" w="med" len="med"/>
                      <a:tailEnd type="none" w="med" len="med"/>
                    </a:lnT>
                    <a:lnB w="9525" cap="flat" cmpd="sng" algn="ctr">
                      <a:solidFill>
                        <a:srgbClr val="E4E0D8"/>
                      </a:solidFill>
                      <a:prstDash val="solid"/>
                      <a:round/>
                      <a:headEnd type="none" w="med" len="med"/>
                      <a:tailEnd type="none" w="med" len="med"/>
                    </a:lnB>
                    <a:solidFill>
                      <a:srgbClr val="1B1A17"/>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Interpretation</a:t>
                      </a:r>
                      <a:endParaRPr lang="en-US" sz="1250" dirty="0">
                        <a:latin typeface="Calibri" charset="0"/>
                        <a:ea typeface="Calibri" charset="0"/>
                        <a:cs typeface="Calibri" charset="0"/>
                      </a:endParaRPr>
                    </a:p>
                  </a:txBody>
                  <a:tcPr marL="91440" marR="91440" marT="45720" marB="45720" anchor="ctr">
                    <a:lnL w="9525" cap="flat" cmpd="sng" algn="ctr">
                      <a:solidFill>
                        <a:srgbClr val="E4E0D8"/>
                      </a:solidFill>
                      <a:prstDash val="solid"/>
                      <a:round/>
                      <a:headEnd type="none" w="med" len="med"/>
                      <a:tailEnd type="none" w="med" len="med"/>
                    </a:lnL>
                    <a:lnR w="9525" cap="flat" cmpd="sng" algn="ctr">
                      <a:solidFill>
                        <a:srgbClr val="E4E0D8"/>
                      </a:solidFill>
                      <a:prstDash val="solid"/>
                      <a:round/>
                      <a:headEnd type="none" w="med" len="med"/>
                      <a:tailEnd type="none" w="med" len="med"/>
                    </a:lnR>
                    <a:lnT w="9525" cap="flat" cmpd="sng" algn="ctr">
                      <a:solidFill>
                        <a:srgbClr val="E4E0D8"/>
                      </a:solidFill>
                      <a:prstDash val="solid"/>
                      <a:round/>
                      <a:headEnd type="none" w="med" len="med"/>
                      <a:tailEnd type="none" w="med" len="med"/>
                    </a:lnT>
                    <a:lnB w="9525" cap="flat" cmpd="sng" algn="ctr">
                      <a:solidFill>
                        <a:srgbClr val="E4E0D8"/>
                      </a:solidFill>
                      <a:prstDash val="solid"/>
                      <a:round/>
                      <a:headEnd type="none" w="med" len="med"/>
                      <a:tailEnd type="none" w="med" len="med"/>
                    </a:lnB>
                    <a:solidFill>
                      <a:srgbClr val="1B1A17"/>
                    </a:solidFill>
                  </a:tcPr>
                </a:tc>
              </a:tr>
              <a:tr h="457200">
                <a:tc>
                  <a:txBody>
                    <a:bodyPr/>
                    <a:lstStyle/>
                    <a:p>
                      <a:pPr indent="0" marL="0">
                        <a:buNone/>
                      </a:pPr>
                      <a:r>
                        <a:rPr lang="en-US" sz="1250" dirty="0">
                          <a:solidFill>
                            <a:srgbClr val="1B1A17"/>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E4E0D8"/>
                      </a:solidFill>
                      <a:prstDash val="solid"/>
                      <a:round/>
                      <a:headEnd type="none" w="med" len="med"/>
                      <a:tailEnd type="none" w="med" len="med"/>
                    </a:lnL>
                    <a:lnR w="9525" cap="flat" cmpd="sng" algn="ctr">
                      <a:solidFill>
                        <a:srgbClr val="E4E0D8"/>
                      </a:solidFill>
                      <a:prstDash val="solid"/>
                      <a:round/>
                      <a:headEnd type="none" w="med" len="med"/>
                      <a:tailEnd type="none" w="med" len="med"/>
                    </a:lnR>
                    <a:lnT w="9525" cap="flat" cmpd="sng" algn="ctr">
                      <a:solidFill>
                        <a:srgbClr val="E4E0D8"/>
                      </a:solidFill>
                      <a:prstDash val="solid"/>
                      <a:round/>
                      <a:headEnd type="none" w="med" len="med"/>
                      <a:tailEnd type="none" w="med" len="med"/>
                    </a:lnT>
                    <a:lnB w="9525" cap="flat" cmpd="sng" algn="ctr">
                      <a:solidFill>
                        <a:srgbClr val="E4E0D8"/>
                      </a:solidFill>
                      <a:prstDash val="solid"/>
                      <a:round/>
                      <a:headEnd type="none" w="med" len="med"/>
                      <a:tailEnd type="none" w="med" len="med"/>
                    </a:lnB>
                    <a:solidFill>
                      <a:srgbClr val="F7F4EF"/>
                    </a:solidFill>
                  </a:tcPr>
                </a:tc>
                <a:tc>
                  <a:txBody>
                    <a:bodyPr/>
                    <a:lstStyle/>
                    <a:p>
                      <a:pPr indent="0" marL="0">
                        <a:buNone/>
                      </a:pPr>
                      <a:r>
                        <a:rPr lang="en-US" sz="1250" dirty="0">
                          <a:solidFill>
                            <a:srgbClr val="1B1A17"/>
                          </a:solidFill>
                          <a:latin typeface="Calibri" pitchFamily="34" charset="0"/>
                          <a:ea typeface="Calibri" pitchFamily="34" charset="-122"/>
                          <a:cs typeface="Calibri" pitchFamily="34" charset="-120"/>
                        </a:rPr>
                        <a:t>3.26 to 4.00</a:t>
                      </a:r>
                      <a:endParaRPr lang="en-US" sz="1250" dirty="0">
                        <a:latin typeface="Calibri" charset="0"/>
                        <a:ea typeface="Calibri" charset="0"/>
                        <a:cs typeface="Calibri" charset="0"/>
                      </a:endParaRPr>
                    </a:p>
                  </a:txBody>
                  <a:tcPr marL="91440" marR="91440" marT="45720" marB="45720" anchor="ctr">
                    <a:lnL w="9525" cap="flat" cmpd="sng" algn="ctr">
                      <a:solidFill>
                        <a:srgbClr val="E4E0D8"/>
                      </a:solidFill>
                      <a:prstDash val="solid"/>
                      <a:round/>
                      <a:headEnd type="none" w="med" len="med"/>
                      <a:tailEnd type="none" w="med" len="med"/>
                    </a:lnL>
                    <a:lnR w="9525" cap="flat" cmpd="sng" algn="ctr">
                      <a:solidFill>
                        <a:srgbClr val="E4E0D8"/>
                      </a:solidFill>
                      <a:prstDash val="solid"/>
                      <a:round/>
                      <a:headEnd type="none" w="med" len="med"/>
                      <a:tailEnd type="none" w="med" len="med"/>
                    </a:lnR>
                    <a:lnT w="9525" cap="flat" cmpd="sng" algn="ctr">
                      <a:solidFill>
                        <a:srgbClr val="E4E0D8"/>
                      </a:solidFill>
                      <a:prstDash val="solid"/>
                      <a:round/>
                      <a:headEnd type="none" w="med" len="med"/>
                      <a:tailEnd type="none" w="med" len="med"/>
                    </a:lnT>
                    <a:lnB w="9525" cap="flat" cmpd="sng" algn="ctr">
                      <a:solidFill>
                        <a:srgbClr val="E4E0D8"/>
                      </a:solidFill>
                      <a:prstDash val="solid"/>
                      <a:round/>
                      <a:headEnd type="none" w="med" len="med"/>
                      <a:tailEnd type="none" w="med" len="med"/>
                    </a:lnB>
                    <a:solidFill>
                      <a:srgbClr val="F7F4EF"/>
                    </a:solidFill>
                  </a:tcPr>
                </a:tc>
                <a:tc>
                  <a:txBody>
                    <a:bodyPr/>
                    <a:lstStyle/>
                    <a:p>
                      <a:pPr indent="0" marL="0">
                        <a:buNone/>
                      </a:pPr>
                      <a:r>
                        <a:rPr lang="en-US" sz="1250" dirty="0">
                          <a:solidFill>
                            <a:srgbClr val="1B1A17"/>
                          </a:solidFill>
                          <a:latin typeface="Calibri" pitchFamily="34" charset="0"/>
                          <a:ea typeface="Calibri" pitchFamily="34" charset="-122"/>
                          <a:cs typeface="Calibri" pitchFamily="34" charset="-120"/>
                        </a:rPr>
                        <a:t>Highly Acceptable</a:t>
                      </a:r>
                      <a:endParaRPr lang="en-US" sz="1250" dirty="0">
                        <a:latin typeface="Calibri" charset="0"/>
                        <a:ea typeface="Calibri" charset="0"/>
                        <a:cs typeface="Calibri" charset="0"/>
                      </a:endParaRPr>
                    </a:p>
                  </a:txBody>
                  <a:tcPr marL="91440" marR="91440" marT="45720" marB="45720" anchor="ctr">
                    <a:lnL w="9525" cap="flat" cmpd="sng" algn="ctr">
                      <a:solidFill>
                        <a:srgbClr val="E4E0D8"/>
                      </a:solidFill>
                      <a:prstDash val="solid"/>
                      <a:round/>
                      <a:headEnd type="none" w="med" len="med"/>
                      <a:tailEnd type="none" w="med" len="med"/>
                    </a:lnL>
                    <a:lnR w="9525" cap="flat" cmpd="sng" algn="ctr">
                      <a:solidFill>
                        <a:srgbClr val="E4E0D8"/>
                      </a:solidFill>
                      <a:prstDash val="solid"/>
                      <a:round/>
                      <a:headEnd type="none" w="med" len="med"/>
                      <a:tailEnd type="none" w="med" len="med"/>
                    </a:lnR>
                    <a:lnT w="9525" cap="flat" cmpd="sng" algn="ctr">
                      <a:solidFill>
                        <a:srgbClr val="E4E0D8"/>
                      </a:solidFill>
                      <a:prstDash val="solid"/>
                      <a:round/>
                      <a:headEnd type="none" w="med" len="med"/>
                      <a:tailEnd type="none" w="med" len="med"/>
                    </a:lnT>
                    <a:lnB w="9525" cap="flat" cmpd="sng" algn="ctr">
                      <a:solidFill>
                        <a:srgbClr val="E4E0D8"/>
                      </a:solidFill>
                      <a:prstDash val="solid"/>
                      <a:round/>
                      <a:headEnd type="none" w="med" len="med"/>
                      <a:tailEnd type="none" w="med" len="med"/>
                    </a:lnB>
                    <a:solidFill>
                      <a:srgbClr val="F7F4EF"/>
                    </a:solidFill>
                  </a:tcPr>
                </a:tc>
              </a:tr>
              <a:tr h="457200">
                <a:tc>
                  <a:txBody>
                    <a:bodyPr/>
                    <a:lstStyle/>
                    <a:p>
                      <a:pPr indent="0" marL="0">
                        <a:buNone/>
                      </a:pPr>
                      <a:r>
                        <a:rPr lang="en-US" sz="1250" dirty="0">
                          <a:solidFill>
                            <a:srgbClr val="1B1A17"/>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E4E0D8"/>
                      </a:solidFill>
                      <a:prstDash val="solid"/>
                      <a:round/>
                      <a:headEnd type="none" w="med" len="med"/>
                      <a:tailEnd type="none" w="med" len="med"/>
                    </a:lnL>
                    <a:lnR w="9525" cap="flat" cmpd="sng" algn="ctr">
                      <a:solidFill>
                        <a:srgbClr val="E4E0D8"/>
                      </a:solidFill>
                      <a:prstDash val="solid"/>
                      <a:round/>
                      <a:headEnd type="none" w="med" len="med"/>
                      <a:tailEnd type="none" w="med" len="med"/>
                    </a:lnR>
                    <a:lnT w="9525" cap="flat" cmpd="sng" algn="ctr">
                      <a:solidFill>
                        <a:srgbClr val="E4E0D8"/>
                      </a:solidFill>
                      <a:prstDash val="solid"/>
                      <a:round/>
                      <a:headEnd type="none" w="med" len="med"/>
                      <a:tailEnd type="none" w="med" len="med"/>
                    </a:lnT>
                    <a:lnB w="9525" cap="flat" cmpd="sng" algn="ctr">
                      <a:solidFill>
                        <a:srgbClr val="E4E0D8"/>
                      </a:solidFill>
                      <a:prstDash val="solid"/>
                      <a:round/>
                      <a:headEnd type="none" w="med" len="med"/>
                      <a:tailEnd type="none" w="med" len="med"/>
                    </a:lnB>
                    <a:solidFill>
                      <a:srgbClr val="FFFFFF"/>
                    </a:solidFill>
                  </a:tcPr>
                </a:tc>
                <a:tc>
                  <a:txBody>
                    <a:bodyPr/>
                    <a:lstStyle/>
                    <a:p>
                      <a:pPr indent="0" marL="0">
                        <a:buNone/>
                      </a:pPr>
                      <a:r>
                        <a:rPr lang="en-US" sz="1250" dirty="0">
                          <a:solidFill>
                            <a:srgbClr val="1B1A17"/>
                          </a:solidFill>
                          <a:latin typeface="Calibri" pitchFamily="34" charset="0"/>
                          <a:ea typeface="Calibri" pitchFamily="34" charset="-122"/>
                          <a:cs typeface="Calibri" pitchFamily="34" charset="-120"/>
                        </a:rPr>
                        <a:t>2.51 to 3.25</a:t>
                      </a:r>
                      <a:endParaRPr lang="en-US" sz="1250" dirty="0">
                        <a:latin typeface="Calibri" charset="0"/>
                        <a:ea typeface="Calibri" charset="0"/>
                        <a:cs typeface="Calibri" charset="0"/>
                      </a:endParaRPr>
                    </a:p>
                  </a:txBody>
                  <a:tcPr marL="91440" marR="91440" marT="45720" marB="45720" anchor="ctr">
                    <a:lnL w="9525" cap="flat" cmpd="sng" algn="ctr">
                      <a:solidFill>
                        <a:srgbClr val="E4E0D8"/>
                      </a:solidFill>
                      <a:prstDash val="solid"/>
                      <a:round/>
                      <a:headEnd type="none" w="med" len="med"/>
                      <a:tailEnd type="none" w="med" len="med"/>
                    </a:lnL>
                    <a:lnR w="9525" cap="flat" cmpd="sng" algn="ctr">
                      <a:solidFill>
                        <a:srgbClr val="E4E0D8"/>
                      </a:solidFill>
                      <a:prstDash val="solid"/>
                      <a:round/>
                      <a:headEnd type="none" w="med" len="med"/>
                      <a:tailEnd type="none" w="med" len="med"/>
                    </a:lnR>
                    <a:lnT w="9525" cap="flat" cmpd="sng" algn="ctr">
                      <a:solidFill>
                        <a:srgbClr val="E4E0D8"/>
                      </a:solidFill>
                      <a:prstDash val="solid"/>
                      <a:round/>
                      <a:headEnd type="none" w="med" len="med"/>
                      <a:tailEnd type="none" w="med" len="med"/>
                    </a:lnT>
                    <a:lnB w="9525" cap="flat" cmpd="sng" algn="ctr">
                      <a:solidFill>
                        <a:srgbClr val="E4E0D8"/>
                      </a:solidFill>
                      <a:prstDash val="solid"/>
                      <a:round/>
                      <a:headEnd type="none" w="med" len="med"/>
                      <a:tailEnd type="none" w="med" len="med"/>
                    </a:lnB>
                    <a:solidFill>
                      <a:srgbClr val="FFFFFF"/>
                    </a:solidFill>
                  </a:tcPr>
                </a:tc>
                <a:tc>
                  <a:txBody>
                    <a:bodyPr/>
                    <a:lstStyle/>
                    <a:p>
                      <a:pPr indent="0" marL="0">
                        <a:buNone/>
                      </a:pPr>
                      <a:r>
                        <a:rPr lang="en-US" sz="1250" dirty="0">
                          <a:solidFill>
                            <a:srgbClr val="1B1A17"/>
                          </a:solidFill>
                          <a:latin typeface="Calibri" pitchFamily="34" charset="0"/>
                          <a:ea typeface="Calibri" pitchFamily="34" charset="-122"/>
                          <a:cs typeface="Calibri" pitchFamily="34" charset="-120"/>
                        </a:rPr>
                        <a:t>Acceptable</a:t>
                      </a:r>
                      <a:endParaRPr lang="en-US" sz="1250" dirty="0">
                        <a:latin typeface="Calibri" charset="0"/>
                        <a:ea typeface="Calibri" charset="0"/>
                        <a:cs typeface="Calibri" charset="0"/>
                      </a:endParaRPr>
                    </a:p>
                  </a:txBody>
                  <a:tcPr marL="91440" marR="91440" marT="45720" marB="45720" anchor="ctr">
                    <a:lnL w="9525" cap="flat" cmpd="sng" algn="ctr">
                      <a:solidFill>
                        <a:srgbClr val="E4E0D8"/>
                      </a:solidFill>
                      <a:prstDash val="solid"/>
                      <a:round/>
                      <a:headEnd type="none" w="med" len="med"/>
                      <a:tailEnd type="none" w="med" len="med"/>
                    </a:lnL>
                    <a:lnR w="9525" cap="flat" cmpd="sng" algn="ctr">
                      <a:solidFill>
                        <a:srgbClr val="E4E0D8"/>
                      </a:solidFill>
                      <a:prstDash val="solid"/>
                      <a:round/>
                      <a:headEnd type="none" w="med" len="med"/>
                      <a:tailEnd type="none" w="med" len="med"/>
                    </a:lnR>
                    <a:lnT w="9525" cap="flat" cmpd="sng" algn="ctr">
                      <a:solidFill>
                        <a:srgbClr val="E4E0D8"/>
                      </a:solidFill>
                      <a:prstDash val="solid"/>
                      <a:round/>
                      <a:headEnd type="none" w="med" len="med"/>
                      <a:tailEnd type="none" w="med" len="med"/>
                    </a:lnT>
                    <a:lnB w="9525" cap="flat" cmpd="sng" algn="ctr">
                      <a:solidFill>
                        <a:srgbClr val="E4E0D8"/>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1A17"/>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E4E0D8"/>
                      </a:solidFill>
                      <a:prstDash val="solid"/>
                      <a:round/>
                      <a:headEnd type="none" w="med" len="med"/>
                      <a:tailEnd type="none" w="med" len="med"/>
                    </a:lnL>
                    <a:lnR w="9525" cap="flat" cmpd="sng" algn="ctr">
                      <a:solidFill>
                        <a:srgbClr val="E4E0D8"/>
                      </a:solidFill>
                      <a:prstDash val="solid"/>
                      <a:round/>
                      <a:headEnd type="none" w="med" len="med"/>
                      <a:tailEnd type="none" w="med" len="med"/>
                    </a:lnR>
                    <a:lnT w="9525" cap="flat" cmpd="sng" algn="ctr">
                      <a:solidFill>
                        <a:srgbClr val="E4E0D8"/>
                      </a:solidFill>
                      <a:prstDash val="solid"/>
                      <a:round/>
                      <a:headEnd type="none" w="med" len="med"/>
                      <a:tailEnd type="none" w="med" len="med"/>
                    </a:lnT>
                    <a:lnB w="9525" cap="flat" cmpd="sng" algn="ctr">
                      <a:solidFill>
                        <a:srgbClr val="E4E0D8"/>
                      </a:solidFill>
                      <a:prstDash val="solid"/>
                      <a:round/>
                      <a:headEnd type="none" w="med" len="med"/>
                      <a:tailEnd type="none" w="med" len="med"/>
                    </a:lnB>
                    <a:solidFill>
                      <a:srgbClr val="F7F4EF"/>
                    </a:solidFill>
                  </a:tcPr>
                </a:tc>
                <a:tc>
                  <a:txBody>
                    <a:bodyPr/>
                    <a:lstStyle/>
                    <a:p>
                      <a:pPr indent="0" marL="0">
                        <a:buNone/>
                      </a:pPr>
                      <a:r>
                        <a:rPr lang="en-US" sz="1250" dirty="0">
                          <a:solidFill>
                            <a:srgbClr val="1B1A17"/>
                          </a:solidFill>
                          <a:latin typeface="Calibri" pitchFamily="34" charset="0"/>
                          <a:ea typeface="Calibri" pitchFamily="34" charset="-122"/>
                          <a:cs typeface="Calibri" pitchFamily="34" charset="-120"/>
                        </a:rPr>
                        <a:t>1.76 to 2.50</a:t>
                      </a:r>
                      <a:endParaRPr lang="en-US" sz="1250" dirty="0">
                        <a:latin typeface="Calibri" charset="0"/>
                        <a:ea typeface="Calibri" charset="0"/>
                        <a:cs typeface="Calibri" charset="0"/>
                      </a:endParaRPr>
                    </a:p>
                  </a:txBody>
                  <a:tcPr marL="91440" marR="91440" marT="45720" marB="45720" anchor="ctr">
                    <a:lnL w="9525" cap="flat" cmpd="sng" algn="ctr">
                      <a:solidFill>
                        <a:srgbClr val="E4E0D8"/>
                      </a:solidFill>
                      <a:prstDash val="solid"/>
                      <a:round/>
                      <a:headEnd type="none" w="med" len="med"/>
                      <a:tailEnd type="none" w="med" len="med"/>
                    </a:lnL>
                    <a:lnR w="9525" cap="flat" cmpd="sng" algn="ctr">
                      <a:solidFill>
                        <a:srgbClr val="E4E0D8"/>
                      </a:solidFill>
                      <a:prstDash val="solid"/>
                      <a:round/>
                      <a:headEnd type="none" w="med" len="med"/>
                      <a:tailEnd type="none" w="med" len="med"/>
                    </a:lnR>
                    <a:lnT w="9525" cap="flat" cmpd="sng" algn="ctr">
                      <a:solidFill>
                        <a:srgbClr val="E4E0D8"/>
                      </a:solidFill>
                      <a:prstDash val="solid"/>
                      <a:round/>
                      <a:headEnd type="none" w="med" len="med"/>
                      <a:tailEnd type="none" w="med" len="med"/>
                    </a:lnT>
                    <a:lnB w="9525" cap="flat" cmpd="sng" algn="ctr">
                      <a:solidFill>
                        <a:srgbClr val="E4E0D8"/>
                      </a:solidFill>
                      <a:prstDash val="solid"/>
                      <a:round/>
                      <a:headEnd type="none" w="med" len="med"/>
                      <a:tailEnd type="none" w="med" len="med"/>
                    </a:lnB>
                    <a:solidFill>
                      <a:srgbClr val="F7F4EF"/>
                    </a:solidFill>
                  </a:tcPr>
                </a:tc>
                <a:tc>
                  <a:txBody>
                    <a:bodyPr/>
                    <a:lstStyle/>
                    <a:p>
                      <a:pPr indent="0" marL="0">
                        <a:buNone/>
                      </a:pPr>
                      <a:r>
                        <a:rPr lang="en-US" sz="1250" dirty="0">
                          <a:solidFill>
                            <a:srgbClr val="1B1A17"/>
                          </a:solidFill>
                          <a:latin typeface="Calibri" pitchFamily="34" charset="0"/>
                          <a:ea typeface="Calibri" pitchFamily="34" charset="-122"/>
                          <a:cs typeface="Calibri" pitchFamily="34" charset="-120"/>
                        </a:rPr>
                        <a:t>Slightly Acceptable</a:t>
                      </a:r>
                      <a:endParaRPr lang="en-US" sz="1250" dirty="0">
                        <a:latin typeface="Calibri" charset="0"/>
                        <a:ea typeface="Calibri" charset="0"/>
                        <a:cs typeface="Calibri" charset="0"/>
                      </a:endParaRPr>
                    </a:p>
                  </a:txBody>
                  <a:tcPr marL="91440" marR="91440" marT="45720" marB="45720" anchor="ctr">
                    <a:lnL w="9525" cap="flat" cmpd="sng" algn="ctr">
                      <a:solidFill>
                        <a:srgbClr val="E4E0D8"/>
                      </a:solidFill>
                      <a:prstDash val="solid"/>
                      <a:round/>
                      <a:headEnd type="none" w="med" len="med"/>
                      <a:tailEnd type="none" w="med" len="med"/>
                    </a:lnL>
                    <a:lnR w="9525" cap="flat" cmpd="sng" algn="ctr">
                      <a:solidFill>
                        <a:srgbClr val="E4E0D8"/>
                      </a:solidFill>
                      <a:prstDash val="solid"/>
                      <a:round/>
                      <a:headEnd type="none" w="med" len="med"/>
                      <a:tailEnd type="none" w="med" len="med"/>
                    </a:lnR>
                    <a:lnT w="9525" cap="flat" cmpd="sng" algn="ctr">
                      <a:solidFill>
                        <a:srgbClr val="E4E0D8"/>
                      </a:solidFill>
                      <a:prstDash val="solid"/>
                      <a:round/>
                      <a:headEnd type="none" w="med" len="med"/>
                      <a:tailEnd type="none" w="med" len="med"/>
                    </a:lnT>
                    <a:lnB w="9525" cap="flat" cmpd="sng" algn="ctr">
                      <a:solidFill>
                        <a:srgbClr val="E4E0D8"/>
                      </a:solidFill>
                      <a:prstDash val="solid"/>
                      <a:round/>
                      <a:headEnd type="none" w="med" len="med"/>
                      <a:tailEnd type="none" w="med" len="med"/>
                    </a:lnB>
                    <a:solidFill>
                      <a:srgbClr val="F7F4EF"/>
                    </a:solidFill>
                  </a:tcPr>
                </a:tc>
              </a:tr>
              <a:tr h="457200">
                <a:tc>
                  <a:txBody>
                    <a:bodyPr/>
                    <a:lstStyle/>
                    <a:p>
                      <a:pPr indent="0" marL="0">
                        <a:buNone/>
                      </a:pPr>
                      <a:r>
                        <a:rPr lang="en-US" sz="1250" dirty="0">
                          <a:solidFill>
                            <a:srgbClr val="1B1A17"/>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E4E0D8"/>
                      </a:solidFill>
                      <a:prstDash val="solid"/>
                      <a:round/>
                      <a:headEnd type="none" w="med" len="med"/>
                      <a:tailEnd type="none" w="med" len="med"/>
                    </a:lnL>
                    <a:lnR w="9525" cap="flat" cmpd="sng" algn="ctr">
                      <a:solidFill>
                        <a:srgbClr val="E4E0D8"/>
                      </a:solidFill>
                      <a:prstDash val="solid"/>
                      <a:round/>
                      <a:headEnd type="none" w="med" len="med"/>
                      <a:tailEnd type="none" w="med" len="med"/>
                    </a:lnR>
                    <a:lnT w="9525" cap="flat" cmpd="sng" algn="ctr">
                      <a:solidFill>
                        <a:srgbClr val="E4E0D8"/>
                      </a:solidFill>
                      <a:prstDash val="solid"/>
                      <a:round/>
                      <a:headEnd type="none" w="med" len="med"/>
                      <a:tailEnd type="none" w="med" len="med"/>
                    </a:lnT>
                    <a:lnB w="9525" cap="flat" cmpd="sng" algn="ctr">
                      <a:solidFill>
                        <a:srgbClr val="E4E0D8"/>
                      </a:solidFill>
                      <a:prstDash val="solid"/>
                      <a:round/>
                      <a:headEnd type="none" w="med" len="med"/>
                      <a:tailEnd type="none" w="med" len="med"/>
                    </a:lnB>
                    <a:solidFill>
                      <a:srgbClr val="FFFFFF"/>
                    </a:solidFill>
                  </a:tcPr>
                </a:tc>
                <a:tc>
                  <a:txBody>
                    <a:bodyPr/>
                    <a:lstStyle/>
                    <a:p>
                      <a:pPr indent="0" marL="0">
                        <a:buNone/>
                      </a:pPr>
                      <a:r>
                        <a:rPr lang="en-US" sz="1250" dirty="0">
                          <a:solidFill>
                            <a:srgbClr val="1B1A17"/>
                          </a:solidFill>
                          <a:latin typeface="Calibri" pitchFamily="34" charset="0"/>
                          <a:ea typeface="Calibri" pitchFamily="34" charset="-122"/>
                          <a:cs typeface="Calibri" pitchFamily="34" charset="-120"/>
                        </a:rPr>
                        <a:t>1.00 to 1.75</a:t>
                      </a:r>
                      <a:endParaRPr lang="en-US" sz="1250" dirty="0">
                        <a:latin typeface="Calibri" charset="0"/>
                        <a:ea typeface="Calibri" charset="0"/>
                        <a:cs typeface="Calibri" charset="0"/>
                      </a:endParaRPr>
                    </a:p>
                  </a:txBody>
                  <a:tcPr marL="91440" marR="91440" marT="45720" marB="45720" anchor="ctr">
                    <a:lnL w="9525" cap="flat" cmpd="sng" algn="ctr">
                      <a:solidFill>
                        <a:srgbClr val="E4E0D8"/>
                      </a:solidFill>
                      <a:prstDash val="solid"/>
                      <a:round/>
                      <a:headEnd type="none" w="med" len="med"/>
                      <a:tailEnd type="none" w="med" len="med"/>
                    </a:lnL>
                    <a:lnR w="9525" cap="flat" cmpd="sng" algn="ctr">
                      <a:solidFill>
                        <a:srgbClr val="E4E0D8"/>
                      </a:solidFill>
                      <a:prstDash val="solid"/>
                      <a:round/>
                      <a:headEnd type="none" w="med" len="med"/>
                      <a:tailEnd type="none" w="med" len="med"/>
                    </a:lnR>
                    <a:lnT w="9525" cap="flat" cmpd="sng" algn="ctr">
                      <a:solidFill>
                        <a:srgbClr val="E4E0D8"/>
                      </a:solidFill>
                      <a:prstDash val="solid"/>
                      <a:round/>
                      <a:headEnd type="none" w="med" len="med"/>
                      <a:tailEnd type="none" w="med" len="med"/>
                    </a:lnT>
                    <a:lnB w="9525" cap="flat" cmpd="sng" algn="ctr">
                      <a:solidFill>
                        <a:srgbClr val="E4E0D8"/>
                      </a:solidFill>
                      <a:prstDash val="solid"/>
                      <a:round/>
                      <a:headEnd type="none" w="med" len="med"/>
                      <a:tailEnd type="none" w="med" len="med"/>
                    </a:lnB>
                    <a:solidFill>
                      <a:srgbClr val="FFFFFF"/>
                    </a:solidFill>
                  </a:tcPr>
                </a:tc>
                <a:tc>
                  <a:txBody>
                    <a:bodyPr/>
                    <a:lstStyle/>
                    <a:p>
                      <a:pPr indent="0" marL="0">
                        <a:buNone/>
                      </a:pPr>
                      <a:r>
                        <a:rPr lang="en-US" sz="1250" dirty="0">
                          <a:solidFill>
                            <a:srgbClr val="1B1A17"/>
                          </a:solidFill>
                          <a:latin typeface="Calibri" pitchFamily="34" charset="0"/>
                          <a:ea typeface="Calibri" pitchFamily="34" charset="-122"/>
                          <a:cs typeface="Calibri" pitchFamily="34" charset="-120"/>
                        </a:rPr>
                        <a:t>Not Acceptable</a:t>
                      </a:r>
                      <a:endParaRPr lang="en-US" sz="1250" dirty="0">
                        <a:latin typeface="Calibri" charset="0"/>
                        <a:ea typeface="Calibri" charset="0"/>
                        <a:cs typeface="Calibri" charset="0"/>
                      </a:endParaRPr>
                    </a:p>
                  </a:txBody>
                  <a:tcPr marL="91440" marR="91440" marT="45720" marB="45720" anchor="ctr">
                    <a:lnL w="9525" cap="flat" cmpd="sng" algn="ctr">
                      <a:solidFill>
                        <a:srgbClr val="E4E0D8"/>
                      </a:solidFill>
                      <a:prstDash val="solid"/>
                      <a:round/>
                      <a:headEnd type="none" w="med" len="med"/>
                      <a:tailEnd type="none" w="med" len="med"/>
                    </a:lnL>
                    <a:lnR w="9525" cap="flat" cmpd="sng" algn="ctr">
                      <a:solidFill>
                        <a:srgbClr val="E4E0D8"/>
                      </a:solidFill>
                      <a:prstDash val="solid"/>
                      <a:round/>
                      <a:headEnd type="none" w="med" len="med"/>
                      <a:tailEnd type="none" w="med" len="med"/>
                    </a:lnR>
                    <a:lnT w="9525" cap="flat" cmpd="sng" algn="ctr">
                      <a:solidFill>
                        <a:srgbClr val="E4E0D8"/>
                      </a:solidFill>
                      <a:prstDash val="solid"/>
                      <a:round/>
                      <a:headEnd type="none" w="med" len="med"/>
                      <a:tailEnd type="none" w="med" len="med"/>
                    </a:lnT>
                    <a:lnB w="9525" cap="flat" cmpd="sng" algn="ctr">
                      <a:solidFill>
                        <a:srgbClr val="E4E0D8"/>
                      </a:solidFill>
                      <a:prstDash val="solid"/>
                      <a:round/>
                      <a:headEnd type="none" w="med" len="med"/>
                      <a:tailEnd type="none" w="med" len="med"/>
                    </a:lnB>
                    <a:solidFill>
                      <a:srgbClr val="FFFFFF"/>
                    </a:solidFill>
                  </a:tcPr>
                </a:tc>
              </a:tr>
            </a:tbl>
          </a:graphicData>
        </a:graphic>
      </p:graphicFrame>
      <p:sp>
        <p:nvSpPr>
          <p:cNvPr id="32" name="Text 24"/>
          <p:cNvSpPr txBox="1"/>
          <p:nvPr/>
        </p:nvSpPr>
        <p:spPr>
          <a:xfrm>
            <a:off x="8046720" y="4572000"/>
            <a:ext cx="3566160" cy="548640"/>
          </a:xfrm>
          <a:prstGeom prst="rect">
            <a:avLst/>
          </a:prstGeom>
          <a:noFill/>
          <a:ln/>
        </p:spPr>
        <p:txBody>
          <a:bodyPr wrap="square" lIns="0" tIns="0" rIns="0" bIns="0" rtlCol="0" anchor="ctr"/>
          <a:lstStyle/>
          <a:p>
            <a:pPr indent="0" marL="0">
              <a:buNone/>
            </a:pPr>
            <a:r>
              <a:rPr lang="en-US" sz="1100" i="1" dirty="0">
                <a:solidFill>
                  <a:srgbClr val="1B1A17"/>
                </a:solidFill>
                <a:highlight>
                  <a:srgbClr val="FFFF00"/>
                </a:highlight>
                <a:latin typeface="Calibri" pitchFamily="34" charset="0"/>
                <a:ea typeface="Calibri" pitchFamily="34" charset="-122"/>
                <a:cs typeface="Calibri" pitchFamily="34" charset="-120"/>
              </a:rPr>
              <a:t>Proposed scale. Confirm the ranges and descriptors with your adviser.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B1A17"/>
                </a:solidFill>
                <a:latin typeface="Cambria" pitchFamily="34" charset="0"/>
                <a:ea typeface="Cambria" pitchFamily="34" charset="-122"/>
                <a:cs typeface="Cambria" pitchFamily="34" charset="-120"/>
              </a:rPr>
              <a:t>Proposed title options for approval</a:t>
            </a:r>
            <a:endParaRPr lang="en-US" sz="34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dirty="0">
                <a:solidFill>
                  <a:srgbClr val="6F6A60"/>
                </a:solidFill>
                <a:latin typeface="Calibri" pitchFamily="34" charset="0"/>
                <a:ea typeface="Calibri" pitchFamily="34" charset="-122"/>
                <a:cs typeface="Calibri" pitchFamily="34" charset="-120"/>
              </a:rPr>
              <a:t>We prepared three options for the adviser's guidance</a:t>
            </a:r>
            <a:endParaRPr lang="en-US" sz="1600" dirty="0"/>
          </a:p>
        </p:txBody>
      </p:sp>
      <p:sp>
        <p:nvSpPr>
          <p:cNvPr id="4" name="Shape 2"/>
          <p:cNvSpPr/>
          <p:nvPr/>
        </p:nvSpPr>
        <p:spPr>
          <a:xfrm>
            <a:off x="548640" y="1737360"/>
            <a:ext cx="3520440" cy="3749040"/>
          </a:xfrm>
          <a:prstGeom prst="roundRect">
            <a:avLst>
              <a:gd name="adj" fmla="val 3117"/>
            </a:avLst>
          </a:prstGeom>
          <a:solidFill>
            <a:srgbClr val="1B1A17"/>
          </a:solidFill>
          <a:ln w="12700">
            <a:solidFill>
              <a:srgbClr val="1B1A17"/>
            </a:solidFill>
            <a:prstDash val="solid"/>
          </a:ln>
        </p:spPr>
      </p:sp>
      <p:sp>
        <p:nvSpPr>
          <p:cNvPr id="5" name="Text 3"/>
          <p:cNvSpPr txBox="1"/>
          <p:nvPr/>
        </p:nvSpPr>
        <p:spPr>
          <a:xfrm>
            <a:off x="822960" y="1965960"/>
            <a:ext cx="3017520" cy="320040"/>
          </a:xfrm>
          <a:prstGeom prst="rect">
            <a:avLst/>
          </a:prstGeom>
          <a:noFill/>
          <a:ln/>
        </p:spPr>
        <p:txBody>
          <a:bodyPr wrap="square" lIns="0" tIns="0" rIns="0" bIns="0"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OPTION 1  ·  RECOMMENDED</a:t>
            </a:r>
            <a:endParaRPr lang="en-US" sz="1100" dirty="0"/>
          </a:p>
        </p:txBody>
      </p:sp>
      <p:sp>
        <p:nvSpPr>
          <p:cNvPr id="6" name="Text 4"/>
          <p:cNvSpPr txBox="1"/>
          <p:nvPr/>
        </p:nvSpPr>
        <p:spPr>
          <a:xfrm>
            <a:off x="822960" y="2331720"/>
            <a:ext cx="301752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BarberBook PH</a:t>
            </a:r>
            <a:endParaRPr lang="en-US" sz="3000" dirty="0"/>
          </a:p>
        </p:txBody>
      </p:sp>
      <p:sp>
        <p:nvSpPr>
          <p:cNvPr id="7" name="Text 5"/>
          <p:cNvSpPr txBox="1"/>
          <p:nvPr/>
        </p:nvSpPr>
        <p:spPr>
          <a:xfrm>
            <a:off x="822960" y="3108960"/>
            <a:ext cx="3017520" cy="1828800"/>
          </a:xfrm>
          <a:prstGeom prst="rect">
            <a:avLst/>
          </a:prstGeom>
          <a:noFill/>
          <a:ln/>
        </p:spPr>
        <p:txBody>
          <a:bodyPr wrap="square" lIns="0" tIns="0" rIns="0" bIns="0" rtlCol="0" anchor="t"/>
          <a:lstStyle/>
          <a:p>
            <a:pPr indent="0" marL="0">
              <a:buNone/>
            </a:pPr>
            <a:r>
              <a:rPr lang="en-US" sz="1500" dirty="0">
                <a:solidFill>
                  <a:srgbClr val="F3E7D9"/>
                </a:solidFill>
                <a:latin typeface="Calibri" pitchFamily="34" charset="0"/>
                <a:ea typeface="Calibri" pitchFamily="34" charset="-122"/>
                <a:cs typeface="Calibri" pitchFamily="34" charset="-120"/>
              </a:rPr>
              <a:t>An Online Appointment and Haircut Preference System for Local Barbershops</a:t>
            </a:r>
            <a:endParaRPr lang="en-US" sz="1500" dirty="0"/>
          </a:p>
        </p:txBody>
      </p:sp>
      <p:sp>
        <p:nvSpPr>
          <p:cNvPr id="8" name="Text 6"/>
          <p:cNvSpPr txBox="1"/>
          <p:nvPr/>
        </p:nvSpPr>
        <p:spPr>
          <a:xfrm>
            <a:off x="822960" y="4572000"/>
            <a:ext cx="3017520" cy="822960"/>
          </a:xfrm>
          <a:prstGeom prst="rect">
            <a:avLst/>
          </a:prstGeom>
          <a:noFill/>
          <a:ln/>
        </p:spPr>
        <p:txBody>
          <a:bodyPr wrap="square" lIns="0" tIns="0" rIns="0" bIns="0" rtlCol="0" anchor="t"/>
          <a:lstStyle/>
          <a:p>
            <a:pPr indent="0" marL="0">
              <a:buNone/>
            </a:pPr>
            <a:r>
              <a:rPr lang="en-US" sz="1200" i="1" dirty="0">
                <a:solidFill>
                  <a:srgbClr val="B9B2A6"/>
                </a:solidFill>
                <a:latin typeface="Calibri" pitchFamily="34" charset="0"/>
                <a:ea typeface="Calibri" pitchFamily="34" charset="-122"/>
                <a:cs typeface="Calibri" pitchFamily="34" charset="-120"/>
              </a:rPr>
              <a:t>Current working title. Already matches the Statement of the Problem.</a:t>
            </a:r>
            <a:endParaRPr lang="en-US" sz="1200" dirty="0"/>
          </a:p>
        </p:txBody>
      </p:sp>
      <p:sp>
        <p:nvSpPr>
          <p:cNvPr id="9" name="Shape 7"/>
          <p:cNvSpPr/>
          <p:nvPr/>
        </p:nvSpPr>
        <p:spPr>
          <a:xfrm>
            <a:off x="4297680" y="1737360"/>
            <a:ext cx="3520440" cy="3749040"/>
          </a:xfrm>
          <a:prstGeom prst="roundRect">
            <a:avLst>
              <a:gd name="adj" fmla="val 3117"/>
            </a:avLst>
          </a:prstGeom>
          <a:solidFill>
            <a:srgbClr val="F7F4EF"/>
          </a:solidFill>
          <a:ln w="12700">
            <a:solidFill>
              <a:srgbClr val="E4E0D8"/>
            </a:solidFill>
            <a:prstDash val="solid"/>
          </a:ln>
        </p:spPr>
      </p:sp>
      <p:sp>
        <p:nvSpPr>
          <p:cNvPr id="10" name="Text 8"/>
          <p:cNvSpPr txBox="1"/>
          <p:nvPr/>
        </p:nvSpPr>
        <p:spPr>
          <a:xfrm>
            <a:off x="4572000" y="1965960"/>
            <a:ext cx="3017520" cy="320040"/>
          </a:xfrm>
          <a:prstGeom prst="rect">
            <a:avLst/>
          </a:prstGeom>
          <a:noFill/>
          <a:ln/>
        </p:spPr>
        <p:txBody>
          <a:bodyPr wrap="square" lIns="0" tIns="0" rIns="0" bIns="0"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OPTION 2</a:t>
            </a:r>
            <a:endParaRPr lang="en-US" sz="1100" dirty="0"/>
          </a:p>
        </p:txBody>
      </p:sp>
      <p:sp>
        <p:nvSpPr>
          <p:cNvPr id="11" name="Text 9"/>
          <p:cNvSpPr txBox="1"/>
          <p:nvPr/>
        </p:nvSpPr>
        <p:spPr>
          <a:xfrm>
            <a:off x="4572000" y="2331720"/>
            <a:ext cx="3017520" cy="685800"/>
          </a:xfrm>
          <a:prstGeom prst="rect">
            <a:avLst/>
          </a:prstGeom>
          <a:noFill/>
          <a:ln/>
        </p:spPr>
        <p:txBody>
          <a:bodyPr wrap="square" lIns="0" tIns="0" rIns="0" bIns="0" rtlCol="0" anchor="ctr"/>
          <a:lstStyle/>
          <a:p>
            <a:pPr indent="0" marL="0">
              <a:buNone/>
            </a:pPr>
            <a:r>
              <a:rPr lang="en-US" sz="3000" b="1" dirty="0">
                <a:solidFill>
                  <a:srgbClr val="8A5A2B"/>
                </a:solidFill>
                <a:latin typeface="Cambria" pitchFamily="34" charset="0"/>
                <a:ea typeface="Cambria" pitchFamily="34" charset="-122"/>
                <a:cs typeface="Cambria" pitchFamily="34" charset="-120"/>
              </a:rPr>
              <a:t>TrimTime</a:t>
            </a:r>
            <a:endParaRPr lang="en-US" sz="3000" dirty="0"/>
          </a:p>
        </p:txBody>
      </p:sp>
      <p:sp>
        <p:nvSpPr>
          <p:cNvPr id="12" name="Text 10"/>
          <p:cNvSpPr txBox="1"/>
          <p:nvPr/>
        </p:nvSpPr>
        <p:spPr>
          <a:xfrm>
            <a:off x="4572000" y="3108960"/>
            <a:ext cx="3017520" cy="1828800"/>
          </a:xfrm>
          <a:prstGeom prst="rect">
            <a:avLst/>
          </a:prstGeom>
          <a:noFill/>
          <a:ln/>
        </p:spPr>
        <p:txBody>
          <a:bodyPr wrap="square" lIns="0" tIns="0" rIns="0" bIns="0" rtlCol="0" anchor="t"/>
          <a:lstStyle/>
          <a:p>
            <a:pPr indent="0" marL="0">
              <a:buNone/>
            </a:pPr>
            <a:r>
              <a:rPr lang="en-US" sz="1500" dirty="0">
                <a:solidFill>
                  <a:srgbClr val="1B1A17"/>
                </a:solidFill>
                <a:latin typeface="Calibri" pitchFamily="34" charset="0"/>
                <a:ea typeface="Calibri" pitchFamily="34" charset="-122"/>
                <a:cs typeface="Calibri" pitchFamily="34" charset="-120"/>
              </a:rPr>
              <a:t>A Web-Based Appointment Scheduling and Hairstyle Preference Management System for Barbershops in [Municipality]</a:t>
            </a:r>
            <a:endParaRPr lang="en-US" sz="1500" dirty="0"/>
          </a:p>
        </p:txBody>
      </p:sp>
      <p:sp>
        <p:nvSpPr>
          <p:cNvPr id="13" name="Text 11"/>
          <p:cNvSpPr txBox="1"/>
          <p:nvPr/>
        </p:nvSpPr>
        <p:spPr>
          <a:xfrm>
            <a:off x="4572000" y="4572000"/>
            <a:ext cx="3017520" cy="822960"/>
          </a:xfrm>
          <a:prstGeom prst="rect">
            <a:avLst/>
          </a:prstGeom>
          <a:noFill/>
          <a:ln/>
        </p:spPr>
        <p:txBody>
          <a:bodyPr wrap="square" lIns="0" tIns="0" rIns="0" bIns="0" rtlCol="0" anchor="t"/>
          <a:lstStyle/>
          <a:p>
            <a:pPr indent="0" marL="0">
              <a:buNone/>
            </a:pPr>
            <a:r>
              <a:rPr lang="en-US" sz="1200" i="1" dirty="0">
                <a:solidFill>
                  <a:srgbClr val="6F6A60"/>
                </a:solidFill>
                <a:latin typeface="Calibri" pitchFamily="34" charset="0"/>
                <a:ea typeface="Calibri" pitchFamily="34" charset="-122"/>
                <a:cs typeface="Calibri" pitchFamily="34" charset="-120"/>
              </a:rPr>
              <a:t>More technical wording and a specific locale.</a:t>
            </a:r>
            <a:endParaRPr lang="en-US" sz="1200" dirty="0"/>
          </a:p>
        </p:txBody>
      </p:sp>
      <p:sp>
        <p:nvSpPr>
          <p:cNvPr id="14" name="Shape 12"/>
          <p:cNvSpPr/>
          <p:nvPr/>
        </p:nvSpPr>
        <p:spPr>
          <a:xfrm>
            <a:off x="8046720" y="1737360"/>
            <a:ext cx="3520440" cy="3749040"/>
          </a:xfrm>
          <a:prstGeom prst="roundRect">
            <a:avLst>
              <a:gd name="adj" fmla="val 3117"/>
            </a:avLst>
          </a:prstGeom>
          <a:solidFill>
            <a:srgbClr val="F7F4EF"/>
          </a:solidFill>
          <a:ln w="12700">
            <a:solidFill>
              <a:srgbClr val="E4E0D8"/>
            </a:solidFill>
            <a:prstDash val="solid"/>
          </a:ln>
        </p:spPr>
      </p:sp>
      <p:sp>
        <p:nvSpPr>
          <p:cNvPr id="15" name="Text 13"/>
          <p:cNvSpPr txBox="1"/>
          <p:nvPr/>
        </p:nvSpPr>
        <p:spPr>
          <a:xfrm>
            <a:off x="8321040" y="1965960"/>
            <a:ext cx="3017520" cy="320040"/>
          </a:xfrm>
          <a:prstGeom prst="rect">
            <a:avLst/>
          </a:prstGeom>
          <a:noFill/>
          <a:ln/>
        </p:spPr>
        <p:txBody>
          <a:bodyPr wrap="square" lIns="0" tIns="0" rIns="0" bIns="0"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OPTION 3</a:t>
            </a:r>
            <a:endParaRPr lang="en-US" sz="1100" dirty="0"/>
          </a:p>
        </p:txBody>
      </p:sp>
      <p:sp>
        <p:nvSpPr>
          <p:cNvPr id="16" name="Text 14"/>
          <p:cNvSpPr txBox="1"/>
          <p:nvPr/>
        </p:nvSpPr>
        <p:spPr>
          <a:xfrm>
            <a:off x="8321040" y="2331720"/>
            <a:ext cx="3017520" cy="685800"/>
          </a:xfrm>
          <a:prstGeom prst="rect">
            <a:avLst/>
          </a:prstGeom>
          <a:noFill/>
          <a:ln/>
        </p:spPr>
        <p:txBody>
          <a:bodyPr wrap="square" lIns="0" tIns="0" rIns="0" bIns="0" rtlCol="0" anchor="ctr"/>
          <a:lstStyle/>
          <a:p>
            <a:pPr indent="0" marL="0">
              <a:buNone/>
            </a:pPr>
            <a:r>
              <a:rPr lang="en-US" sz="3000" b="1" dirty="0">
                <a:solidFill>
                  <a:srgbClr val="8A5A2B"/>
                </a:solidFill>
                <a:latin typeface="Cambria" pitchFamily="34" charset="0"/>
                <a:ea typeface="Cambria" pitchFamily="34" charset="-122"/>
                <a:cs typeface="Cambria" pitchFamily="34" charset="-120"/>
              </a:rPr>
              <a:t>GupitGo</a:t>
            </a:r>
            <a:endParaRPr lang="en-US" sz="3000" dirty="0"/>
          </a:p>
        </p:txBody>
      </p:sp>
      <p:sp>
        <p:nvSpPr>
          <p:cNvPr id="17" name="Text 15"/>
          <p:cNvSpPr txBox="1"/>
          <p:nvPr/>
        </p:nvSpPr>
        <p:spPr>
          <a:xfrm>
            <a:off x="8321040" y="3108960"/>
            <a:ext cx="3017520" cy="1828800"/>
          </a:xfrm>
          <a:prstGeom prst="rect">
            <a:avLst/>
          </a:prstGeom>
          <a:noFill/>
          <a:ln/>
        </p:spPr>
        <p:txBody>
          <a:bodyPr wrap="square" lIns="0" tIns="0" rIns="0" bIns="0" rtlCol="0" anchor="t"/>
          <a:lstStyle/>
          <a:p>
            <a:pPr indent="0" marL="0">
              <a:buNone/>
            </a:pPr>
            <a:r>
              <a:rPr lang="en-US" sz="1500" dirty="0">
                <a:solidFill>
                  <a:srgbClr val="1B1A17"/>
                </a:solidFill>
                <a:latin typeface="Calibri" pitchFamily="34" charset="0"/>
                <a:ea typeface="Calibri" pitchFamily="34" charset="-122"/>
                <a:cs typeface="Calibri" pitchFamily="34" charset="-120"/>
              </a:rPr>
              <a:t>A Mobile-Responsive Booking and Haircut Preference Recording System for Local Barbershops with Customer Records Management</a:t>
            </a:r>
            <a:endParaRPr lang="en-US" sz="1500" dirty="0"/>
          </a:p>
        </p:txBody>
      </p:sp>
      <p:sp>
        <p:nvSpPr>
          <p:cNvPr id="18" name="Text 16"/>
          <p:cNvSpPr txBox="1"/>
          <p:nvPr/>
        </p:nvSpPr>
        <p:spPr>
          <a:xfrm>
            <a:off x="8321040" y="4572000"/>
            <a:ext cx="3017520" cy="822960"/>
          </a:xfrm>
          <a:prstGeom prst="rect">
            <a:avLst/>
          </a:prstGeom>
          <a:noFill/>
          <a:ln/>
        </p:spPr>
        <p:txBody>
          <a:bodyPr wrap="square" lIns="0" tIns="0" rIns="0" bIns="0" rtlCol="0" anchor="t"/>
          <a:lstStyle/>
          <a:p>
            <a:pPr indent="0" marL="0">
              <a:buNone/>
            </a:pPr>
            <a:r>
              <a:rPr lang="en-US" sz="1200" i="1" dirty="0">
                <a:solidFill>
                  <a:srgbClr val="6F6A60"/>
                </a:solidFill>
                <a:latin typeface="Calibri" pitchFamily="34" charset="0"/>
                <a:ea typeface="Calibri" pitchFamily="34" charset="-122"/>
                <a:cs typeface="Calibri" pitchFamily="34" charset="-120"/>
              </a:rPr>
              <a:t>Local and catchy, with a record-keeping angle.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31520" y="1463040"/>
            <a:ext cx="822960" cy="822960"/>
          </a:xfrm>
          <a:prstGeom prst="rect">
            <a:avLst/>
          </a:prstGeom>
        </p:spPr>
      </p:pic>
      <p:sp>
        <p:nvSpPr>
          <p:cNvPr id="3" name="Text 0"/>
          <p:cNvSpPr txBox="1"/>
          <p:nvPr/>
        </p:nvSpPr>
        <p:spPr>
          <a:xfrm>
            <a:off x="731520" y="2468880"/>
            <a:ext cx="8229600" cy="109728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Salamat po!</a:t>
            </a:r>
            <a:endParaRPr lang="en-US" sz="6000" dirty="0"/>
          </a:p>
        </p:txBody>
      </p:sp>
      <p:sp>
        <p:nvSpPr>
          <p:cNvPr id="4" name="Text 1"/>
          <p:cNvSpPr txBox="1"/>
          <p:nvPr/>
        </p:nvSpPr>
        <p:spPr>
          <a:xfrm>
            <a:off x="731520" y="3611880"/>
            <a:ext cx="8229600" cy="548640"/>
          </a:xfrm>
          <a:prstGeom prst="rect">
            <a:avLst/>
          </a:prstGeom>
          <a:noFill/>
          <a:ln/>
        </p:spPr>
        <p:txBody>
          <a:bodyPr wrap="square" lIns="0" tIns="0" rIns="0" bIns="0" rtlCol="0" anchor="ctr"/>
          <a:lstStyle/>
          <a:p>
            <a:pPr indent="0" marL="0">
              <a:buNone/>
            </a:pPr>
            <a:r>
              <a:rPr lang="en-US" sz="2200" dirty="0">
                <a:solidFill>
                  <a:srgbClr val="F3E7D9"/>
                </a:solidFill>
                <a:latin typeface="Calibri" pitchFamily="34" charset="0"/>
                <a:ea typeface="Calibri" pitchFamily="34" charset="-122"/>
                <a:cs typeface="Calibri" pitchFamily="34" charset="-120"/>
              </a:rPr>
              <a:t>We welcome your questions, comments, and suggestions.</a:t>
            </a:r>
            <a:endParaRPr lang="en-US" sz="2200" dirty="0"/>
          </a:p>
        </p:txBody>
      </p:sp>
      <p:sp>
        <p:nvSpPr>
          <p:cNvPr id="5" name="Text 2"/>
          <p:cNvSpPr txBox="1"/>
          <p:nvPr/>
        </p:nvSpPr>
        <p:spPr>
          <a:xfrm>
            <a:off x="731520" y="4846320"/>
            <a:ext cx="8229600" cy="822960"/>
          </a:xfrm>
          <a:prstGeom prst="rect">
            <a:avLst/>
          </a:prstGeom>
          <a:noFill/>
          <a:ln/>
        </p:spPr>
        <p:txBody>
          <a:bodyPr wrap="square" lIns="0" tIns="0" rIns="0" bIns="0"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BarberBook PH</a:t>
            </a:r>
            <a:endParaRPr lang="en-US" sz="1400" dirty="0"/>
          </a:p>
          <a:p>
            <a:pPr indent="0" marL="0">
              <a:buNone/>
            </a:pPr>
            <a:r>
              <a:rPr lang="en-US" sz="1400" dirty="0">
                <a:solidFill>
                  <a:srgbClr val="1B1A17"/>
                </a:solidFill>
                <a:highlight>
                  <a:srgbClr val="FFFF00"/>
                </a:highlight>
                <a:latin typeface="Calibri" pitchFamily="34" charset="0"/>
                <a:ea typeface="Calibri" pitchFamily="34" charset="-122"/>
                <a:cs typeface="Calibri" pitchFamily="34" charset="-120"/>
              </a:rPr>
              <a:t>[Member 1]  ·  [Member 2]  ·  [Member 3]  ·  [Member 4]</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BarberBook PH Preliminary Presentation</dc:title>
  <dc:subject>PptxGenJS Presentation</dc:subject>
  <dc:creator>PptxGenJS</dc:creator>
  <cp:lastModifiedBy>PptxGenJS</cp:lastModifiedBy>
  <cp:revision>1</cp:revision>
  <dcterms:created xsi:type="dcterms:W3CDTF">2026-09-29T23:43:24Z</dcterms:created>
  <dcterms:modified xsi:type="dcterms:W3CDTF">2026-09-29T23:43:24Z</dcterms:modified>
</cp:coreProperties>
</file>