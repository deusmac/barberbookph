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shows sample screens of BarberBook PH. Everything uses the actual website theme: cobalt blue, yellow, thick black outlines, and hard shadows. These are proposed designs, and the final screens will be adjusted after the interview with the partner barbershop.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system. Every screen uses the same colors, fonts, buttons, and controls, so the system looks consistent. Buttons shift when pressed, like physical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customer side on mobile. Most customers will book using their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shows the next appointment and a quick rebook card. Quick rebook uses the saved haircut preferences, which is a key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choosing a haircut. Customers pick from the gallery or upload their own photo, which answers the problem of explaining the haircut.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feature. The customer records exactly how they want their haircut, and it is saved to the profile. The barber will see all of this before the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screen solves double booking. Taken slots cannot be selected, and the system checks the style duration so bookings never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confirming, customers get a booking number and notifications. Research shows SMS reminders increase attendance, which is why we included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can reschedule, cancel with a reason, and rate their haircut. Ratings feed the owner dashboard and support the user-satisfaction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 keeps the customer's preferences and history. This directly answers the research question about customer profile and appointment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barbershop side. The owner can use the dashboard on a phone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phone, the owner sees the queue, and the barber opens the preference card before starting the haircut. This is where our main feature pays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web version for laptops and desktop computers, which is what the owner will use at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landing page. It explains the value in one line and gives two clear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can also book on a laptop. The summary on the right updates with every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notebook. The owner sees all barbers and bookings on one timeline, color-coded by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screen for the barber. It turns vague requests like "yung dati lang po" into exact, written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Walk-ins are still accepted, as stated in our delimitations. The owner encodes them, and the slot is blocked for online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 manages the hairstyle gallery, so trending styles stay updated, which is one of our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help the owner decide on shop hours and staffing. This supports the significance of the study for barbershop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gives a record of customer satisfaction, which the old notebook system never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will demo live. When a customer confirms, the booking appears on the owner's dashboard right away, and the slot is blocked so no one else can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17 mobile screens together. They share one design system, so the app feels like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reminding the panel that these are proposed designs and will be refined with the partner barbershop.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image" Target="../media/image-23-15.png"/><Relationship Id="rId16" Type="http://schemas.openxmlformats.org/officeDocument/2006/relationships/image" Target="../media/image-23-16.png"/><Relationship Id="rId17" Type="http://schemas.openxmlformats.org/officeDocument/2006/relationships/image" Target="../media/image-23-17.png"/><Relationship Id="rId18" Type="http://schemas.openxmlformats.org/officeDocument/2006/relationships/slideLayout" Target="../slideLayouts/slideLayout1.xml"/><Relationship Id="rId1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50FF"/>
        </a:solidFill>
      </p:bgPr>
    </p:bg>
    <p:spTree>
      <p:nvGrpSpPr>
        <p:cNvPr id="1" name=""/>
        <p:cNvGrpSpPr/>
        <p:nvPr/>
      </p:nvGrpSpPr>
      <p:grpSpPr>
        <a:xfrm>
          <a:off x="0" y="0"/>
          <a:ext cx="0" cy="0"/>
          <a:chOff x="0" y="0"/>
          <a:chExt cx="0" cy="0"/>
        </a:xfrm>
      </p:grpSpPr>
      <p:pic>
        <p:nvPicPr>
          <p:cNvPr id="2" name="anim:1:float:0" descr="out/w_landing.png">    </p:cNvPr>
          <p:cNvPicPr>
            <a:picLocks noChangeAspect="1"/>
          </p:cNvPicPr>
          <p:nvPr/>
        </p:nvPicPr>
        <p:blipFill>
          <a:blip r:embed="rId1"/>
          <a:stretch>
            <a:fillRect/>
          </a:stretch>
        </p:blipFill>
        <p:spPr>
          <a:xfrm>
            <a:off x="5394960" y="502920"/>
            <a:ext cx="6400800" cy="4033381"/>
          </a:xfrm>
          <a:prstGeom prst="rect">
            <a:avLst/>
          </a:prstGeom>
        </p:spPr>
      </p:pic>
      <p:pic>
        <p:nvPicPr>
          <p:cNvPr id="3" name="anim:2:float:0" descr="out/m_prefs.png">    </p:cNvPr>
          <p:cNvPicPr>
            <a:picLocks noChangeAspect="1"/>
          </p:cNvPicPr>
          <p:nvPr/>
        </p:nvPicPr>
        <p:blipFill>
          <a:blip r:embed="rId2"/>
          <a:stretch>
            <a:fillRect/>
          </a:stretch>
        </p:blipFill>
        <p:spPr>
          <a:xfrm rot="-360000">
            <a:off x="5486400" y="2148840"/>
            <a:ext cx="2126192" cy="4480560"/>
          </a:xfrm>
          <a:prstGeom prst="rect">
            <a:avLst/>
          </a:prstGeom>
        </p:spPr>
      </p:pic>
      <p:pic>
        <p:nvPicPr>
          <p:cNvPr id="4" name="anim:2:float:1" descr="out/m_home.png">    </p:cNvPr>
          <p:cNvPicPr>
            <a:picLocks noChangeAspect="1"/>
          </p:cNvPicPr>
          <p:nvPr/>
        </p:nvPicPr>
        <p:blipFill>
          <a:blip r:embed="rId3"/>
          <a:stretch>
            <a:fillRect/>
          </a:stretch>
        </p:blipFill>
        <p:spPr>
          <a:xfrm>
            <a:off x="7635240" y="1874520"/>
            <a:ext cx="2256367" cy="4754880"/>
          </a:xfrm>
          <a:prstGeom prst="rect">
            <a:avLst/>
          </a:prstGeom>
        </p:spPr>
      </p:pic>
      <p:pic>
        <p:nvPicPr>
          <p:cNvPr id="5" name="anim:2:float:2" descr="out/m_pcard.png">    </p:cNvPr>
          <p:cNvPicPr>
            <a:picLocks noChangeAspect="1"/>
          </p:cNvPicPr>
          <p:nvPr/>
        </p:nvPicPr>
        <p:blipFill>
          <a:blip r:embed="rId4"/>
          <a:stretch>
            <a:fillRect/>
          </a:stretch>
        </p:blipFill>
        <p:spPr>
          <a:xfrm rot="360000">
            <a:off x="9829800" y="2148840"/>
            <a:ext cx="2126192" cy="4480560"/>
          </a:xfrm>
          <a:prstGeom prst="rect">
            <a:avLst/>
          </a:prstGeom>
        </p:spPr>
      </p:pic>
      <p:sp>
        <p:nvSpPr>
          <p:cNvPr id="6" name="anim:3:zoom:0"/>
          <p:cNvSpPr txBox="1"/>
          <p:nvPr/>
        </p:nvSpPr>
        <p:spPr>
          <a:xfrm rot="-180000">
            <a:off x="548640" y="731520"/>
            <a:ext cx="329184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UI SHOWCASE · MOBILE + WEB</a:t>
            </a:r>
            <a:endParaRPr lang="en-US" sz="1200" dirty="0"/>
          </a:p>
        </p:txBody>
      </p:sp>
      <p:sp>
        <p:nvSpPr>
          <p:cNvPr id="7" name="anim:4:float:0"/>
          <p:cNvSpPr txBox="1"/>
          <p:nvPr/>
        </p:nvSpPr>
        <p:spPr>
          <a:xfrm>
            <a:off x="548640" y="1325880"/>
            <a:ext cx="4572000" cy="2148840"/>
          </a:xfrm>
          <a:prstGeom prst="roundRect">
            <a:avLst>
              <a:gd name="adj" fmla="val 5106"/>
            </a:avLst>
          </a:prstGeom>
          <a:solidFill>
            <a:srgbClr val="FFFFFF"/>
          </a:solidFill>
          <a:ln w="38100">
            <a:solidFill>
              <a:srgbClr val="000000"/>
            </a:solidFill>
          </a:ln>
          <a:effectLst>
            <a:outerShdw sx="100000" sy="100000" kx="0" ky="0" algn="bl" rotWithShape="0" blurRad="101600" dist="101600" dir="2700000">
              <a:srgbClr val="000000">
                <a:alpha val="100000"/>
              </a:srgbClr>
            </a:outerShdw>
          </a:effectLst>
        </p:spPr>
        <p:txBody>
          <a:bodyPr wrap="square" lIns="177800" tIns="177800" rIns="177800" bIns="177800" rtlCol="0" anchor="ctr"/>
          <a:lstStyle/>
          <a:p>
            <a:pPr indent="0" marL="0">
              <a:buNone/>
            </a:pPr>
            <a:r>
              <a:rPr lang="en-US" sz="3400" b="1" dirty="0">
                <a:solidFill>
                  <a:srgbClr val="000000"/>
                </a:solidFill>
                <a:latin typeface="Arial" pitchFamily="34" charset="0"/>
                <a:ea typeface="Arial" pitchFamily="34" charset="-122"/>
                <a:cs typeface="Arial" pitchFamily="34" charset="-120"/>
              </a:rPr>
              <a:t>THIS IS HOW</a:t>
            </a:r>
            <a:endParaRPr lang="en-US" sz="3400" dirty="0"/>
          </a:p>
          <a:p>
            <a:pPr indent="0" marL="0">
              <a:buNone/>
            </a:pPr>
            <a:r>
              <a:rPr lang="en-US" sz="3400" b="1" dirty="0">
                <a:solidFill>
                  <a:srgbClr val="1E50FF"/>
                </a:solidFill>
                <a:latin typeface="Arial" pitchFamily="34" charset="0"/>
                <a:ea typeface="Arial" pitchFamily="34" charset="-122"/>
                <a:cs typeface="Arial" pitchFamily="34" charset="-120"/>
              </a:rPr>
              <a:t>BARBERBOOK PH</a:t>
            </a:r>
            <a:endParaRPr lang="en-US" sz="3400" dirty="0"/>
          </a:p>
          <a:p>
            <a:pPr indent="0" marL="0">
              <a:buNone/>
            </a:pPr>
            <a:r>
              <a:rPr lang="en-US" sz="3400" b="1" dirty="0">
                <a:solidFill>
                  <a:srgbClr val="000000"/>
                </a:solidFill>
                <a:latin typeface="Arial" pitchFamily="34" charset="0"/>
                <a:ea typeface="Arial" pitchFamily="34" charset="-122"/>
                <a:cs typeface="Arial" pitchFamily="34" charset="-120"/>
              </a:rPr>
              <a:t>WILL LOOK.</a:t>
            </a:r>
            <a:endParaRPr lang="en-US" sz="3400" dirty="0"/>
          </a:p>
        </p:txBody>
      </p:sp>
      <p:sp>
        <p:nvSpPr>
          <p:cNvPr id="8" name="anim:5:fade:0"/>
          <p:cNvSpPr txBox="1"/>
          <p:nvPr/>
        </p:nvSpPr>
        <p:spPr>
          <a:xfrm>
            <a:off x="548640" y="3749040"/>
            <a:ext cx="4480560" cy="8229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Sample screens for the customer app and the barbershop dashboard, in the actual theme of the website.</a:t>
            </a:r>
            <a:endParaRPr lang="en-US" sz="1500" dirty="0"/>
          </a:p>
        </p:txBody>
      </p:sp>
      <p:sp>
        <p:nvSpPr>
          <p:cNvPr id="9" name="anim:6:zoom:0"/>
          <p:cNvSpPr txBox="1"/>
          <p:nvPr/>
        </p:nvSpPr>
        <p:spPr>
          <a:xfrm>
            <a:off x="548640" y="4800600"/>
            <a:ext cx="1325880" cy="1051560"/>
          </a:xfrm>
          <a:prstGeom prst="roundRect">
            <a:avLst>
              <a:gd name="adj" fmla="val 8696"/>
            </a:avLst>
          </a:prstGeom>
          <a:solidFill>
            <a:srgbClr val="FFE600"/>
          </a:solidFill>
          <a:ln w="31750">
            <a:solidFill>
              <a:srgbClr val="000000"/>
            </a:solidFill>
          </a:ln>
          <a:effectLst>
            <a:outerShdw sx="100000" sy="100000" kx="0" ky="0" algn="bl" rotWithShape="0" blurRad="101600" dist="50800" dir="2700000">
              <a:srgbClr val="000000">
                <a:alpha val="100000"/>
              </a:srgbClr>
            </a:outerShdw>
          </a:effectLst>
        </p:spPr>
        <p:txBody>
          <a:bodyPr wrap="square" lIns="50800" tIns="50800" rIns="50800" bIns="50800" rtlCol="0" anchor="ctr"/>
          <a:lstStyle/>
          <a:p>
            <a:pPr algn="ctr" indent="0" marL="0">
              <a:buNone/>
            </a:pPr>
            <a:r>
              <a:rPr lang="en-US" sz="2800" b="1" dirty="0">
                <a:solidFill>
                  <a:srgbClr val="000000"/>
                </a:solidFill>
                <a:latin typeface="Arial" pitchFamily="34" charset="0"/>
                <a:ea typeface="Arial" pitchFamily="34" charset="-122"/>
                <a:cs typeface="Arial" pitchFamily="34" charset="-120"/>
              </a:rPr>
              <a:t>17</a:t>
            </a:r>
            <a:endParaRPr lang="en-US" sz="2800" dirty="0"/>
          </a:p>
          <a:p>
            <a:pPr algn="ctr" indent="0" marL="0">
              <a:buNone/>
            </a:pPr>
            <a:r>
              <a:rPr lang="en-US" sz="950" b="1" dirty="0">
                <a:solidFill>
                  <a:srgbClr val="000000"/>
                </a:solidFill>
                <a:latin typeface="Arial" pitchFamily="34" charset="0"/>
                <a:ea typeface="Arial" pitchFamily="34" charset="-122"/>
                <a:cs typeface="Arial" pitchFamily="34" charset="-120"/>
              </a:rPr>
              <a:t>MOBILE SCREENS</a:t>
            </a:r>
            <a:endParaRPr lang="en-US" sz="2800" dirty="0"/>
          </a:p>
        </p:txBody>
      </p:sp>
      <p:sp>
        <p:nvSpPr>
          <p:cNvPr id="10" name="anim:6:zoom:1"/>
          <p:cNvSpPr txBox="1"/>
          <p:nvPr/>
        </p:nvSpPr>
        <p:spPr>
          <a:xfrm>
            <a:off x="2057400" y="4800600"/>
            <a:ext cx="1325880" cy="1051560"/>
          </a:xfrm>
          <a:prstGeom prst="roundRect">
            <a:avLst>
              <a:gd name="adj" fmla="val 8696"/>
            </a:avLst>
          </a:prstGeom>
          <a:solidFill>
            <a:srgbClr val="FFFFFF"/>
          </a:solidFill>
          <a:ln w="31750">
            <a:solidFill>
              <a:srgbClr val="000000"/>
            </a:solidFill>
          </a:ln>
          <a:effectLst>
            <a:outerShdw sx="100000" sy="100000" kx="0" ky="0" algn="bl" rotWithShape="0" blurRad="101600" dist="50800" dir="2700000">
              <a:srgbClr val="000000">
                <a:alpha val="100000"/>
              </a:srgbClr>
            </a:outerShdw>
          </a:effectLst>
        </p:spPr>
        <p:txBody>
          <a:bodyPr wrap="square" lIns="50800" tIns="50800" rIns="50800" bIns="50800" rtlCol="0" anchor="ctr"/>
          <a:lstStyle/>
          <a:p>
            <a:pPr algn="ctr" indent="0" marL="0">
              <a:buNone/>
            </a:pPr>
            <a:r>
              <a:rPr lang="en-US" sz="2800" b="1" dirty="0">
                <a:solidFill>
                  <a:srgbClr val="000000"/>
                </a:solidFill>
                <a:latin typeface="Arial" pitchFamily="34" charset="0"/>
                <a:ea typeface="Arial" pitchFamily="34" charset="-122"/>
                <a:cs typeface="Arial" pitchFamily="34" charset="-120"/>
              </a:rPr>
              <a:t>9</a:t>
            </a:r>
            <a:endParaRPr lang="en-US" sz="2800" dirty="0"/>
          </a:p>
          <a:p>
            <a:pPr algn="ctr" indent="0" marL="0">
              <a:buNone/>
            </a:pPr>
            <a:r>
              <a:rPr lang="en-US" sz="950" b="1" dirty="0">
                <a:solidFill>
                  <a:srgbClr val="000000"/>
                </a:solidFill>
                <a:latin typeface="Arial" pitchFamily="34" charset="0"/>
                <a:ea typeface="Arial" pitchFamily="34" charset="-122"/>
                <a:cs typeface="Arial" pitchFamily="34" charset="-120"/>
              </a:rPr>
              <a:t>WEB SCREENS</a:t>
            </a:r>
            <a:endParaRPr lang="en-US" sz="2800" dirty="0"/>
          </a:p>
        </p:txBody>
      </p:sp>
      <p:sp>
        <p:nvSpPr>
          <p:cNvPr id="11" name="anim:6:zoom:2"/>
          <p:cNvSpPr txBox="1"/>
          <p:nvPr/>
        </p:nvSpPr>
        <p:spPr>
          <a:xfrm>
            <a:off x="3566160" y="4800600"/>
            <a:ext cx="1325880" cy="1051560"/>
          </a:xfrm>
          <a:prstGeom prst="roundRect">
            <a:avLst>
              <a:gd name="adj" fmla="val 8696"/>
            </a:avLst>
          </a:prstGeom>
          <a:solidFill>
            <a:srgbClr val="FFFFFF"/>
          </a:solidFill>
          <a:ln w="31750">
            <a:solidFill>
              <a:srgbClr val="000000"/>
            </a:solidFill>
          </a:ln>
          <a:effectLst>
            <a:outerShdw sx="100000" sy="100000" kx="0" ky="0" algn="bl" rotWithShape="0" blurRad="101600" dist="50800" dir="2700000">
              <a:srgbClr val="000000">
                <a:alpha val="100000"/>
              </a:srgbClr>
            </a:outerShdw>
          </a:effectLst>
        </p:spPr>
        <p:txBody>
          <a:bodyPr wrap="square" lIns="50800" tIns="50800" rIns="50800" bIns="50800" rtlCol="0" anchor="ctr"/>
          <a:lstStyle/>
          <a:p>
            <a:pPr algn="ctr" indent="0" marL="0">
              <a:buNone/>
            </a:pPr>
            <a:r>
              <a:rPr lang="en-US" sz="2800" b="1" dirty="0">
                <a:solidFill>
                  <a:srgbClr val="000000"/>
                </a:solidFill>
                <a:latin typeface="Arial" pitchFamily="34" charset="0"/>
                <a:ea typeface="Arial" pitchFamily="34" charset="-122"/>
                <a:cs typeface="Arial" pitchFamily="34" charset="-120"/>
              </a:rPr>
              <a:t>1</a:t>
            </a:r>
            <a:endParaRPr lang="en-US" sz="2800" dirty="0"/>
          </a:p>
          <a:p>
            <a:pPr algn="ctr" indent="0" marL="0">
              <a:buNone/>
            </a:pPr>
            <a:r>
              <a:rPr lang="en-US" sz="950" b="1" dirty="0">
                <a:solidFill>
                  <a:srgbClr val="000000"/>
                </a:solidFill>
                <a:latin typeface="Arial" pitchFamily="34" charset="0"/>
                <a:ea typeface="Arial" pitchFamily="34" charset="-122"/>
                <a:cs typeface="Arial" pitchFamily="34" charset="-120"/>
              </a:rPr>
              <a:t>DESIGN SYSTEM</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anim calcmode="lin" valueType="num">
                                      <p:cBhvr additive="base">
                                        <p:cTn id="8" dur="550" fill="hold"/>
                                        <p:tgtEl>
                                          <p:spTgt spid="2"/>
                                        </p:tgtEl>
                                        <p:attrNameLst>
                                          <p:attrName>ppt_x</p:attrName>
                                        </p:attrNameLst>
                                      </p:cBhvr>
                                      <p:tavLst>
                                        <p:tav tm="0">
                                          <p:val>
                                            <p:strVal val="#ppt_x"/>
                                          </p:val>
                                        </p:tav>
                                        <p:tav tm="100000">
                                          <p:val>
                                            <p:strVal val="#ppt_x"/>
                                          </p:val>
                                        </p:tav>
                                      </p:tavLst>
                                    </p:anim>
                                    <p:anim calcmode="lin" valueType="num">
                                      <p:cBhvr additive="base">
                                        <p:cTn id="9" dur="5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4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50"/>
                                        <p:tgtEl>
                                          <p:spTgt spid="3"/>
                                        </p:tgtEl>
                                      </p:cBhvr>
                                    </p:animEffect>
                                    <p:anim calcmode="lin" valueType="num">
                                      <p:cBhvr additive="base">
                                        <p:cTn id="13" dur="550" fill="hold"/>
                                        <p:tgtEl>
                                          <p:spTgt spid="3"/>
                                        </p:tgtEl>
                                        <p:attrNameLst>
                                          <p:attrName>ppt_x</p:attrName>
                                        </p:attrNameLst>
                                      </p:cBhvr>
                                      <p:tavLst>
                                        <p:tav tm="0">
                                          <p:val>
                                            <p:strVal val="#ppt_x"/>
                                          </p:val>
                                        </p:tav>
                                        <p:tav tm="100000">
                                          <p:val>
                                            <p:strVal val="#ppt_x"/>
                                          </p:val>
                                        </p:tav>
                                      </p:tavLst>
                                    </p:anim>
                                    <p:anim calcmode="lin" valueType="num">
                                      <p:cBhvr additive="base">
                                        <p:cTn id="14" dur="55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2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50"/>
                                        <p:tgtEl>
                                          <p:spTgt spid="4"/>
                                        </p:tgtEl>
                                      </p:cBhvr>
                                    </p:animEffect>
                                    <p:anim calcmode="lin" valueType="num">
                                      <p:cBhvr additive="base">
                                        <p:cTn id="18" dur="550" fill="hold"/>
                                        <p:tgtEl>
                                          <p:spTgt spid="4"/>
                                        </p:tgtEl>
                                        <p:attrNameLst>
                                          <p:attrName>ppt_x</p:attrName>
                                        </p:attrNameLst>
                                      </p:cBhvr>
                                      <p:tavLst>
                                        <p:tav tm="0">
                                          <p:val>
                                            <p:strVal val="#ppt_x"/>
                                          </p:val>
                                        </p:tav>
                                        <p:tav tm="100000">
                                          <p:val>
                                            <p:strVal val="#ppt_x"/>
                                          </p:val>
                                        </p:tav>
                                      </p:tavLst>
                                    </p:anim>
                                    <p:anim calcmode="lin" valueType="num">
                                      <p:cBhvr additive="base">
                                        <p:cTn id="19" dur="55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50"/>
                                        <p:tgtEl>
                                          <p:spTgt spid="5"/>
                                        </p:tgtEl>
                                      </p:cBhvr>
                                    </p:animEffect>
                                    <p:anim calcmode="lin" valueType="num">
                                      <p:cBhvr additive="base">
                                        <p:cTn id="23" dur="550" fill="hold"/>
                                        <p:tgtEl>
                                          <p:spTgt spid="5"/>
                                        </p:tgtEl>
                                        <p:attrNameLst>
                                          <p:attrName>ppt_x</p:attrName>
                                        </p:attrNameLst>
                                      </p:cBhvr>
                                      <p:tavLst>
                                        <p:tav tm="0">
                                          <p:val>
                                            <p:strVal val="#ppt_x"/>
                                          </p:val>
                                        </p:tav>
                                        <p:tav tm="100000">
                                          <p:val>
                                            <p:strVal val="#ppt_x"/>
                                          </p:val>
                                        </p:tav>
                                      </p:tavLst>
                                    </p:anim>
                                    <p:anim calcmode="lin" valueType="num">
                                      <p:cBhvr additive="base">
                                        <p:cTn id="24" dur="5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104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420" fill="hold"/>
                                        <p:tgtEl>
                                          <p:spTgt spid="6"/>
                                        </p:tgtEl>
                                        <p:attrNameLst>
                                          <p:attrName>ppt_w</p:attrName>
                                        </p:attrNameLst>
                                      </p:cBhvr>
                                      <p:tavLst>
                                        <p:tav tm="0">
                                          <p:val>
                                            <p:fltVal val="0"/>
                                          </p:val>
                                        </p:tav>
                                        <p:tav tm="100000">
                                          <p:val>
                                            <p:strVal val="#ppt_w"/>
                                          </p:val>
                                        </p:tav>
                                      </p:tavLst>
                                    </p:anim>
                                    <p:anim calcmode="lin" valueType="num">
                                      <p:cBhvr additive="base">
                                        <p:cTn id="28" dur="420" fill="hold"/>
                                        <p:tgtEl>
                                          <p:spTgt spid="6"/>
                                        </p:tgtEl>
                                        <p:attrNameLst>
                                          <p:attrName>ppt_h</p:attrName>
                                        </p:attrNameLst>
                                      </p:cBhvr>
                                      <p:tavLst>
                                        <p:tav tm="0">
                                          <p:val>
                                            <p:fltVal val="0"/>
                                          </p:val>
                                        </p:tav>
                                        <p:tav tm="100000">
                                          <p:val>
                                            <p:strVal val="#ppt_h"/>
                                          </p:val>
                                        </p:tav>
                                      </p:tavLst>
                                    </p:anim>
                                    <p:animEffect transition="in" filter="fade">
                                      <p:cBhvr>
                                        <p:cTn id="29" dur="420"/>
                                        <p:tgtEl>
                                          <p:spTgt spid="6"/>
                                        </p:tgtEl>
                                      </p:cBhvr>
                                    </p:animEffect>
                                  </p:childTnLst>
                                </p:cTn>
                              </p:par>
                              <p:par>
                                <p:cTn id="30" presetID="42" presetClass="entr" presetSubtype="0" fill="hold" nodeType="withEffect">
                                  <p:stCondLst>
                                    <p:cond delay="131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50"/>
                                        <p:tgtEl>
                                          <p:spTgt spid="7"/>
                                        </p:tgtEl>
                                      </p:cBhvr>
                                    </p:animEffect>
                                    <p:anim calcmode="lin" valueType="num">
                                      <p:cBhvr additive="base">
                                        <p:cTn id="33" dur="550" fill="hold"/>
                                        <p:tgtEl>
                                          <p:spTgt spid="7"/>
                                        </p:tgtEl>
                                        <p:attrNameLst>
                                          <p:attrName>ppt_x</p:attrName>
                                        </p:attrNameLst>
                                      </p:cBhvr>
                                      <p:tavLst>
                                        <p:tav tm="0">
                                          <p:val>
                                            <p:strVal val="#ppt_x"/>
                                          </p:val>
                                        </p:tav>
                                        <p:tav tm="100000">
                                          <p:val>
                                            <p:strVal val="#ppt_x"/>
                                          </p:val>
                                        </p:tav>
                                      </p:tavLst>
                                    </p:anim>
                                    <p:anim calcmode="lin" valueType="num">
                                      <p:cBhvr additive="base">
                                        <p:cTn id="34" dur="550" fill="hold"/>
                                        <p:tgtEl>
                                          <p:spTgt spid="7"/>
                                        </p:tgtEl>
                                        <p:attrNameLst>
                                          <p:attrName>ppt_y</p:attrName>
                                        </p:attrNameLst>
                                      </p:cBhvr>
                                      <p:tavLst>
                                        <p:tav tm="0">
                                          <p:val>
                                            <p:strVal val="#ppt_y+.1"/>
                                          </p:val>
                                        </p:tav>
                                        <p:tav tm="100000">
                                          <p:val>
                                            <p:strVal val="#ppt_y"/>
                                          </p:val>
                                        </p:tav>
                                      </p:tavLst>
                                    </p:anim>
                                  </p:childTnLst>
                                </p:cTn>
                              </p:par>
                              <p:par>
                                <p:cTn id="35" presetID="10" presetClass="entr" presetSubtype="0" fill="hold" nodeType="withEffect">
                                  <p:stCondLst>
                                    <p:cond delay="171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450"/>
                                        <p:tgtEl>
                                          <p:spTgt spid="8"/>
                                        </p:tgtEl>
                                      </p:cBhvr>
                                    </p:animEffect>
                                  </p:childTnLst>
                                </p:cTn>
                              </p:par>
                              <p:par>
                                <p:cTn id="38" presetID="53" presetClass="entr" presetSubtype="16" fill="hold" nodeType="withEffect">
                                  <p:stCondLst>
                                    <p:cond delay="201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420" fill="hold"/>
                                        <p:tgtEl>
                                          <p:spTgt spid="9"/>
                                        </p:tgtEl>
                                        <p:attrNameLst>
                                          <p:attrName>ppt_w</p:attrName>
                                        </p:attrNameLst>
                                      </p:cBhvr>
                                      <p:tavLst>
                                        <p:tav tm="0">
                                          <p:val>
                                            <p:fltVal val="0"/>
                                          </p:val>
                                        </p:tav>
                                        <p:tav tm="100000">
                                          <p:val>
                                            <p:strVal val="#ppt_w"/>
                                          </p:val>
                                        </p:tav>
                                      </p:tavLst>
                                    </p:anim>
                                    <p:anim calcmode="lin" valueType="num">
                                      <p:cBhvr additive="base">
                                        <p:cTn id="41" dur="420" fill="hold"/>
                                        <p:tgtEl>
                                          <p:spTgt spid="9"/>
                                        </p:tgtEl>
                                        <p:attrNameLst>
                                          <p:attrName>ppt_h</p:attrName>
                                        </p:attrNameLst>
                                      </p:cBhvr>
                                      <p:tavLst>
                                        <p:tav tm="0">
                                          <p:val>
                                            <p:fltVal val="0"/>
                                          </p:val>
                                        </p:tav>
                                        <p:tav tm="100000">
                                          <p:val>
                                            <p:strVal val="#ppt_h"/>
                                          </p:val>
                                        </p:tav>
                                      </p:tavLst>
                                    </p:anim>
                                    <p:animEffect transition="in" filter="fade">
                                      <p:cBhvr>
                                        <p:cTn id="42" dur="420"/>
                                        <p:tgtEl>
                                          <p:spTgt spid="9"/>
                                        </p:tgtEl>
                                      </p:cBhvr>
                                    </p:animEffect>
                                  </p:childTnLst>
                                </p:cTn>
                              </p:par>
                              <p:par>
                                <p:cTn id="43" presetID="53" presetClass="entr" presetSubtype="16" fill="hold" nodeType="withEffect">
                                  <p:stCondLst>
                                    <p:cond delay="213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420" fill="hold"/>
                                        <p:tgtEl>
                                          <p:spTgt spid="10"/>
                                        </p:tgtEl>
                                        <p:attrNameLst>
                                          <p:attrName>ppt_w</p:attrName>
                                        </p:attrNameLst>
                                      </p:cBhvr>
                                      <p:tavLst>
                                        <p:tav tm="0">
                                          <p:val>
                                            <p:fltVal val="0"/>
                                          </p:val>
                                        </p:tav>
                                        <p:tav tm="100000">
                                          <p:val>
                                            <p:strVal val="#ppt_w"/>
                                          </p:val>
                                        </p:tav>
                                      </p:tavLst>
                                    </p:anim>
                                    <p:anim calcmode="lin" valueType="num">
                                      <p:cBhvr additive="base">
                                        <p:cTn id="46" dur="420" fill="hold"/>
                                        <p:tgtEl>
                                          <p:spTgt spid="10"/>
                                        </p:tgtEl>
                                        <p:attrNameLst>
                                          <p:attrName>ppt_h</p:attrName>
                                        </p:attrNameLst>
                                      </p:cBhvr>
                                      <p:tavLst>
                                        <p:tav tm="0">
                                          <p:val>
                                            <p:fltVal val="0"/>
                                          </p:val>
                                        </p:tav>
                                        <p:tav tm="100000">
                                          <p:val>
                                            <p:strVal val="#ppt_h"/>
                                          </p:val>
                                        </p:tav>
                                      </p:tavLst>
                                    </p:anim>
                                    <p:animEffect transition="in" filter="fade">
                                      <p:cBhvr>
                                        <p:cTn id="47" dur="420"/>
                                        <p:tgtEl>
                                          <p:spTgt spid="10"/>
                                        </p:tgtEl>
                                      </p:cBhvr>
                                    </p:animEffect>
                                  </p:childTnLst>
                                </p:cTn>
                              </p:par>
                              <p:par>
                                <p:cTn id="48" presetID="53" presetClass="entr" presetSubtype="16" fill="hold" nodeType="withEffect">
                                  <p:stCondLst>
                                    <p:cond delay="225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420" fill="hold"/>
                                        <p:tgtEl>
                                          <p:spTgt spid="11"/>
                                        </p:tgtEl>
                                        <p:attrNameLst>
                                          <p:attrName>ppt_w</p:attrName>
                                        </p:attrNameLst>
                                      </p:cBhvr>
                                      <p:tavLst>
                                        <p:tav tm="0">
                                          <p:val>
                                            <p:fltVal val="0"/>
                                          </p:val>
                                        </p:tav>
                                        <p:tav tm="100000">
                                          <p:val>
                                            <p:strVal val="#ppt_w"/>
                                          </p:val>
                                        </p:tav>
                                      </p:tavLst>
                                    </p:anim>
                                    <p:anim calcmode="lin" valueType="num">
                                      <p:cBhvr additive="base">
                                        <p:cTn id="51" dur="420" fill="hold"/>
                                        <p:tgtEl>
                                          <p:spTgt spid="11"/>
                                        </p:tgtEl>
                                        <p:attrNameLst>
                                          <p:attrName>ppt_h</p:attrName>
                                        </p:attrNameLst>
                                      </p:cBhvr>
                                      <p:tavLst>
                                        <p:tav tm="0">
                                          <p:val>
                                            <p:fltVal val="0"/>
                                          </p:val>
                                        </p:tav>
                                        <p:tav tm="100000">
                                          <p:val>
                                            <p:strVal val="#ppt_h"/>
                                          </p:val>
                                        </p:tav>
                                      </p:tavLst>
                                    </p:anim>
                                    <p:animEffect transition="in" filter="fade">
                                      <p:cBhvr>
                                        <p:cTn id="52"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9431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DESIGN SYSTEM</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ONE LOOK, EVERY SCREEN</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Neo-Brutalism: bold colors, thick outlines, hard shadows, buttons that feel like real buttons</a:t>
            </a:r>
            <a:endParaRPr lang="en-US" sz="1400" dirty="0"/>
          </a:p>
        </p:txBody>
      </p:sp>
      <p:pic>
        <p:nvPicPr>
          <p:cNvPr id="5" name="anim:1:float:0" descr="out/ds.png">    </p:cNvPr>
          <p:cNvPicPr>
            <a:picLocks noChangeAspect="1"/>
          </p:cNvPicPr>
          <p:nvPr/>
        </p:nvPicPr>
        <p:blipFill>
          <a:blip r:embed="rId1"/>
          <a:stretch>
            <a:fillRect/>
          </a:stretch>
        </p:blipFill>
        <p:spPr>
          <a:xfrm>
            <a:off x="975208" y="1783080"/>
            <a:ext cx="10241280" cy="3901119"/>
          </a:xfrm>
          <a:prstGeom prst="rect">
            <a:avLst/>
          </a:prstGeom>
        </p:spPr>
      </p:pic>
      <p:sp>
        <p:nvSpPr>
          <p:cNvPr id="6" name="anim:2:zoom:0"/>
          <p:cNvSpPr txBox="1"/>
          <p:nvPr/>
        </p:nvSpPr>
        <p:spPr>
          <a:xfrm rot="240000">
            <a:off x="8778240" y="1572768"/>
            <a:ext cx="1554480" cy="384048"/>
          </a:xfrm>
          <a:prstGeom prst="roundRect">
            <a:avLst>
              <a:gd name="adj" fmla="val 1904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PRESS ME! →</a:t>
            </a:r>
            <a:endParaRPr lang="en-US" sz="1200" dirty="0"/>
          </a:p>
        </p:txBody>
      </p:sp>
      <p:sp>
        <p:nvSpPr>
          <p:cNvPr id="7" name="anim:3:fade:0"/>
          <p:cNvSpPr txBox="1"/>
          <p:nvPr/>
        </p:nvSpPr>
        <p:spPr>
          <a:xfrm>
            <a:off x="548640" y="6035040"/>
            <a:ext cx="11064240" cy="548640"/>
          </a:xfrm>
          <a:prstGeom prst="rect">
            <a:avLst/>
          </a:prstGeom>
          <a:noFill/>
          <a:ln/>
        </p:spPr>
        <p:txBody>
          <a:bodyPr wrap="square" lIns="0" tIns="0" rIns="0" bIns="0" rtlCol="0" anchor="t"/>
          <a:lstStyle/>
          <a:p>
            <a:pPr indent="0" marL="0">
              <a:buNone/>
            </a:pPr>
            <a:r>
              <a:rPr lang="en-US" sz="1350" b="1" dirty="0">
                <a:solidFill>
                  <a:srgbClr val="1E50FF"/>
                </a:solidFill>
                <a:latin typeface="Arial" pitchFamily="34" charset="0"/>
                <a:ea typeface="Arial" pitchFamily="34" charset="-122"/>
                <a:cs typeface="Arial" pitchFamily="34" charset="-120"/>
              </a:rPr>
              <a:t>Why this style? </a:t>
            </a:r>
            <a:pPr indent="0" marL="0">
              <a:buNone/>
            </a:pPr>
            <a:r>
              <a:rPr lang="en-US" sz="1350" dirty="0">
                <a:solidFill>
                  <a:srgbClr val="000000"/>
                </a:solidFill>
                <a:latin typeface="Arial" pitchFamily="34" charset="0"/>
                <a:ea typeface="Arial" pitchFamily="34" charset="-122"/>
                <a:cs typeface="Arial" pitchFamily="34" charset="-120"/>
              </a:rPr>
              <a:t>High contrast makes every button easy to find on a small phone screen, even outdoors or for older customers. It also makes the brand memorable.</a:t>
            </a:r>
            <a:endParaRPr lang="en-US" sz="13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53" presetClass="entr" presetSubtype="16"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10" presetClass="entr" presetSubtype="0" fill="hold" nodeType="withEffect">
                                  <p:stCondLst>
                                    <p:cond delay="9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50FF"/>
        </a:solidFill>
      </p:bgPr>
    </p:bg>
    <p:spTree>
      <p:nvGrpSpPr>
        <p:cNvPr id="1" name=""/>
        <p:cNvGrpSpPr/>
        <p:nvPr/>
      </p:nvGrpSpPr>
      <p:grpSpPr>
        <a:xfrm>
          <a:off x="0" y="0"/>
          <a:ext cx="0" cy="0"/>
          <a:chOff x="0" y="0"/>
          <a:chExt cx="0" cy="0"/>
        </a:xfrm>
      </p:grpSpPr>
      <p:pic>
        <p:nvPicPr>
          <p:cNvPr id="2" name="anim:1:float:0" descr="out/m_splash.png">    </p:cNvPr>
          <p:cNvPicPr>
            <a:picLocks noChangeAspect="1"/>
          </p:cNvPicPr>
          <p:nvPr/>
        </p:nvPicPr>
        <p:blipFill>
          <a:blip r:embed="rId1"/>
          <a:stretch>
            <a:fillRect/>
          </a:stretch>
        </p:blipFill>
        <p:spPr>
          <a:xfrm rot="-240000">
            <a:off x="5212080" y="914400"/>
            <a:ext cx="2429933" cy="5120640"/>
          </a:xfrm>
          <a:prstGeom prst="rect">
            <a:avLst/>
          </a:prstGeom>
        </p:spPr>
      </p:pic>
      <p:pic>
        <p:nvPicPr>
          <p:cNvPr id="3" name="anim:1:float:1" descr="out/m_home.png">    </p:cNvPr>
          <p:cNvPicPr>
            <a:picLocks noChangeAspect="1"/>
          </p:cNvPicPr>
          <p:nvPr/>
        </p:nvPicPr>
        <p:blipFill>
          <a:blip r:embed="rId2"/>
          <a:stretch>
            <a:fillRect/>
          </a:stretch>
        </p:blipFill>
        <p:spPr>
          <a:xfrm>
            <a:off x="7315200" y="1371600"/>
            <a:ext cx="2429933" cy="5120640"/>
          </a:xfrm>
          <a:prstGeom prst="rect">
            <a:avLst/>
          </a:prstGeom>
        </p:spPr>
      </p:pic>
      <p:pic>
        <p:nvPicPr>
          <p:cNvPr id="4" name="anim:1:float:2" descr="out/m_gallery.png">    </p:cNvPr>
          <p:cNvPicPr>
            <a:picLocks noChangeAspect="1"/>
          </p:cNvPicPr>
          <p:nvPr/>
        </p:nvPicPr>
        <p:blipFill>
          <a:blip r:embed="rId3"/>
          <a:stretch>
            <a:fillRect/>
          </a:stretch>
        </p:blipFill>
        <p:spPr>
          <a:xfrm rot="240000">
            <a:off x="9418320" y="914400"/>
            <a:ext cx="2429933" cy="5120640"/>
          </a:xfrm>
          <a:prstGeom prst="rect">
            <a:avLst/>
          </a:prstGeom>
        </p:spPr>
      </p:pic>
      <p:sp>
        <p:nvSpPr>
          <p:cNvPr id="5" name="anim:2:zoom:0"/>
          <p:cNvSpPr txBox="1"/>
          <p:nvPr/>
        </p:nvSpPr>
        <p:spPr>
          <a:xfrm rot="-240000">
            <a:off x="548640" y="1463040"/>
            <a:ext cx="1371600" cy="1371600"/>
          </a:xfrm>
          <a:prstGeom prst="roundRect">
            <a:avLst>
              <a:gd name="adj" fmla="val 6667"/>
            </a:avLst>
          </a:prstGeom>
          <a:solidFill>
            <a:srgbClr val="FFE600"/>
          </a:solidFill>
          <a:ln w="38100">
            <a:solidFill>
              <a:srgbClr val="000000"/>
            </a:solidFill>
          </a:ln>
          <a:effectLst>
            <a:outerShdw sx="100000" sy="100000" kx="0" ky="0" algn="bl" rotWithShape="0" blurRad="101600" dist="76200" dir="2700000">
              <a:srgbClr val="000000">
                <a:alpha val="100000"/>
              </a:srgbClr>
            </a:outerShdw>
          </a:effectLst>
        </p:spPr>
        <p:txBody>
          <a:bodyPr wrap="square" lIns="0" tIns="0" rIns="0" bIns="0" rtlCol="0" anchor="ctr"/>
          <a:lstStyle/>
          <a:p>
            <a:pPr algn="ctr" indent="0" marL="0">
              <a:buNone/>
            </a:pPr>
            <a:r>
              <a:rPr lang="en-US" sz="5400" b="1" dirty="0">
                <a:solidFill>
                  <a:srgbClr val="000000"/>
                </a:solidFill>
                <a:latin typeface="Arial" pitchFamily="34" charset="0"/>
                <a:ea typeface="Arial" pitchFamily="34" charset="-122"/>
                <a:cs typeface="Arial" pitchFamily="34" charset="-120"/>
              </a:rPr>
              <a:t>01</a:t>
            </a:r>
            <a:endParaRPr lang="en-US" sz="5400" dirty="0"/>
          </a:p>
        </p:txBody>
      </p:sp>
      <p:sp>
        <p:nvSpPr>
          <p:cNvPr id="6" name="anim:3:float:0"/>
          <p:cNvSpPr txBox="1"/>
          <p:nvPr/>
        </p:nvSpPr>
        <p:spPr>
          <a:xfrm>
            <a:off x="548640" y="3108960"/>
            <a:ext cx="5029200" cy="14630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CUSTOMER APP</a:t>
            </a:r>
            <a:endParaRPr lang="en-US" sz="4000" dirty="0"/>
          </a:p>
        </p:txBody>
      </p:sp>
      <p:sp>
        <p:nvSpPr>
          <p:cNvPr id="7" name="anim:4:fade:0"/>
          <p:cNvSpPr txBox="1"/>
          <p:nvPr/>
        </p:nvSpPr>
        <p:spPr>
          <a:xfrm>
            <a:off x="548640" y="4617720"/>
            <a:ext cx="4754880" cy="1097280"/>
          </a:xfrm>
          <a:prstGeom prst="rect">
            <a:avLst/>
          </a:prstGeom>
          <a:noFill/>
          <a:ln/>
        </p:spPr>
        <p:txBody>
          <a:bodyPr wrap="square" lIns="0" tIns="0" rIns="0" bIns="0" rtlCol="0" anchor="t"/>
          <a:lstStyle/>
          <a:p>
            <a:pPr indent="0" marL="0">
              <a:buNone/>
            </a:pPr>
            <a:r>
              <a:rPr lang="en-US" sz="1600" b="1" dirty="0">
                <a:solidFill>
                  <a:srgbClr val="DCE6FF"/>
                </a:solidFill>
                <a:latin typeface="Arial" pitchFamily="34" charset="0"/>
                <a:ea typeface="Arial" pitchFamily="34" charset="-122"/>
                <a:cs typeface="Arial" pitchFamily="34" charset="-120"/>
              </a:rPr>
              <a:t>Mobile-first. Opens in any phone browser, no download needed. From home screen to confirmed slot in under a minute.</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anim calcmode="lin" valueType="num">
                                      <p:cBhvr additive="base">
                                        <p:cTn id="8" dur="550" fill="hold"/>
                                        <p:tgtEl>
                                          <p:spTgt spid="2"/>
                                        </p:tgtEl>
                                        <p:attrNameLst>
                                          <p:attrName>ppt_x</p:attrName>
                                        </p:attrNameLst>
                                      </p:cBhvr>
                                      <p:tavLst>
                                        <p:tav tm="0">
                                          <p:val>
                                            <p:strVal val="#ppt_x"/>
                                          </p:val>
                                        </p:tav>
                                        <p:tav tm="100000">
                                          <p:val>
                                            <p:strVal val="#ppt_x"/>
                                          </p:val>
                                        </p:tav>
                                      </p:tavLst>
                                    </p:anim>
                                    <p:anim calcmode="lin" valueType="num">
                                      <p:cBhvr additive="base">
                                        <p:cTn id="9" dur="5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50"/>
                                        <p:tgtEl>
                                          <p:spTgt spid="3"/>
                                        </p:tgtEl>
                                      </p:cBhvr>
                                    </p:animEffect>
                                    <p:anim calcmode="lin" valueType="num">
                                      <p:cBhvr additive="base">
                                        <p:cTn id="13" dur="550" fill="hold"/>
                                        <p:tgtEl>
                                          <p:spTgt spid="3"/>
                                        </p:tgtEl>
                                        <p:attrNameLst>
                                          <p:attrName>ppt_x</p:attrName>
                                        </p:attrNameLst>
                                      </p:cBhvr>
                                      <p:tavLst>
                                        <p:tav tm="0">
                                          <p:val>
                                            <p:strVal val="#ppt_x"/>
                                          </p:val>
                                        </p:tav>
                                        <p:tav tm="100000">
                                          <p:val>
                                            <p:strVal val="#ppt_x"/>
                                          </p:val>
                                        </p:tav>
                                      </p:tavLst>
                                    </p:anim>
                                    <p:anim calcmode="lin" valueType="num">
                                      <p:cBhvr additive="base">
                                        <p:cTn id="14" dur="55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50"/>
                                        <p:tgtEl>
                                          <p:spTgt spid="4"/>
                                        </p:tgtEl>
                                      </p:cBhvr>
                                    </p:animEffect>
                                    <p:anim calcmode="lin" valueType="num">
                                      <p:cBhvr additive="base">
                                        <p:cTn id="18" dur="550" fill="hold"/>
                                        <p:tgtEl>
                                          <p:spTgt spid="4"/>
                                        </p:tgtEl>
                                        <p:attrNameLst>
                                          <p:attrName>ppt_x</p:attrName>
                                        </p:attrNameLst>
                                      </p:cBhvr>
                                      <p:tavLst>
                                        <p:tav tm="0">
                                          <p:val>
                                            <p:strVal val="#ppt_x"/>
                                          </p:val>
                                        </p:tav>
                                        <p:tav tm="100000">
                                          <p:val>
                                            <p:strVal val="#ppt_x"/>
                                          </p:val>
                                        </p:tav>
                                      </p:tavLst>
                                    </p:anim>
                                    <p:anim calcmode="lin" valueType="num">
                                      <p:cBhvr additive="base">
                                        <p:cTn id="19" dur="550" fill="hold"/>
                                        <p:tgtEl>
                                          <p:spTgt spid="4"/>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64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420" fill="hold"/>
                                        <p:tgtEl>
                                          <p:spTgt spid="5"/>
                                        </p:tgtEl>
                                        <p:attrNameLst>
                                          <p:attrName>ppt_w</p:attrName>
                                        </p:attrNameLst>
                                      </p:cBhvr>
                                      <p:tavLst>
                                        <p:tav tm="0">
                                          <p:val>
                                            <p:fltVal val="0"/>
                                          </p:val>
                                        </p:tav>
                                        <p:tav tm="100000">
                                          <p:val>
                                            <p:strVal val="#ppt_w"/>
                                          </p:val>
                                        </p:tav>
                                      </p:tavLst>
                                    </p:anim>
                                    <p:anim calcmode="lin" valueType="num">
                                      <p:cBhvr additive="base">
                                        <p:cTn id="23" dur="420" fill="hold"/>
                                        <p:tgtEl>
                                          <p:spTgt spid="5"/>
                                        </p:tgtEl>
                                        <p:attrNameLst>
                                          <p:attrName>ppt_h</p:attrName>
                                        </p:attrNameLst>
                                      </p:cBhvr>
                                      <p:tavLst>
                                        <p:tav tm="0">
                                          <p:val>
                                            <p:fltVal val="0"/>
                                          </p:val>
                                        </p:tav>
                                        <p:tav tm="100000">
                                          <p:val>
                                            <p:strVal val="#ppt_h"/>
                                          </p:val>
                                        </p:tav>
                                      </p:tavLst>
                                    </p:anim>
                                    <p:animEffect transition="in" filter="fade">
                                      <p:cBhvr>
                                        <p:cTn id="24" dur="420"/>
                                        <p:tgtEl>
                                          <p:spTgt spid="5"/>
                                        </p:tgtEl>
                                      </p:cBhvr>
                                    </p:animEffect>
                                  </p:childTnLst>
                                </p:cTn>
                              </p:par>
                              <p:par>
                                <p:cTn id="25" presetID="42" presetClass="entr" presetSubtype="0" fill="hold" nodeType="withEffect">
                                  <p:stCondLst>
                                    <p:cond delay="91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50"/>
                                        <p:tgtEl>
                                          <p:spTgt spid="6"/>
                                        </p:tgtEl>
                                      </p:cBhvr>
                                    </p:animEffect>
                                    <p:anim calcmode="lin" valueType="num">
                                      <p:cBhvr additive="base">
                                        <p:cTn id="28" dur="550" fill="hold"/>
                                        <p:tgtEl>
                                          <p:spTgt spid="6"/>
                                        </p:tgtEl>
                                        <p:attrNameLst>
                                          <p:attrName>ppt_x</p:attrName>
                                        </p:attrNameLst>
                                      </p:cBhvr>
                                      <p:tavLst>
                                        <p:tav tm="0">
                                          <p:val>
                                            <p:strVal val="#ppt_x"/>
                                          </p:val>
                                        </p:tav>
                                        <p:tav tm="100000">
                                          <p:val>
                                            <p:strVal val="#ppt_x"/>
                                          </p:val>
                                        </p:tav>
                                      </p:tavLst>
                                    </p:anim>
                                    <p:anim calcmode="lin" valueType="num">
                                      <p:cBhvr additive="base">
                                        <p:cTn id="29" dur="550" fill="hold"/>
                                        <p:tgtEl>
                                          <p:spTgt spid="6"/>
                                        </p:tgtEl>
                                        <p:attrNameLst>
                                          <p:attrName>ppt_y</p:attrName>
                                        </p:attrNameLst>
                                      </p:cBhvr>
                                      <p:tavLst>
                                        <p:tav tm="0">
                                          <p:val>
                                            <p:strVal val="#ppt_y+.1"/>
                                          </p:val>
                                        </p:tav>
                                        <p:tav tm="100000">
                                          <p:val>
                                            <p:strVal val="#ppt_y"/>
                                          </p:val>
                                        </p:tav>
                                      </p:tavLst>
                                    </p:anim>
                                  </p:childTnLst>
                                </p:cTn>
                              </p:par>
                              <p:par>
                                <p:cTn id="30" presetID="10" presetClass="entr" presetSubtype="0" fill="hold" nodeType="withEffect">
                                  <p:stCondLst>
                                    <p:cond delay="131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2860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FIRST IMPRESSION</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WELCOME AND HOME</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Friendly, fast, and personal from the first tap</a:t>
            </a:r>
            <a:endParaRPr lang="en-US" sz="1400" dirty="0"/>
          </a:p>
        </p:txBody>
      </p:sp>
      <p:pic>
        <p:nvPicPr>
          <p:cNvPr id="5" name="anim:1:float:0" descr="out/m_splash.png">    </p:cNvPr>
          <p:cNvPicPr>
            <a:picLocks noChangeAspect="1"/>
          </p:cNvPicPr>
          <p:nvPr/>
        </p:nvPicPr>
        <p:blipFill>
          <a:blip r:embed="rId1"/>
          <a:stretch>
            <a:fillRect/>
          </a:stretch>
        </p:blipFill>
        <p:spPr>
          <a:xfrm>
            <a:off x="548640" y="1783080"/>
            <a:ext cx="2169583" cy="4572000"/>
          </a:xfrm>
          <a:prstGeom prst="rect">
            <a:avLst/>
          </a:prstGeom>
        </p:spPr>
      </p:pic>
      <p:sp>
        <p:nvSpPr>
          <p:cNvPr id="6" name="anim:2:zoom:0"/>
          <p:cNvSpPr txBox="1"/>
          <p:nvPr/>
        </p:nvSpPr>
        <p:spPr>
          <a:xfrm>
            <a:off x="731520"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SPLASH</a:t>
            </a:r>
            <a:endParaRPr lang="en-US" sz="1050" dirty="0"/>
          </a:p>
        </p:txBody>
      </p:sp>
      <p:pic>
        <p:nvPicPr>
          <p:cNvPr id="7" name="anim:1:float:1" descr="out/m_home.png">    </p:cNvPr>
          <p:cNvPicPr>
            <a:picLocks noChangeAspect="1"/>
          </p:cNvPicPr>
          <p:nvPr/>
        </p:nvPicPr>
        <p:blipFill>
          <a:blip r:embed="rId2"/>
          <a:stretch>
            <a:fillRect/>
          </a:stretch>
        </p:blipFill>
        <p:spPr>
          <a:xfrm>
            <a:off x="3083983" y="1783080"/>
            <a:ext cx="2169583" cy="4572000"/>
          </a:xfrm>
          <a:prstGeom prst="rect">
            <a:avLst/>
          </a:prstGeom>
        </p:spPr>
      </p:pic>
      <p:sp>
        <p:nvSpPr>
          <p:cNvPr id="8" name="anim:2:zoom:1"/>
          <p:cNvSpPr txBox="1"/>
          <p:nvPr/>
        </p:nvSpPr>
        <p:spPr>
          <a:xfrm>
            <a:off x="3266863"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HOME</a:t>
            </a:r>
            <a:endParaRPr lang="en-US" sz="1050" dirty="0"/>
          </a:p>
        </p:txBody>
      </p:sp>
      <p:sp>
        <p:nvSpPr>
          <p:cNvPr id="9" name="anim:3:float:0"/>
          <p:cNvSpPr txBox="1"/>
          <p:nvPr/>
        </p:nvSpPr>
        <p:spPr>
          <a:xfrm>
            <a:off x="5756487"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0" name="anim:3:float:0"/>
          <p:cNvSpPr txBox="1"/>
          <p:nvPr/>
        </p:nvSpPr>
        <p:spPr>
          <a:xfrm>
            <a:off x="6350847" y="190195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NO LOGIN IN THE DEMO</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The prototype opens straight to a sample account, "Juan."</a:t>
            </a:r>
            <a:endParaRPr lang="en-US" sz="1400" dirty="0"/>
          </a:p>
        </p:txBody>
      </p:sp>
      <p:sp>
        <p:nvSpPr>
          <p:cNvPr id="11" name="anim:3:float:1"/>
          <p:cNvSpPr txBox="1"/>
          <p:nvPr/>
        </p:nvSpPr>
        <p:spPr>
          <a:xfrm>
            <a:off x="5756487" y="288036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anim:3:float:1"/>
          <p:cNvSpPr txBox="1"/>
          <p:nvPr/>
        </p:nvSpPr>
        <p:spPr>
          <a:xfrm>
            <a:off x="6350847" y="286207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YOUR NEXT CUT</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Upcoming booking with a countdown, plus View and Reschedule.</a:t>
            </a:r>
            <a:endParaRPr lang="en-US" sz="1400" dirty="0"/>
          </a:p>
        </p:txBody>
      </p:sp>
      <p:sp>
        <p:nvSpPr>
          <p:cNvPr id="13" name="anim:3:float:2"/>
          <p:cNvSpPr txBox="1"/>
          <p:nvPr/>
        </p:nvSpPr>
        <p:spPr>
          <a:xfrm>
            <a:off x="5756487" y="38404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4" name="anim:3:float:2"/>
          <p:cNvSpPr txBox="1"/>
          <p:nvPr/>
        </p:nvSpPr>
        <p:spPr>
          <a:xfrm>
            <a:off x="6350847" y="382219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QUICK REBOOK</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One tap books "your usual": same style, same barber, same guard.</a:t>
            </a:r>
            <a:endParaRPr lang="en-US" sz="1400" dirty="0"/>
          </a:p>
        </p:txBody>
      </p:sp>
      <p:sp>
        <p:nvSpPr>
          <p:cNvPr id="15" name="anim:3:float:3"/>
          <p:cNvSpPr txBox="1"/>
          <p:nvPr/>
        </p:nvSpPr>
        <p:spPr>
          <a:xfrm>
            <a:off x="5756487" y="48006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6" name="anim:3:float:3"/>
          <p:cNvSpPr txBox="1"/>
          <p:nvPr/>
        </p:nvSpPr>
        <p:spPr>
          <a:xfrm>
            <a:off x="6350847" y="478231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NEARBY SHOPS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Open-now badges, ratings, and distance. More shops can be added later.</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9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20" fill="hold"/>
                                        <p:tgtEl>
                                          <p:spTgt spid="6"/>
                                        </p:tgtEl>
                                        <p:attrNameLst>
                                          <p:attrName>ppt_w</p:attrName>
                                        </p:attrNameLst>
                                      </p:cBhvr>
                                      <p:tavLst>
                                        <p:tav tm="0">
                                          <p:val>
                                            <p:fltVal val="0"/>
                                          </p:val>
                                        </p:tav>
                                        <p:tav tm="100000">
                                          <p:val>
                                            <p:strVal val="#ppt_w"/>
                                          </p:val>
                                        </p:tav>
                                      </p:tavLst>
                                    </p:anim>
                                    <p:anim calcmode="lin" valueType="num">
                                      <p:cBhvr additive="base">
                                        <p:cTn id="23" dur="420" fill="hold"/>
                                        <p:tgtEl>
                                          <p:spTgt spid="6"/>
                                        </p:tgtEl>
                                        <p:attrNameLst>
                                          <p:attrName>ppt_h</p:attrName>
                                        </p:attrNameLst>
                                      </p:cBhvr>
                                      <p:tavLst>
                                        <p:tav tm="0">
                                          <p:val>
                                            <p:fltVal val="0"/>
                                          </p:val>
                                        </p:tav>
                                        <p:tav tm="100000">
                                          <p:val>
                                            <p:strVal val="#ppt_h"/>
                                          </p:val>
                                        </p:tav>
                                      </p:tavLst>
                                    </p:anim>
                                    <p:animEffect transition="in" filter="fade">
                                      <p:cBhvr>
                                        <p:cTn id="24" dur="420"/>
                                        <p:tgtEl>
                                          <p:spTgt spid="6"/>
                                        </p:tgtEl>
                                      </p:cBhvr>
                                    </p:animEffect>
                                  </p:childTnLst>
                                </p:cTn>
                              </p:par>
                              <p:par>
                                <p:cTn id="25" presetID="53" presetClass="entr" presetSubtype="16" fill="hold" nodeType="withEffect">
                                  <p:stCondLst>
                                    <p:cond delay="91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42" presetClass="entr" presetSubtype="0" fill="hold" nodeType="withEffect">
                                  <p:stCondLst>
                                    <p:cond delay="1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1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4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5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3716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STEP 1</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SHOP AND STYLE GALLERY</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Customers show exactly what they want, before they arrive</a:t>
            </a:r>
            <a:endParaRPr lang="en-US" sz="1400" dirty="0"/>
          </a:p>
        </p:txBody>
      </p:sp>
      <p:pic>
        <p:nvPicPr>
          <p:cNvPr id="5" name="anim:1:float:0" descr="out/m_shop.png">    </p:cNvPr>
          <p:cNvPicPr>
            <a:picLocks noChangeAspect="1"/>
          </p:cNvPicPr>
          <p:nvPr/>
        </p:nvPicPr>
        <p:blipFill>
          <a:blip r:embed="rId1"/>
          <a:stretch>
            <a:fillRect/>
          </a:stretch>
        </p:blipFill>
        <p:spPr>
          <a:xfrm>
            <a:off x="548640" y="1783080"/>
            <a:ext cx="2147888" cy="4526280"/>
          </a:xfrm>
          <a:prstGeom prst="rect">
            <a:avLst/>
          </a:prstGeom>
        </p:spPr>
      </p:pic>
      <p:sp>
        <p:nvSpPr>
          <p:cNvPr id="6" name="anim:2:zoom:0"/>
          <p:cNvSpPr txBox="1"/>
          <p:nvPr/>
        </p:nvSpPr>
        <p:spPr>
          <a:xfrm>
            <a:off x="731520" y="6199632"/>
            <a:ext cx="1690688"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SHOP</a:t>
            </a:r>
            <a:endParaRPr lang="en-US" sz="1050" dirty="0"/>
          </a:p>
        </p:txBody>
      </p:sp>
      <p:pic>
        <p:nvPicPr>
          <p:cNvPr id="7" name="anim:1:float:1" descr="out/m_gallery.png">    </p:cNvPr>
          <p:cNvPicPr>
            <a:picLocks noChangeAspect="1"/>
          </p:cNvPicPr>
          <p:nvPr/>
        </p:nvPicPr>
        <p:blipFill>
          <a:blip r:embed="rId2"/>
          <a:stretch>
            <a:fillRect/>
          </a:stretch>
        </p:blipFill>
        <p:spPr>
          <a:xfrm>
            <a:off x="3016568" y="1783080"/>
            <a:ext cx="2147888" cy="4526280"/>
          </a:xfrm>
          <a:prstGeom prst="rect">
            <a:avLst/>
          </a:prstGeom>
        </p:spPr>
      </p:pic>
      <p:sp>
        <p:nvSpPr>
          <p:cNvPr id="8" name="anim:2:zoom:1"/>
          <p:cNvSpPr txBox="1"/>
          <p:nvPr/>
        </p:nvSpPr>
        <p:spPr>
          <a:xfrm>
            <a:off x="3199448" y="6199632"/>
            <a:ext cx="1690688"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STYLE GALLERY</a:t>
            </a:r>
            <a:endParaRPr lang="en-US" sz="1050" dirty="0"/>
          </a:p>
        </p:txBody>
      </p:sp>
      <p:pic>
        <p:nvPicPr>
          <p:cNvPr id="9" name="anim:1:float:2" descr="out/m_upload.png">    </p:cNvPr>
          <p:cNvPicPr>
            <a:picLocks noChangeAspect="1"/>
          </p:cNvPicPr>
          <p:nvPr/>
        </p:nvPicPr>
        <p:blipFill>
          <a:blip r:embed="rId3"/>
          <a:stretch>
            <a:fillRect/>
          </a:stretch>
        </p:blipFill>
        <p:spPr>
          <a:xfrm>
            <a:off x="5484495" y="1783080"/>
            <a:ext cx="2147888" cy="4526280"/>
          </a:xfrm>
          <a:prstGeom prst="rect">
            <a:avLst/>
          </a:prstGeom>
        </p:spPr>
      </p:pic>
      <p:sp>
        <p:nvSpPr>
          <p:cNvPr id="10" name="anim:2:zoom:2"/>
          <p:cNvSpPr txBox="1"/>
          <p:nvPr/>
        </p:nvSpPr>
        <p:spPr>
          <a:xfrm>
            <a:off x="5667375" y="6199632"/>
            <a:ext cx="1690688"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OWN PHOTO</a:t>
            </a:r>
            <a:endParaRPr lang="en-US" sz="1050" dirty="0"/>
          </a:p>
        </p:txBody>
      </p:sp>
      <p:sp>
        <p:nvSpPr>
          <p:cNvPr id="11" name="anim:3:float:0"/>
          <p:cNvSpPr txBox="1"/>
          <p:nvPr/>
        </p:nvSpPr>
        <p:spPr>
          <a:xfrm>
            <a:off x="8089583"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2" name="anim:3:float:0"/>
          <p:cNvSpPr txBox="1"/>
          <p:nvPr/>
        </p:nvSpPr>
        <p:spPr>
          <a:xfrm>
            <a:off x="8683943" y="1901952"/>
            <a:ext cx="2974657" cy="11430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SERVICES AND PRICES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Sample prices. Payment is still made at the shop.</a:t>
            </a:r>
            <a:endParaRPr lang="en-US" sz="1400" dirty="0"/>
          </a:p>
        </p:txBody>
      </p:sp>
      <p:sp>
        <p:nvSpPr>
          <p:cNvPr id="13" name="anim:3:float:1"/>
          <p:cNvSpPr txBox="1"/>
          <p:nvPr/>
        </p:nvSpPr>
        <p:spPr>
          <a:xfrm>
            <a:off x="8089583" y="31546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4" name="anim:3:float:1"/>
          <p:cNvSpPr txBox="1"/>
          <p:nvPr/>
        </p:nvSpPr>
        <p:spPr>
          <a:xfrm>
            <a:off x="8683943" y="3136392"/>
            <a:ext cx="2974657" cy="11430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TRENDING STYLES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The shop updates the gallery, so new styles show up here.</a:t>
            </a:r>
            <a:endParaRPr lang="en-US" sz="1400" dirty="0"/>
          </a:p>
        </p:txBody>
      </p:sp>
      <p:sp>
        <p:nvSpPr>
          <p:cNvPr id="15" name="anim:3:float:2"/>
          <p:cNvSpPr txBox="1"/>
          <p:nvPr/>
        </p:nvSpPr>
        <p:spPr>
          <a:xfrm>
            <a:off x="8089583" y="43891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6" name="anim:3:float:2"/>
          <p:cNvSpPr txBox="1"/>
          <p:nvPr/>
        </p:nvSpPr>
        <p:spPr>
          <a:xfrm>
            <a:off x="8683943" y="4370832"/>
            <a:ext cx="2974657" cy="11430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UPLOAD YOUR OWN</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Customers can send their own reference photo to the barber.</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1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anim calcmode="lin" valueType="num">
                                      <p:cBhvr additive="base">
                                        <p:cTn id="23" dur="550" fill="hold"/>
                                        <p:tgtEl>
                                          <p:spTgt spid="9"/>
                                        </p:tgtEl>
                                        <p:attrNameLst>
                                          <p:attrName>ppt_x</p:attrName>
                                        </p:attrNameLst>
                                      </p:cBhvr>
                                      <p:tavLst>
                                        <p:tav tm="0">
                                          <p:val>
                                            <p:strVal val="#ppt_x"/>
                                          </p:val>
                                        </p:tav>
                                        <p:tav tm="100000">
                                          <p:val>
                                            <p:strVal val="#ppt_x"/>
                                          </p:val>
                                        </p:tav>
                                      </p:tavLst>
                                    </p:anim>
                                    <p:anim calcmode="lin" valueType="num">
                                      <p:cBhvr additive="base">
                                        <p:cTn id="24" dur="550" fill="hold"/>
                                        <p:tgtEl>
                                          <p:spTgt spid="9"/>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91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420" fill="hold"/>
                                        <p:tgtEl>
                                          <p:spTgt spid="6"/>
                                        </p:tgtEl>
                                        <p:attrNameLst>
                                          <p:attrName>ppt_w</p:attrName>
                                        </p:attrNameLst>
                                      </p:cBhvr>
                                      <p:tavLst>
                                        <p:tav tm="0">
                                          <p:val>
                                            <p:fltVal val="0"/>
                                          </p:val>
                                        </p:tav>
                                        <p:tav tm="100000">
                                          <p:val>
                                            <p:strVal val="#ppt_w"/>
                                          </p:val>
                                        </p:tav>
                                      </p:tavLst>
                                    </p:anim>
                                    <p:anim calcmode="lin" valueType="num">
                                      <p:cBhvr additive="base">
                                        <p:cTn id="28" dur="420" fill="hold"/>
                                        <p:tgtEl>
                                          <p:spTgt spid="6"/>
                                        </p:tgtEl>
                                        <p:attrNameLst>
                                          <p:attrName>ppt_h</p:attrName>
                                        </p:attrNameLst>
                                      </p:cBhvr>
                                      <p:tavLst>
                                        <p:tav tm="0">
                                          <p:val>
                                            <p:fltVal val="0"/>
                                          </p:val>
                                        </p:tav>
                                        <p:tav tm="100000">
                                          <p:val>
                                            <p:strVal val="#ppt_h"/>
                                          </p:val>
                                        </p:tav>
                                      </p:tavLst>
                                    </p:anim>
                                    <p:animEffect transition="in" filter="fade">
                                      <p:cBhvr>
                                        <p:cTn id="29" dur="420"/>
                                        <p:tgtEl>
                                          <p:spTgt spid="6"/>
                                        </p:tgtEl>
                                      </p:cBhvr>
                                    </p:animEffect>
                                  </p:childTnLst>
                                </p:cTn>
                              </p:par>
                              <p:par>
                                <p:cTn id="30" presetID="53" presetClass="entr" presetSubtype="16" fill="hold" nodeType="withEffect">
                                  <p:stCondLst>
                                    <p:cond delay="103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420" fill="hold"/>
                                        <p:tgtEl>
                                          <p:spTgt spid="8"/>
                                        </p:tgtEl>
                                        <p:attrNameLst>
                                          <p:attrName>ppt_w</p:attrName>
                                        </p:attrNameLst>
                                      </p:cBhvr>
                                      <p:tavLst>
                                        <p:tav tm="0">
                                          <p:val>
                                            <p:fltVal val="0"/>
                                          </p:val>
                                        </p:tav>
                                        <p:tav tm="100000">
                                          <p:val>
                                            <p:strVal val="#ppt_w"/>
                                          </p:val>
                                        </p:tav>
                                      </p:tavLst>
                                    </p:anim>
                                    <p:anim calcmode="lin" valueType="num">
                                      <p:cBhvr additive="base">
                                        <p:cTn id="33" dur="420" fill="hold"/>
                                        <p:tgtEl>
                                          <p:spTgt spid="8"/>
                                        </p:tgtEl>
                                        <p:attrNameLst>
                                          <p:attrName>ppt_h</p:attrName>
                                        </p:attrNameLst>
                                      </p:cBhvr>
                                      <p:tavLst>
                                        <p:tav tm="0">
                                          <p:val>
                                            <p:fltVal val="0"/>
                                          </p:val>
                                        </p:tav>
                                        <p:tav tm="100000">
                                          <p:val>
                                            <p:strVal val="#ppt_h"/>
                                          </p:val>
                                        </p:tav>
                                      </p:tavLst>
                                    </p:anim>
                                    <p:animEffect transition="in" filter="fade">
                                      <p:cBhvr>
                                        <p:cTn id="34" dur="420"/>
                                        <p:tgtEl>
                                          <p:spTgt spid="8"/>
                                        </p:tgtEl>
                                      </p:cBhvr>
                                    </p:animEffect>
                                  </p:childTnLst>
                                </p:cTn>
                              </p:par>
                              <p:par>
                                <p:cTn id="35" presetID="53" presetClass="entr" presetSubtype="16" fill="hold" nodeType="withEffect">
                                  <p:stCondLst>
                                    <p:cond delay="115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20" fill="hold"/>
                                        <p:tgtEl>
                                          <p:spTgt spid="10"/>
                                        </p:tgtEl>
                                        <p:attrNameLst>
                                          <p:attrName>ppt_w</p:attrName>
                                        </p:attrNameLst>
                                      </p:cBhvr>
                                      <p:tavLst>
                                        <p:tav tm="0">
                                          <p:val>
                                            <p:fltVal val="0"/>
                                          </p:val>
                                        </p:tav>
                                        <p:tav tm="100000">
                                          <p:val>
                                            <p:strVal val="#ppt_w"/>
                                          </p:val>
                                        </p:tav>
                                      </p:tavLst>
                                    </p:anim>
                                    <p:anim calcmode="lin" valueType="num">
                                      <p:cBhvr additive="base">
                                        <p:cTn id="38" dur="420" fill="hold"/>
                                        <p:tgtEl>
                                          <p:spTgt spid="10"/>
                                        </p:tgtEl>
                                        <p:attrNameLst>
                                          <p:attrName>ppt_h</p:attrName>
                                        </p:attrNameLst>
                                      </p:cBhvr>
                                      <p:tavLst>
                                        <p:tav tm="0">
                                          <p:val>
                                            <p:fltVal val="0"/>
                                          </p:val>
                                        </p:tav>
                                        <p:tav tm="100000">
                                          <p:val>
                                            <p:strVal val="#ppt_h"/>
                                          </p:val>
                                        </p:tav>
                                      </p:tavLst>
                                    </p:anim>
                                    <p:animEffect transition="in" filter="fade">
                                      <p:cBhvr>
                                        <p:cTn id="39" dur="420"/>
                                        <p:tgtEl>
                                          <p:spTgt spid="10"/>
                                        </p:tgtEl>
                                      </p:cBhvr>
                                    </p:animEffect>
                                  </p:childTnLst>
                                </p:cTn>
                              </p:par>
                              <p:par>
                                <p:cTn id="40" presetID="42" presetClass="entr" presetSubtype="0" fill="hold" nodeType="withEffect">
                                  <p:stCondLst>
                                    <p:cond delay="142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2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54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5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66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6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33147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STEP 2 · OUR MAIN FEATURE</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BARBER + HAIRCUT PREFERENCES</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Guard number, top length, beard, extras, and notes, saved for next time</a:t>
            </a:r>
            <a:endParaRPr lang="en-US" sz="1400" dirty="0"/>
          </a:p>
        </p:txBody>
      </p:sp>
      <p:pic>
        <p:nvPicPr>
          <p:cNvPr id="5" name="anim:1:float:0" descr="out/m_barber.png">    </p:cNvPr>
          <p:cNvPicPr>
            <a:picLocks noChangeAspect="1"/>
          </p:cNvPicPr>
          <p:nvPr/>
        </p:nvPicPr>
        <p:blipFill>
          <a:blip r:embed="rId1"/>
          <a:stretch>
            <a:fillRect/>
          </a:stretch>
        </p:blipFill>
        <p:spPr>
          <a:xfrm>
            <a:off x="548640" y="1783080"/>
            <a:ext cx="2169583" cy="4572000"/>
          </a:xfrm>
          <a:prstGeom prst="rect">
            <a:avLst/>
          </a:prstGeom>
        </p:spPr>
      </p:pic>
      <p:sp>
        <p:nvSpPr>
          <p:cNvPr id="6" name="anim:2:zoom:0"/>
          <p:cNvSpPr txBox="1"/>
          <p:nvPr/>
        </p:nvSpPr>
        <p:spPr>
          <a:xfrm>
            <a:off x="731520"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PICK A BARBER</a:t>
            </a:r>
            <a:endParaRPr lang="en-US" sz="1050" dirty="0"/>
          </a:p>
        </p:txBody>
      </p:sp>
      <p:pic>
        <p:nvPicPr>
          <p:cNvPr id="7" name="anim:1:float:1" descr="out/m_prefs.png">    </p:cNvPr>
          <p:cNvPicPr>
            <a:picLocks noChangeAspect="1"/>
          </p:cNvPicPr>
          <p:nvPr/>
        </p:nvPicPr>
        <p:blipFill>
          <a:blip r:embed="rId2"/>
          <a:stretch>
            <a:fillRect/>
          </a:stretch>
        </p:blipFill>
        <p:spPr>
          <a:xfrm>
            <a:off x="3083983" y="1783080"/>
            <a:ext cx="2169583" cy="4572000"/>
          </a:xfrm>
          <a:prstGeom prst="rect">
            <a:avLst/>
          </a:prstGeom>
        </p:spPr>
      </p:pic>
      <p:sp>
        <p:nvSpPr>
          <p:cNvPr id="8" name="anim:2:zoom:1"/>
          <p:cNvSpPr txBox="1"/>
          <p:nvPr/>
        </p:nvSpPr>
        <p:spPr>
          <a:xfrm>
            <a:off x="3266863" y="6245352"/>
            <a:ext cx="1712383" cy="347472"/>
          </a:xfrm>
          <a:prstGeom prst="roundRect">
            <a:avLst>
              <a:gd name="adj" fmla="val 21053"/>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MY DETAILS</a:t>
            </a:r>
            <a:endParaRPr lang="en-US" sz="1050" dirty="0"/>
          </a:p>
        </p:txBody>
      </p:sp>
      <p:sp>
        <p:nvSpPr>
          <p:cNvPr id="9" name="anim:3:float:0"/>
          <p:cNvSpPr txBox="1"/>
          <p:nvPr/>
        </p:nvSpPr>
        <p:spPr>
          <a:xfrm>
            <a:off x="5756487"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0" name="anim:3:float:0"/>
          <p:cNvSpPr txBox="1"/>
          <p:nvPr/>
        </p:nvSpPr>
        <p:spPr>
          <a:xfrm>
            <a:off x="6350847" y="190195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FAVORITE BARBER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Shows each barber's next free time, or "any available."</a:t>
            </a:r>
            <a:endParaRPr lang="en-US" sz="1400" dirty="0"/>
          </a:p>
        </p:txBody>
      </p:sp>
      <p:sp>
        <p:nvSpPr>
          <p:cNvPr id="11" name="anim:3:float:1"/>
          <p:cNvSpPr txBox="1"/>
          <p:nvPr/>
        </p:nvSpPr>
        <p:spPr>
          <a:xfrm>
            <a:off x="5756487" y="288036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anim:3:float:1"/>
          <p:cNvSpPr txBox="1"/>
          <p:nvPr/>
        </p:nvSpPr>
        <p:spPr>
          <a:xfrm>
            <a:off x="6350847" y="286207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GUARD NUMBER STEPPER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From #0 skin to #8. No more guessing "semi-kalbo."</a:t>
            </a:r>
            <a:endParaRPr lang="en-US" sz="1400" dirty="0"/>
          </a:p>
        </p:txBody>
      </p:sp>
      <p:sp>
        <p:nvSpPr>
          <p:cNvPr id="13" name="anim:3:float:2"/>
          <p:cNvSpPr txBox="1"/>
          <p:nvPr/>
        </p:nvSpPr>
        <p:spPr>
          <a:xfrm>
            <a:off x="5756487" y="38404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4" name="anim:3:float:2"/>
          <p:cNvSpPr txBox="1"/>
          <p:nvPr/>
        </p:nvSpPr>
        <p:spPr>
          <a:xfrm>
            <a:off x="6350847" y="382219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TOP, BEARD, EXTRAS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Simple taps instead of long explanations.</a:t>
            </a:r>
            <a:endParaRPr lang="en-US" sz="1400" dirty="0"/>
          </a:p>
        </p:txBody>
      </p:sp>
      <p:sp>
        <p:nvSpPr>
          <p:cNvPr id="15" name="anim:3:float:3"/>
          <p:cNvSpPr txBox="1"/>
          <p:nvPr/>
        </p:nvSpPr>
        <p:spPr>
          <a:xfrm>
            <a:off x="5756487" y="48006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6" name="anim:3:float:3"/>
          <p:cNvSpPr txBox="1"/>
          <p:nvPr/>
        </p:nvSpPr>
        <p:spPr>
          <a:xfrm>
            <a:off x="6350847" y="478231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NOTES + SAVE AS USUAL</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Written once, remembered every visit.</a:t>
            </a:r>
            <a:endParaRPr lang="en-US" sz="1400" dirty="0"/>
          </a:p>
        </p:txBody>
      </p:sp>
      <p:sp>
        <p:nvSpPr>
          <p:cNvPr id="17" name="anim:4:zoom:0"/>
          <p:cNvSpPr txBox="1"/>
          <p:nvPr/>
        </p:nvSpPr>
        <p:spPr>
          <a:xfrm rot="-120000">
            <a:off x="8321040" y="5897880"/>
            <a:ext cx="3291840" cy="384048"/>
          </a:xfrm>
          <a:prstGeom prst="roundRect">
            <a:avLst>
              <a:gd name="adj" fmla="val 19048"/>
            </a:avLst>
          </a:prstGeom>
          <a:solidFill>
            <a:srgbClr val="EF4444"/>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THE PART NOBODY ELSE DOES</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9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20" fill="hold"/>
                                        <p:tgtEl>
                                          <p:spTgt spid="6"/>
                                        </p:tgtEl>
                                        <p:attrNameLst>
                                          <p:attrName>ppt_w</p:attrName>
                                        </p:attrNameLst>
                                      </p:cBhvr>
                                      <p:tavLst>
                                        <p:tav tm="0">
                                          <p:val>
                                            <p:fltVal val="0"/>
                                          </p:val>
                                        </p:tav>
                                        <p:tav tm="100000">
                                          <p:val>
                                            <p:strVal val="#ppt_w"/>
                                          </p:val>
                                        </p:tav>
                                      </p:tavLst>
                                    </p:anim>
                                    <p:anim calcmode="lin" valueType="num">
                                      <p:cBhvr additive="base">
                                        <p:cTn id="23" dur="420" fill="hold"/>
                                        <p:tgtEl>
                                          <p:spTgt spid="6"/>
                                        </p:tgtEl>
                                        <p:attrNameLst>
                                          <p:attrName>ppt_h</p:attrName>
                                        </p:attrNameLst>
                                      </p:cBhvr>
                                      <p:tavLst>
                                        <p:tav tm="0">
                                          <p:val>
                                            <p:fltVal val="0"/>
                                          </p:val>
                                        </p:tav>
                                        <p:tav tm="100000">
                                          <p:val>
                                            <p:strVal val="#ppt_h"/>
                                          </p:val>
                                        </p:tav>
                                      </p:tavLst>
                                    </p:anim>
                                    <p:animEffect transition="in" filter="fade">
                                      <p:cBhvr>
                                        <p:cTn id="24" dur="420"/>
                                        <p:tgtEl>
                                          <p:spTgt spid="6"/>
                                        </p:tgtEl>
                                      </p:cBhvr>
                                    </p:animEffect>
                                  </p:childTnLst>
                                </p:cTn>
                              </p:par>
                              <p:par>
                                <p:cTn id="25" presetID="53" presetClass="entr" presetSubtype="16" fill="hold" nodeType="withEffect">
                                  <p:stCondLst>
                                    <p:cond delay="91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42" presetClass="entr" presetSubtype="0" fill="hold" nodeType="withEffect">
                                  <p:stCondLst>
                                    <p:cond delay="1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1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4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5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par>
                                <p:cTn id="70" presetID="53" presetClass="entr" presetSubtype="16" fill="hold" nodeType="withEffect">
                                  <p:stCondLst>
                                    <p:cond delay="194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420" fill="hold"/>
                                        <p:tgtEl>
                                          <p:spTgt spid="17"/>
                                        </p:tgtEl>
                                        <p:attrNameLst>
                                          <p:attrName>ppt_w</p:attrName>
                                        </p:attrNameLst>
                                      </p:cBhvr>
                                      <p:tavLst>
                                        <p:tav tm="0">
                                          <p:val>
                                            <p:fltVal val="0"/>
                                          </p:val>
                                        </p:tav>
                                        <p:tav tm="100000">
                                          <p:val>
                                            <p:strVal val="#ppt_w"/>
                                          </p:val>
                                        </p:tav>
                                      </p:tavLst>
                                    </p:anim>
                                    <p:anim calcmode="lin" valueType="num">
                                      <p:cBhvr additive="base">
                                        <p:cTn id="73" dur="420" fill="hold"/>
                                        <p:tgtEl>
                                          <p:spTgt spid="17"/>
                                        </p:tgtEl>
                                        <p:attrNameLst>
                                          <p:attrName>ppt_h</p:attrName>
                                        </p:attrNameLst>
                                      </p:cBhvr>
                                      <p:tavLst>
                                        <p:tav tm="0">
                                          <p:val>
                                            <p:fltVal val="0"/>
                                          </p:val>
                                        </p:tav>
                                        <p:tav tm="100000">
                                          <p:val>
                                            <p:strVal val="#ppt_h"/>
                                          </p:val>
                                        </p:tav>
                                      </p:tavLst>
                                    </p:anim>
                                    <p:animEffect transition="in" filter="fade">
                                      <p:cBhvr>
                                        <p:cTn id="74"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3716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STEP 3–4</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SCHEDULE AND REVIEW</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Only free slots can be picked. Everything is checked before confirming.</a:t>
            </a:r>
            <a:endParaRPr lang="en-US" sz="1400" dirty="0"/>
          </a:p>
        </p:txBody>
      </p:sp>
      <p:pic>
        <p:nvPicPr>
          <p:cNvPr id="5" name="anim:1:float:0" descr="out/m_sched.png">    </p:cNvPr>
          <p:cNvPicPr>
            <a:picLocks noChangeAspect="1"/>
          </p:cNvPicPr>
          <p:nvPr/>
        </p:nvPicPr>
        <p:blipFill>
          <a:blip r:embed="rId1"/>
          <a:stretch>
            <a:fillRect/>
          </a:stretch>
        </p:blipFill>
        <p:spPr>
          <a:xfrm>
            <a:off x="548640" y="1783080"/>
            <a:ext cx="2169583" cy="4572000"/>
          </a:xfrm>
          <a:prstGeom prst="rect">
            <a:avLst/>
          </a:prstGeom>
        </p:spPr>
      </p:pic>
      <p:sp>
        <p:nvSpPr>
          <p:cNvPr id="6" name="anim:2:zoom:0"/>
          <p:cNvSpPr txBox="1"/>
          <p:nvPr/>
        </p:nvSpPr>
        <p:spPr>
          <a:xfrm>
            <a:off x="731520"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PICK A SLOT</a:t>
            </a:r>
            <a:endParaRPr lang="en-US" sz="1050" dirty="0"/>
          </a:p>
        </p:txBody>
      </p:sp>
      <p:pic>
        <p:nvPicPr>
          <p:cNvPr id="7" name="anim:1:float:1" descr="out/m_review.png">    </p:cNvPr>
          <p:cNvPicPr>
            <a:picLocks noChangeAspect="1"/>
          </p:cNvPicPr>
          <p:nvPr/>
        </p:nvPicPr>
        <p:blipFill>
          <a:blip r:embed="rId2"/>
          <a:stretch>
            <a:fillRect/>
          </a:stretch>
        </p:blipFill>
        <p:spPr>
          <a:xfrm>
            <a:off x="3083983" y="1783080"/>
            <a:ext cx="2169583" cy="4572000"/>
          </a:xfrm>
          <a:prstGeom prst="rect">
            <a:avLst/>
          </a:prstGeom>
        </p:spPr>
      </p:pic>
      <p:sp>
        <p:nvSpPr>
          <p:cNvPr id="8" name="anim:2:zoom:1"/>
          <p:cNvSpPr txBox="1"/>
          <p:nvPr/>
        </p:nvSpPr>
        <p:spPr>
          <a:xfrm>
            <a:off x="3266863"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REVIEW</a:t>
            </a:r>
            <a:endParaRPr lang="en-US" sz="1050" dirty="0"/>
          </a:p>
        </p:txBody>
      </p:sp>
      <p:sp>
        <p:nvSpPr>
          <p:cNvPr id="9" name="anim:3:float:0"/>
          <p:cNvSpPr txBox="1"/>
          <p:nvPr/>
        </p:nvSpPr>
        <p:spPr>
          <a:xfrm>
            <a:off x="5756487"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0" name="anim:3:float:0"/>
          <p:cNvSpPr txBox="1"/>
          <p:nvPr/>
        </p:nvSpPr>
        <p:spPr>
          <a:xfrm>
            <a:off x="6350847" y="190195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SMART CALENDAR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Past days and days off are disabled. Full days are tagged.</a:t>
            </a:r>
            <a:endParaRPr lang="en-US" sz="1400" dirty="0"/>
          </a:p>
        </p:txBody>
      </p:sp>
      <p:sp>
        <p:nvSpPr>
          <p:cNvPr id="11" name="anim:3:float:1"/>
          <p:cNvSpPr txBox="1"/>
          <p:nvPr/>
        </p:nvSpPr>
        <p:spPr>
          <a:xfrm>
            <a:off x="5756487" y="288036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anim:3:float:1"/>
          <p:cNvSpPr txBox="1"/>
          <p:nvPr/>
        </p:nvSpPr>
        <p:spPr>
          <a:xfrm>
            <a:off x="6350847" y="286207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NO DOUBLE BOOKING</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Taken slots and breaks are crossed out and can't be tapped.</a:t>
            </a:r>
            <a:endParaRPr lang="en-US" sz="1400" dirty="0"/>
          </a:p>
        </p:txBody>
      </p:sp>
      <p:sp>
        <p:nvSpPr>
          <p:cNvPr id="13" name="anim:3:float:2"/>
          <p:cNvSpPr txBox="1"/>
          <p:nvPr/>
        </p:nvSpPr>
        <p:spPr>
          <a:xfrm>
            <a:off x="5756487" y="38404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4" name="anim:3:float:2"/>
          <p:cNvSpPr txBox="1"/>
          <p:nvPr/>
        </p:nvSpPr>
        <p:spPr>
          <a:xfrm>
            <a:off x="6350847" y="382219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DURATION-AWARE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A 45-minute cut only fits where 45 free minutes exist.</a:t>
            </a:r>
            <a:endParaRPr lang="en-US" sz="1400" dirty="0"/>
          </a:p>
        </p:txBody>
      </p:sp>
      <p:sp>
        <p:nvSpPr>
          <p:cNvPr id="15" name="anim:3:float:3"/>
          <p:cNvSpPr txBox="1"/>
          <p:nvPr/>
        </p:nvSpPr>
        <p:spPr>
          <a:xfrm>
            <a:off x="5756487" y="48006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6" name="anim:3:float:3"/>
          <p:cNvSpPr txBox="1"/>
          <p:nvPr/>
        </p:nvSpPr>
        <p:spPr>
          <a:xfrm>
            <a:off x="6350847" y="478231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FULL SUMMARY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Style, preferences, notes, time, and sample total before confirming.</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9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20" fill="hold"/>
                                        <p:tgtEl>
                                          <p:spTgt spid="6"/>
                                        </p:tgtEl>
                                        <p:attrNameLst>
                                          <p:attrName>ppt_w</p:attrName>
                                        </p:attrNameLst>
                                      </p:cBhvr>
                                      <p:tavLst>
                                        <p:tav tm="0">
                                          <p:val>
                                            <p:fltVal val="0"/>
                                          </p:val>
                                        </p:tav>
                                        <p:tav tm="100000">
                                          <p:val>
                                            <p:strVal val="#ppt_w"/>
                                          </p:val>
                                        </p:tav>
                                      </p:tavLst>
                                    </p:anim>
                                    <p:anim calcmode="lin" valueType="num">
                                      <p:cBhvr additive="base">
                                        <p:cTn id="23" dur="420" fill="hold"/>
                                        <p:tgtEl>
                                          <p:spTgt spid="6"/>
                                        </p:tgtEl>
                                        <p:attrNameLst>
                                          <p:attrName>ppt_h</p:attrName>
                                        </p:attrNameLst>
                                      </p:cBhvr>
                                      <p:tavLst>
                                        <p:tav tm="0">
                                          <p:val>
                                            <p:fltVal val="0"/>
                                          </p:val>
                                        </p:tav>
                                        <p:tav tm="100000">
                                          <p:val>
                                            <p:strVal val="#ppt_h"/>
                                          </p:val>
                                        </p:tav>
                                      </p:tavLst>
                                    </p:anim>
                                    <p:animEffect transition="in" filter="fade">
                                      <p:cBhvr>
                                        <p:cTn id="24" dur="420"/>
                                        <p:tgtEl>
                                          <p:spTgt spid="6"/>
                                        </p:tgtEl>
                                      </p:cBhvr>
                                    </p:animEffect>
                                  </p:childTnLst>
                                </p:cTn>
                              </p:par>
                              <p:par>
                                <p:cTn id="25" presetID="53" presetClass="entr" presetSubtype="16" fill="hold" nodeType="withEffect">
                                  <p:stCondLst>
                                    <p:cond delay="91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42" presetClass="entr" presetSubtype="0" fill="hold" nodeType="withEffect">
                                  <p:stCondLst>
                                    <p:cond delay="1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1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4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5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8288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CONFIRMATION</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CONFIRMED, REMINDED, NEVER FORGOTTEN</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Instant confirmation plus email and SMS reminders</a:t>
            </a:r>
            <a:endParaRPr lang="en-US" sz="1400" dirty="0"/>
          </a:p>
        </p:txBody>
      </p:sp>
      <p:pic>
        <p:nvPicPr>
          <p:cNvPr id="5" name="anim:1:float:0" descr="out/m_confirm.png">    </p:cNvPr>
          <p:cNvPicPr>
            <a:picLocks noChangeAspect="1"/>
          </p:cNvPicPr>
          <p:nvPr/>
        </p:nvPicPr>
        <p:blipFill>
          <a:blip r:embed="rId1"/>
          <a:stretch>
            <a:fillRect/>
          </a:stretch>
        </p:blipFill>
        <p:spPr>
          <a:xfrm>
            <a:off x="548640" y="1783080"/>
            <a:ext cx="2169583" cy="4572000"/>
          </a:xfrm>
          <a:prstGeom prst="rect">
            <a:avLst/>
          </a:prstGeom>
        </p:spPr>
      </p:pic>
      <p:sp>
        <p:nvSpPr>
          <p:cNvPr id="6" name="anim:2:zoom:0"/>
          <p:cNvSpPr txBox="1"/>
          <p:nvPr/>
        </p:nvSpPr>
        <p:spPr>
          <a:xfrm>
            <a:off x="731520" y="6245352"/>
            <a:ext cx="1712383" cy="347472"/>
          </a:xfrm>
          <a:prstGeom prst="roundRect">
            <a:avLst>
              <a:gd name="adj" fmla="val 21053"/>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CONFIRMED!</a:t>
            </a:r>
            <a:endParaRPr lang="en-US" sz="1050" dirty="0"/>
          </a:p>
        </p:txBody>
      </p:sp>
      <p:pic>
        <p:nvPicPr>
          <p:cNvPr id="7" name="anim:1:float:1" descr="out/m_notif.png">    </p:cNvPr>
          <p:cNvPicPr>
            <a:picLocks noChangeAspect="1"/>
          </p:cNvPicPr>
          <p:nvPr/>
        </p:nvPicPr>
        <p:blipFill>
          <a:blip r:embed="rId2"/>
          <a:stretch>
            <a:fillRect/>
          </a:stretch>
        </p:blipFill>
        <p:spPr>
          <a:xfrm>
            <a:off x="3083983" y="1783080"/>
            <a:ext cx="2169583" cy="4572000"/>
          </a:xfrm>
          <a:prstGeom prst="rect">
            <a:avLst/>
          </a:prstGeom>
        </p:spPr>
      </p:pic>
      <p:sp>
        <p:nvSpPr>
          <p:cNvPr id="8" name="anim:2:zoom:1"/>
          <p:cNvSpPr txBox="1"/>
          <p:nvPr/>
        </p:nvSpPr>
        <p:spPr>
          <a:xfrm>
            <a:off x="3266863"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NOTIFICATIONS</a:t>
            </a:r>
            <a:endParaRPr lang="en-US" sz="1050" dirty="0"/>
          </a:p>
        </p:txBody>
      </p:sp>
      <p:sp>
        <p:nvSpPr>
          <p:cNvPr id="9" name="anim:3:float:0"/>
          <p:cNvSpPr txBox="1"/>
          <p:nvPr/>
        </p:nvSpPr>
        <p:spPr>
          <a:xfrm>
            <a:off x="5756487"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0" name="anim:3:float:0"/>
          <p:cNvSpPr txBox="1"/>
          <p:nvPr/>
        </p:nvSpPr>
        <p:spPr>
          <a:xfrm>
            <a:off x="6350847" y="190195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BOOKING NUMBER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A ticket to show at the shop, and it can be added to the phone calendar.</a:t>
            </a:r>
            <a:endParaRPr lang="en-US" sz="1400" dirty="0"/>
          </a:p>
        </p:txBody>
      </p:sp>
      <p:sp>
        <p:nvSpPr>
          <p:cNvPr id="11" name="anim:3:float:1"/>
          <p:cNvSpPr txBox="1"/>
          <p:nvPr/>
        </p:nvSpPr>
        <p:spPr>
          <a:xfrm>
            <a:off x="5756487" y="288036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anim:3:float:1"/>
          <p:cNvSpPr txBox="1"/>
          <p:nvPr/>
        </p:nvSpPr>
        <p:spPr>
          <a:xfrm>
            <a:off x="6350847" y="286207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SMS CONFIRMATION</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Sent right after booking.</a:t>
            </a:r>
            <a:endParaRPr lang="en-US" sz="1400" dirty="0"/>
          </a:p>
        </p:txBody>
      </p:sp>
      <p:sp>
        <p:nvSpPr>
          <p:cNvPr id="13" name="anim:3:float:2"/>
          <p:cNvSpPr txBox="1"/>
          <p:nvPr/>
        </p:nvSpPr>
        <p:spPr>
          <a:xfrm>
            <a:off x="5756487" y="38404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4" name="anim:3:float:2"/>
          <p:cNvSpPr txBox="1"/>
          <p:nvPr/>
        </p:nvSpPr>
        <p:spPr>
          <a:xfrm>
            <a:off x="6350847" y="382219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REMINDER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Sent before the appointment to cut no-shows (Guy et al., 2012).</a:t>
            </a:r>
            <a:endParaRPr lang="en-US" sz="1400" dirty="0"/>
          </a:p>
        </p:txBody>
      </p:sp>
      <p:sp>
        <p:nvSpPr>
          <p:cNvPr id="15" name="anim:3:float:3"/>
          <p:cNvSpPr txBox="1"/>
          <p:nvPr/>
        </p:nvSpPr>
        <p:spPr>
          <a:xfrm>
            <a:off x="5756487" y="48006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6" name="anim:3:float:3"/>
          <p:cNvSpPr txBox="1"/>
          <p:nvPr/>
        </p:nvSpPr>
        <p:spPr>
          <a:xfrm>
            <a:off x="6350847" y="478231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EMAIL COPY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For customers who prefer email.</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9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20" fill="hold"/>
                                        <p:tgtEl>
                                          <p:spTgt spid="6"/>
                                        </p:tgtEl>
                                        <p:attrNameLst>
                                          <p:attrName>ppt_w</p:attrName>
                                        </p:attrNameLst>
                                      </p:cBhvr>
                                      <p:tavLst>
                                        <p:tav tm="0">
                                          <p:val>
                                            <p:fltVal val="0"/>
                                          </p:val>
                                        </p:tav>
                                        <p:tav tm="100000">
                                          <p:val>
                                            <p:strVal val="#ppt_w"/>
                                          </p:val>
                                        </p:tav>
                                      </p:tavLst>
                                    </p:anim>
                                    <p:anim calcmode="lin" valueType="num">
                                      <p:cBhvr additive="base">
                                        <p:cTn id="23" dur="420" fill="hold"/>
                                        <p:tgtEl>
                                          <p:spTgt spid="6"/>
                                        </p:tgtEl>
                                        <p:attrNameLst>
                                          <p:attrName>ppt_h</p:attrName>
                                        </p:attrNameLst>
                                      </p:cBhvr>
                                      <p:tavLst>
                                        <p:tav tm="0">
                                          <p:val>
                                            <p:fltVal val="0"/>
                                          </p:val>
                                        </p:tav>
                                        <p:tav tm="100000">
                                          <p:val>
                                            <p:strVal val="#ppt_h"/>
                                          </p:val>
                                        </p:tav>
                                      </p:tavLst>
                                    </p:anim>
                                    <p:animEffect transition="in" filter="fade">
                                      <p:cBhvr>
                                        <p:cTn id="24" dur="420"/>
                                        <p:tgtEl>
                                          <p:spTgt spid="6"/>
                                        </p:tgtEl>
                                      </p:cBhvr>
                                    </p:animEffect>
                                  </p:childTnLst>
                                </p:cTn>
                              </p:par>
                              <p:par>
                                <p:cTn id="25" presetID="53" presetClass="entr" presetSubtype="16" fill="hold" nodeType="withEffect">
                                  <p:stCondLst>
                                    <p:cond delay="91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42" presetClass="entr" presetSubtype="0" fill="hold" nodeType="withEffect">
                                  <p:stCondLst>
                                    <p:cond delay="1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1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4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5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7145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MY BOOKINGS</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RESCHEDULE, CANCEL, RATE</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Customers stay in control, and the shop gets feedback</a:t>
            </a:r>
            <a:endParaRPr lang="en-US" sz="1400" dirty="0"/>
          </a:p>
        </p:txBody>
      </p:sp>
      <p:pic>
        <p:nvPicPr>
          <p:cNvPr id="5" name="anim:1:float:0" descr="out/m_bookings.png">    </p:cNvPr>
          <p:cNvPicPr>
            <a:picLocks noChangeAspect="1"/>
          </p:cNvPicPr>
          <p:nvPr/>
        </p:nvPicPr>
        <p:blipFill>
          <a:blip r:embed="rId1"/>
          <a:stretch>
            <a:fillRect/>
          </a:stretch>
        </p:blipFill>
        <p:spPr>
          <a:xfrm>
            <a:off x="548640" y="1783080"/>
            <a:ext cx="2147888" cy="4526280"/>
          </a:xfrm>
          <a:prstGeom prst="rect">
            <a:avLst/>
          </a:prstGeom>
        </p:spPr>
      </p:pic>
      <p:sp>
        <p:nvSpPr>
          <p:cNvPr id="6" name="anim:2:zoom:0"/>
          <p:cNvSpPr txBox="1"/>
          <p:nvPr/>
        </p:nvSpPr>
        <p:spPr>
          <a:xfrm>
            <a:off x="731520" y="6199632"/>
            <a:ext cx="1690688"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MY BOOKINGS</a:t>
            </a:r>
            <a:endParaRPr lang="en-US" sz="1050" dirty="0"/>
          </a:p>
        </p:txBody>
      </p:sp>
      <p:pic>
        <p:nvPicPr>
          <p:cNvPr id="7" name="anim:1:float:1" descr="out/m_cancel.png">    </p:cNvPr>
          <p:cNvPicPr>
            <a:picLocks noChangeAspect="1"/>
          </p:cNvPicPr>
          <p:nvPr/>
        </p:nvPicPr>
        <p:blipFill>
          <a:blip r:embed="rId2"/>
          <a:stretch>
            <a:fillRect/>
          </a:stretch>
        </p:blipFill>
        <p:spPr>
          <a:xfrm>
            <a:off x="3016568" y="1783080"/>
            <a:ext cx="2147888" cy="4526280"/>
          </a:xfrm>
          <a:prstGeom prst="rect">
            <a:avLst/>
          </a:prstGeom>
        </p:spPr>
      </p:pic>
      <p:sp>
        <p:nvSpPr>
          <p:cNvPr id="8" name="anim:2:zoom:1"/>
          <p:cNvSpPr txBox="1"/>
          <p:nvPr/>
        </p:nvSpPr>
        <p:spPr>
          <a:xfrm>
            <a:off x="3199448" y="6199632"/>
            <a:ext cx="1690688" cy="347472"/>
          </a:xfrm>
          <a:prstGeom prst="roundRect">
            <a:avLst>
              <a:gd name="adj" fmla="val 21053"/>
            </a:avLst>
          </a:prstGeom>
          <a:solidFill>
            <a:srgbClr val="EF4444"/>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CANCEL</a:t>
            </a:r>
            <a:endParaRPr lang="en-US" sz="1050" dirty="0"/>
          </a:p>
        </p:txBody>
      </p:sp>
      <p:pic>
        <p:nvPicPr>
          <p:cNvPr id="9" name="anim:1:float:2" descr="out/m_rate.png">    </p:cNvPr>
          <p:cNvPicPr>
            <a:picLocks noChangeAspect="1"/>
          </p:cNvPicPr>
          <p:nvPr/>
        </p:nvPicPr>
        <p:blipFill>
          <a:blip r:embed="rId3"/>
          <a:stretch>
            <a:fillRect/>
          </a:stretch>
        </p:blipFill>
        <p:spPr>
          <a:xfrm>
            <a:off x="5484495" y="1783080"/>
            <a:ext cx="2147888" cy="4526280"/>
          </a:xfrm>
          <a:prstGeom prst="rect">
            <a:avLst/>
          </a:prstGeom>
        </p:spPr>
      </p:pic>
      <p:sp>
        <p:nvSpPr>
          <p:cNvPr id="10" name="anim:2:zoom:2"/>
          <p:cNvSpPr txBox="1"/>
          <p:nvPr/>
        </p:nvSpPr>
        <p:spPr>
          <a:xfrm>
            <a:off x="5667375" y="6199632"/>
            <a:ext cx="1690688"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RATE YOUR CUT</a:t>
            </a:r>
            <a:endParaRPr lang="en-US" sz="1050" dirty="0"/>
          </a:p>
        </p:txBody>
      </p:sp>
      <p:sp>
        <p:nvSpPr>
          <p:cNvPr id="11" name="anim:3:float:0"/>
          <p:cNvSpPr txBox="1"/>
          <p:nvPr/>
        </p:nvSpPr>
        <p:spPr>
          <a:xfrm>
            <a:off x="8089583"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2" name="anim:3:float:0"/>
          <p:cNvSpPr txBox="1"/>
          <p:nvPr/>
        </p:nvSpPr>
        <p:spPr>
          <a:xfrm>
            <a:off x="8683943" y="1901952"/>
            <a:ext cx="2974657" cy="11430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EASY CHANGES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Reschedule keeps the same booking number.</a:t>
            </a:r>
            <a:endParaRPr lang="en-US" sz="1400" dirty="0"/>
          </a:p>
        </p:txBody>
      </p:sp>
      <p:sp>
        <p:nvSpPr>
          <p:cNvPr id="13" name="anim:3:float:1"/>
          <p:cNvSpPr txBox="1"/>
          <p:nvPr/>
        </p:nvSpPr>
        <p:spPr>
          <a:xfrm>
            <a:off x="8089583" y="31546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4" name="anim:3:float:1"/>
          <p:cNvSpPr txBox="1"/>
          <p:nvPr/>
        </p:nvSpPr>
        <p:spPr>
          <a:xfrm>
            <a:off x="8683943" y="3136392"/>
            <a:ext cx="2974657" cy="11430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CANCEL WITH A REASON</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The slot is freed for other customers right away.</a:t>
            </a:r>
            <a:endParaRPr lang="en-US" sz="1400" dirty="0"/>
          </a:p>
        </p:txBody>
      </p:sp>
      <p:sp>
        <p:nvSpPr>
          <p:cNvPr id="15" name="anim:3:float:2"/>
          <p:cNvSpPr txBox="1"/>
          <p:nvPr/>
        </p:nvSpPr>
        <p:spPr>
          <a:xfrm>
            <a:off x="8089583" y="43891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6" name="anim:3:float:2"/>
          <p:cNvSpPr txBox="1"/>
          <p:nvPr/>
        </p:nvSpPr>
        <p:spPr>
          <a:xfrm>
            <a:off x="8683943" y="4370832"/>
            <a:ext cx="2974657" cy="11430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RATE THE CUT</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Stars and quick tags measure user satisfaction.</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1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anim calcmode="lin" valueType="num">
                                      <p:cBhvr additive="base">
                                        <p:cTn id="23" dur="550" fill="hold"/>
                                        <p:tgtEl>
                                          <p:spTgt spid="9"/>
                                        </p:tgtEl>
                                        <p:attrNameLst>
                                          <p:attrName>ppt_x</p:attrName>
                                        </p:attrNameLst>
                                      </p:cBhvr>
                                      <p:tavLst>
                                        <p:tav tm="0">
                                          <p:val>
                                            <p:strVal val="#ppt_x"/>
                                          </p:val>
                                        </p:tav>
                                        <p:tav tm="100000">
                                          <p:val>
                                            <p:strVal val="#ppt_x"/>
                                          </p:val>
                                        </p:tav>
                                      </p:tavLst>
                                    </p:anim>
                                    <p:anim calcmode="lin" valueType="num">
                                      <p:cBhvr additive="base">
                                        <p:cTn id="24" dur="550" fill="hold"/>
                                        <p:tgtEl>
                                          <p:spTgt spid="9"/>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91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420" fill="hold"/>
                                        <p:tgtEl>
                                          <p:spTgt spid="6"/>
                                        </p:tgtEl>
                                        <p:attrNameLst>
                                          <p:attrName>ppt_w</p:attrName>
                                        </p:attrNameLst>
                                      </p:cBhvr>
                                      <p:tavLst>
                                        <p:tav tm="0">
                                          <p:val>
                                            <p:fltVal val="0"/>
                                          </p:val>
                                        </p:tav>
                                        <p:tav tm="100000">
                                          <p:val>
                                            <p:strVal val="#ppt_w"/>
                                          </p:val>
                                        </p:tav>
                                      </p:tavLst>
                                    </p:anim>
                                    <p:anim calcmode="lin" valueType="num">
                                      <p:cBhvr additive="base">
                                        <p:cTn id="28" dur="420" fill="hold"/>
                                        <p:tgtEl>
                                          <p:spTgt spid="6"/>
                                        </p:tgtEl>
                                        <p:attrNameLst>
                                          <p:attrName>ppt_h</p:attrName>
                                        </p:attrNameLst>
                                      </p:cBhvr>
                                      <p:tavLst>
                                        <p:tav tm="0">
                                          <p:val>
                                            <p:fltVal val="0"/>
                                          </p:val>
                                        </p:tav>
                                        <p:tav tm="100000">
                                          <p:val>
                                            <p:strVal val="#ppt_h"/>
                                          </p:val>
                                        </p:tav>
                                      </p:tavLst>
                                    </p:anim>
                                    <p:animEffect transition="in" filter="fade">
                                      <p:cBhvr>
                                        <p:cTn id="29" dur="420"/>
                                        <p:tgtEl>
                                          <p:spTgt spid="6"/>
                                        </p:tgtEl>
                                      </p:cBhvr>
                                    </p:animEffect>
                                  </p:childTnLst>
                                </p:cTn>
                              </p:par>
                              <p:par>
                                <p:cTn id="30" presetID="53" presetClass="entr" presetSubtype="16" fill="hold" nodeType="withEffect">
                                  <p:stCondLst>
                                    <p:cond delay="103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420" fill="hold"/>
                                        <p:tgtEl>
                                          <p:spTgt spid="8"/>
                                        </p:tgtEl>
                                        <p:attrNameLst>
                                          <p:attrName>ppt_w</p:attrName>
                                        </p:attrNameLst>
                                      </p:cBhvr>
                                      <p:tavLst>
                                        <p:tav tm="0">
                                          <p:val>
                                            <p:fltVal val="0"/>
                                          </p:val>
                                        </p:tav>
                                        <p:tav tm="100000">
                                          <p:val>
                                            <p:strVal val="#ppt_w"/>
                                          </p:val>
                                        </p:tav>
                                      </p:tavLst>
                                    </p:anim>
                                    <p:anim calcmode="lin" valueType="num">
                                      <p:cBhvr additive="base">
                                        <p:cTn id="33" dur="420" fill="hold"/>
                                        <p:tgtEl>
                                          <p:spTgt spid="8"/>
                                        </p:tgtEl>
                                        <p:attrNameLst>
                                          <p:attrName>ppt_h</p:attrName>
                                        </p:attrNameLst>
                                      </p:cBhvr>
                                      <p:tavLst>
                                        <p:tav tm="0">
                                          <p:val>
                                            <p:fltVal val="0"/>
                                          </p:val>
                                        </p:tav>
                                        <p:tav tm="100000">
                                          <p:val>
                                            <p:strVal val="#ppt_h"/>
                                          </p:val>
                                        </p:tav>
                                      </p:tavLst>
                                    </p:anim>
                                    <p:animEffect transition="in" filter="fade">
                                      <p:cBhvr>
                                        <p:cTn id="34" dur="420"/>
                                        <p:tgtEl>
                                          <p:spTgt spid="8"/>
                                        </p:tgtEl>
                                      </p:cBhvr>
                                    </p:animEffect>
                                  </p:childTnLst>
                                </p:cTn>
                              </p:par>
                              <p:par>
                                <p:cTn id="35" presetID="53" presetClass="entr" presetSubtype="16" fill="hold" nodeType="withEffect">
                                  <p:stCondLst>
                                    <p:cond delay="115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20" fill="hold"/>
                                        <p:tgtEl>
                                          <p:spTgt spid="10"/>
                                        </p:tgtEl>
                                        <p:attrNameLst>
                                          <p:attrName>ppt_w</p:attrName>
                                        </p:attrNameLst>
                                      </p:cBhvr>
                                      <p:tavLst>
                                        <p:tav tm="0">
                                          <p:val>
                                            <p:fltVal val="0"/>
                                          </p:val>
                                        </p:tav>
                                        <p:tav tm="100000">
                                          <p:val>
                                            <p:strVal val="#ppt_w"/>
                                          </p:val>
                                        </p:tav>
                                      </p:tavLst>
                                    </p:anim>
                                    <p:anim calcmode="lin" valueType="num">
                                      <p:cBhvr additive="base">
                                        <p:cTn id="38" dur="420" fill="hold"/>
                                        <p:tgtEl>
                                          <p:spTgt spid="10"/>
                                        </p:tgtEl>
                                        <p:attrNameLst>
                                          <p:attrName>ppt_h</p:attrName>
                                        </p:attrNameLst>
                                      </p:cBhvr>
                                      <p:tavLst>
                                        <p:tav tm="0">
                                          <p:val>
                                            <p:fltVal val="0"/>
                                          </p:val>
                                        </p:tav>
                                        <p:tav tm="100000">
                                          <p:val>
                                            <p:strVal val="#ppt_h"/>
                                          </p:val>
                                        </p:tav>
                                      </p:tavLst>
                                    </p:anim>
                                    <p:animEffect transition="in" filter="fade">
                                      <p:cBhvr>
                                        <p:cTn id="39" dur="420"/>
                                        <p:tgtEl>
                                          <p:spTgt spid="10"/>
                                        </p:tgtEl>
                                      </p:cBhvr>
                                    </p:animEffect>
                                  </p:childTnLst>
                                </p:cTn>
                              </p:par>
                              <p:par>
                                <p:cTn id="40" presetID="42" presetClass="entr" presetSubtype="0" fill="hold" nodeType="withEffect">
                                  <p:stCondLst>
                                    <p:cond delay="142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2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54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5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66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6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3716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PROFILE</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IT REMEMBERS YOU</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Saved preferences and appointment history in one place</a:t>
            </a:r>
            <a:endParaRPr lang="en-US" sz="1400" dirty="0"/>
          </a:p>
        </p:txBody>
      </p:sp>
      <p:pic>
        <p:nvPicPr>
          <p:cNvPr id="5" name="anim:1:float:0" descr="out/m_profile.png">    </p:cNvPr>
          <p:cNvPicPr>
            <a:picLocks noChangeAspect="1"/>
          </p:cNvPicPr>
          <p:nvPr/>
        </p:nvPicPr>
        <p:blipFill>
          <a:blip r:embed="rId1"/>
          <a:stretch>
            <a:fillRect/>
          </a:stretch>
        </p:blipFill>
        <p:spPr>
          <a:xfrm>
            <a:off x="548640" y="1783080"/>
            <a:ext cx="2169583" cy="4572000"/>
          </a:xfrm>
          <a:prstGeom prst="rect">
            <a:avLst/>
          </a:prstGeom>
        </p:spPr>
      </p:pic>
      <p:sp>
        <p:nvSpPr>
          <p:cNvPr id="6" name="anim:2:zoom:0"/>
          <p:cNvSpPr txBox="1"/>
          <p:nvPr/>
        </p:nvSpPr>
        <p:spPr>
          <a:xfrm>
            <a:off x="731520" y="6245352"/>
            <a:ext cx="1712383"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PROFILE</a:t>
            </a:r>
            <a:endParaRPr lang="en-US" sz="1050" dirty="0"/>
          </a:p>
        </p:txBody>
      </p:sp>
      <p:sp>
        <p:nvSpPr>
          <p:cNvPr id="7" name="anim:3:float:0"/>
          <p:cNvSpPr txBox="1"/>
          <p:nvPr/>
        </p:nvSpPr>
        <p:spPr>
          <a:xfrm>
            <a:off x="3221143" y="201168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8" name="anim:3:float:0"/>
          <p:cNvSpPr txBox="1"/>
          <p:nvPr/>
        </p:nvSpPr>
        <p:spPr>
          <a:xfrm>
            <a:off x="3815503" y="1993392"/>
            <a:ext cx="7843097" cy="96012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MY USUAL</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Style, guard number, top, beard, and extras, editable anytime.</a:t>
            </a:r>
            <a:endParaRPr lang="en-US" sz="1400" dirty="0"/>
          </a:p>
        </p:txBody>
      </p:sp>
      <p:sp>
        <p:nvSpPr>
          <p:cNvPr id="9" name="anim:3:float:1"/>
          <p:cNvSpPr txBox="1"/>
          <p:nvPr/>
        </p:nvSpPr>
        <p:spPr>
          <a:xfrm>
            <a:off x="3221143" y="306324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0" name="anim:3:float:1"/>
          <p:cNvSpPr txBox="1"/>
          <p:nvPr/>
        </p:nvSpPr>
        <p:spPr>
          <a:xfrm>
            <a:off x="3815503" y="3044952"/>
            <a:ext cx="7843097" cy="96012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FAVORITE BARBER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Based on the customer's own history.</a:t>
            </a:r>
            <a:endParaRPr lang="en-US" sz="1400" dirty="0"/>
          </a:p>
        </p:txBody>
      </p:sp>
      <p:sp>
        <p:nvSpPr>
          <p:cNvPr id="11" name="anim:3:float:2"/>
          <p:cNvSpPr txBox="1"/>
          <p:nvPr/>
        </p:nvSpPr>
        <p:spPr>
          <a:xfrm>
            <a:off x="3221143"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2" name="anim:3:float:2"/>
          <p:cNvSpPr txBox="1"/>
          <p:nvPr/>
        </p:nvSpPr>
        <p:spPr>
          <a:xfrm>
            <a:off x="3815503" y="4096512"/>
            <a:ext cx="7843097" cy="96012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VISUAL HISTORY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Every past haircut with the date, useful for "same as last time."</a:t>
            </a:r>
            <a:endParaRPr lang="en-US" sz="1400" dirty="0"/>
          </a:p>
        </p:txBody>
      </p:sp>
      <p:sp>
        <p:nvSpPr>
          <p:cNvPr id="13" name="anim:3:float:3"/>
          <p:cNvSpPr txBox="1"/>
          <p:nvPr/>
        </p:nvSpPr>
        <p:spPr>
          <a:xfrm>
            <a:off x="3221143" y="516636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4" name="anim:3:float:3"/>
          <p:cNvSpPr txBox="1"/>
          <p:nvPr/>
        </p:nvSpPr>
        <p:spPr>
          <a:xfrm>
            <a:off x="3815503" y="5148072"/>
            <a:ext cx="7843097" cy="96012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DATA PRIVACY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Details are used only for bookings, following RA 10173.</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53" presetClass="entr" presetSubtype="16"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42" presetClass="entr" presetSubtype="0" fill="hold" nodeType="withEffect">
                                  <p:stCondLst>
                                    <p:cond delay="9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9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0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18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18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30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3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50FF"/>
        </a:solidFill>
      </p:bgPr>
    </p:bg>
    <p:spTree>
      <p:nvGrpSpPr>
        <p:cNvPr id="1" name=""/>
        <p:cNvGrpSpPr/>
        <p:nvPr/>
      </p:nvGrpSpPr>
      <p:grpSpPr>
        <a:xfrm>
          <a:off x="0" y="0"/>
          <a:ext cx="0" cy="0"/>
          <a:chOff x="0" y="0"/>
          <a:chExt cx="0" cy="0"/>
        </a:xfrm>
      </p:grpSpPr>
      <p:pic>
        <p:nvPicPr>
          <p:cNvPr id="2" name="anim:1:float:0" descr="out/m_oqueue.png">    </p:cNvPr>
          <p:cNvPicPr>
            <a:picLocks noChangeAspect="1"/>
          </p:cNvPicPr>
          <p:nvPr/>
        </p:nvPicPr>
        <p:blipFill>
          <a:blip r:embed="rId1"/>
          <a:stretch>
            <a:fillRect/>
          </a:stretch>
        </p:blipFill>
        <p:spPr>
          <a:xfrm rot="-240000">
            <a:off x="5212080" y="914400"/>
            <a:ext cx="2429933" cy="5120640"/>
          </a:xfrm>
          <a:prstGeom prst="rect">
            <a:avLst/>
          </a:prstGeom>
        </p:spPr>
      </p:pic>
      <p:pic>
        <p:nvPicPr>
          <p:cNvPr id="3" name="anim:1:float:1" descr="out/m_pcard.png">    </p:cNvPr>
          <p:cNvPicPr>
            <a:picLocks noChangeAspect="1"/>
          </p:cNvPicPr>
          <p:nvPr/>
        </p:nvPicPr>
        <p:blipFill>
          <a:blip r:embed="rId2"/>
          <a:stretch>
            <a:fillRect/>
          </a:stretch>
        </p:blipFill>
        <p:spPr>
          <a:xfrm>
            <a:off x="7315200" y="1371600"/>
            <a:ext cx="2429933" cy="5120640"/>
          </a:xfrm>
          <a:prstGeom prst="rect">
            <a:avLst/>
          </a:prstGeom>
        </p:spPr>
      </p:pic>
      <p:sp>
        <p:nvSpPr>
          <p:cNvPr id="4" name="anim:2:zoom:0"/>
          <p:cNvSpPr txBox="1"/>
          <p:nvPr/>
        </p:nvSpPr>
        <p:spPr>
          <a:xfrm rot="-240000">
            <a:off x="548640" y="1463040"/>
            <a:ext cx="1371600" cy="1371600"/>
          </a:xfrm>
          <a:prstGeom prst="roundRect">
            <a:avLst>
              <a:gd name="adj" fmla="val 6667"/>
            </a:avLst>
          </a:prstGeom>
          <a:solidFill>
            <a:srgbClr val="FFE600"/>
          </a:solidFill>
          <a:ln w="38100">
            <a:solidFill>
              <a:srgbClr val="000000"/>
            </a:solidFill>
          </a:ln>
          <a:effectLst>
            <a:outerShdw sx="100000" sy="100000" kx="0" ky="0" algn="bl" rotWithShape="0" blurRad="101600" dist="76200" dir="2700000">
              <a:srgbClr val="000000">
                <a:alpha val="100000"/>
              </a:srgbClr>
            </a:outerShdw>
          </a:effectLst>
        </p:spPr>
        <p:txBody>
          <a:bodyPr wrap="square" lIns="0" tIns="0" rIns="0" bIns="0" rtlCol="0" anchor="ctr"/>
          <a:lstStyle/>
          <a:p>
            <a:pPr algn="ctr" indent="0" marL="0">
              <a:buNone/>
            </a:pPr>
            <a:r>
              <a:rPr lang="en-US" sz="5400" b="1" dirty="0">
                <a:solidFill>
                  <a:srgbClr val="000000"/>
                </a:solidFill>
                <a:latin typeface="Arial" pitchFamily="34" charset="0"/>
                <a:ea typeface="Arial" pitchFamily="34" charset="-122"/>
                <a:cs typeface="Arial" pitchFamily="34" charset="-120"/>
              </a:rPr>
              <a:t>02</a:t>
            </a:r>
            <a:endParaRPr lang="en-US" sz="5400" dirty="0"/>
          </a:p>
        </p:txBody>
      </p:sp>
      <p:sp>
        <p:nvSpPr>
          <p:cNvPr id="5" name="anim:3:float:0"/>
          <p:cNvSpPr txBox="1"/>
          <p:nvPr/>
        </p:nvSpPr>
        <p:spPr>
          <a:xfrm>
            <a:off x="548640" y="3108960"/>
            <a:ext cx="5029200" cy="14630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FOR THE BARBERSHOP</a:t>
            </a:r>
            <a:endParaRPr lang="en-US" sz="4000" dirty="0"/>
          </a:p>
        </p:txBody>
      </p:sp>
      <p:sp>
        <p:nvSpPr>
          <p:cNvPr id="6" name="anim:4:fade:0"/>
          <p:cNvSpPr txBox="1"/>
          <p:nvPr/>
        </p:nvSpPr>
        <p:spPr>
          <a:xfrm>
            <a:off x="548640" y="4617720"/>
            <a:ext cx="4754880" cy="1097280"/>
          </a:xfrm>
          <a:prstGeom prst="rect">
            <a:avLst/>
          </a:prstGeom>
          <a:noFill/>
          <a:ln/>
        </p:spPr>
        <p:txBody>
          <a:bodyPr wrap="square" lIns="0" tIns="0" rIns="0" bIns="0" rtlCol="0" anchor="t"/>
          <a:lstStyle/>
          <a:p>
            <a:pPr indent="0" marL="0">
              <a:buNone/>
            </a:pPr>
            <a:r>
              <a:rPr lang="en-US" sz="1600" b="1" dirty="0">
                <a:solidFill>
                  <a:srgbClr val="DCE6FF"/>
                </a:solidFill>
                <a:latin typeface="Arial" pitchFamily="34" charset="0"/>
                <a:ea typeface="Arial" pitchFamily="34" charset="-122"/>
                <a:cs typeface="Arial" pitchFamily="34" charset="-120"/>
              </a:rPr>
              <a:t>The owner and barbers see the day at a glance, on the phone or on a computer.</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anim calcmode="lin" valueType="num">
                                      <p:cBhvr additive="base">
                                        <p:cTn id="8" dur="550" fill="hold"/>
                                        <p:tgtEl>
                                          <p:spTgt spid="2"/>
                                        </p:tgtEl>
                                        <p:attrNameLst>
                                          <p:attrName>ppt_x</p:attrName>
                                        </p:attrNameLst>
                                      </p:cBhvr>
                                      <p:tavLst>
                                        <p:tav tm="0">
                                          <p:val>
                                            <p:strVal val="#ppt_x"/>
                                          </p:val>
                                        </p:tav>
                                        <p:tav tm="100000">
                                          <p:val>
                                            <p:strVal val="#ppt_x"/>
                                          </p:val>
                                        </p:tav>
                                      </p:tavLst>
                                    </p:anim>
                                    <p:anim calcmode="lin" valueType="num">
                                      <p:cBhvr additive="base">
                                        <p:cTn id="9" dur="5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50"/>
                                        <p:tgtEl>
                                          <p:spTgt spid="3"/>
                                        </p:tgtEl>
                                      </p:cBhvr>
                                    </p:animEffect>
                                    <p:anim calcmode="lin" valueType="num">
                                      <p:cBhvr additive="base">
                                        <p:cTn id="13" dur="550" fill="hold"/>
                                        <p:tgtEl>
                                          <p:spTgt spid="3"/>
                                        </p:tgtEl>
                                        <p:attrNameLst>
                                          <p:attrName>ppt_x</p:attrName>
                                        </p:attrNameLst>
                                      </p:cBhvr>
                                      <p:tavLst>
                                        <p:tav tm="0">
                                          <p:val>
                                            <p:strVal val="#ppt_x"/>
                                          </p:val>
                                        </p:tav>
                                        <p:tav tm="100000">
                                          <p:val>
                                            <p:strVal val="#ppt_x"/>
                                          </p:val>
                                        </p:tav>
                                      </p:tavLst>
                                    </p:anim>
                                    <p:anim calcmode="lin" valueType="num">
                                      <p:cBhvr additive="base">
                                        <p:cTn id="14" dur="550" fill="hold"/>
                                        <p:tgtEl>
                                          <p:spTgt spid="3"/>
                                        </p:tgtEl>
                                        <p:attrNameLst>
                                          <p:attrName>ppt_y</p:attrName>
                                        </p:attrNameLst>
                                      </p:cBhvr>
                                      <p:tavLst>
                                        <p:tav tm="0">
                                          <p:val>
                                            <p:strVal val="#ppt_y+.1"/>
                                          </p:val>
                                        </p:tav>
                                        <p:tav tm="100000">
                                          <p:val>
                                            <p:strVal val="#ppt_y"/>
                                          </p:val>
                                        </p:tav>
                                      </p:tavLst>
                                    </p:anim>
                                  </p:childTnLst>
                                </p:cTn>
                              </p:par>
                              <p:par>
                                <p:cTn id="15" presetID="53" presetClass="entr" presetSubtype="16" fill="hold" nodeType="withEffect">
                                  <p:stCondLst>
                                    <p:cond delay="5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420" fill="hold"/>
                                        <p:tgtEl>
                                          <p:spTgt spid="4"/>
                                        </p:tgtEl>
                                        <p:attrNameLst>
                                          <p:attrName>ppt_w</p:attrName>
                                        </p:attrNameLst>
                                      </p:cBhvr>
                                      <p:tavLst>
                                        <p:tav tm="0">
                                          <p:val>
                                            <p:fltVal val="0"/>
                                          </p:val>
                                        </p:tav>
                                        <p:tav tm="100000">
                                          <p:val>
                                            <p:strVal val="#ppt_w"/>
                                          </p:val>
                                        </p:tav>
                                      </p:tavLst>
                                    </p:anim>
                                    <p:anim calcmode="lin" valueType="num">
                                      <p:cBhvr additive="base">
                                        <p:cTn id="18" dur="420" fill="hold"/>
                                        <p:tgtEl>
                                          <p:spTgt spid="4"/>
                                        </p:tgtEl>
                                        <p:attrNameLst>
                                          <p:attrName>ppt_h</p:attrName>
                                        </p:attrNameLst>
                                      </p:cBhvr>
                                      <p:tavLst>
                                        <p:tav tm="0">
                                          <p:val>
                                            <p:fltVal val="0"/>
                                          </p:val>
                                        </p:tav>
                                        <p:tav tm="100000">
                                          <p:val>
                                            <p:strVal val="#ppt_h"/>
                                          </p:val>
                                        </p:tav>
                                      </p:tavLst>
                                    </p:anim>
                                    <p:animEffect transition="in" filter="fade">
                                      <p:cBhvr>
                                        <p:cTn id="19" dur="420"/>
                                        <p:tgtEl>
                                          <p:spTgt spid="4"/>
                                        </p:tgtEl>
                                      </p:cBhvr>
                                    </p:animEffect>
                                  </p:childTnLst>
                                </p:cTn>
                              </p:par>
                              <p:par>
                                <p:cTn id="20" presetID="42" presetClass="entr" presetSubtype="0" fill="hold" nodeType="withEffect">
                                  <p:stCondLst>
                                    <p:cond delay="79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50"/>
                                        <p:tgtEl>
                                          <p:spTgt spid="5"/>
                                        </p:tgtEl>
                                      </p:cBhvr>
                                    </p:animEffect>
                                    <p:anim calcmode="lin" valueType="num">
                                      <p:cBhvr additive="base">
                                        <p:cTn id="23" dur="550" fill="hold"/>
                                        <p:tgtEl>
                                          <p:spTgt spid="5"/>
                                        </p:tgtEl>
                                        <p:attrNameLst>
                                          <p:attrName>ppt_x</p:attrName>
                                        </p:attrNameLst>
                                      </p:cBhvr>
                                      <p:tavLst>
                                        <p:tav tm="0">
                                          <p:val>
                                            <p:strVal val="#ppt_x"/>
                                          </p:val>
                                        </p:tav>
                                        <p:tav tm="100000">
                                          <p:val>
                                            <p:strVal val="#ppt_x"/>
                                          </p:val>
                                        </p:tav>
                                      </p:tavLst>
                                    </p:anim>
                                    <p:anim calcmode="lin" valueType="num">
                                      <p:cBhvr additive="base">
                                        <p:cTn id="24" dur="550" fill="hold"/>
                                        <p:tgtEl>
                                          <p:spTgt spid="5"/>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119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0574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OWNER · MOBILE</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THE QUEUE IN YOUR POCKET</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Today's bookings, walk-ins, and the preference card</a:t>
            </a:r>
            <a:endParaRPr lang="en-US" sz="1400" dirty="0"/>
          </a:p>
        </p:txBody>
      </p:sp>
      <p:pic>
        <p:nvPicPr>
          <p:cNvPr id="5" name="anim:1:float:0" descr="out/m_oqueue.png">    </p:cNvPr>
          <p:cNvPicPr>
            <a:picLocks noChangeAspect="1"/>
          </p:cNvPicPr>
          <p:nvPr/>
        </p:nvPicPr>
        <p:blipFill>
          <a:blip r:embed="rId1"/>
          <a:stretch>
            <a:fillRect/>
          </a:stretch>
        </p:blipFill>
        <p:spPr>
          <a:xfrm>
            <a:off x="548640" y="1783080"/>
            <a:ext cx="2169583" cy="4572000"/>
          </a:xfrm>
          <a:prstGeom prst="rect">
            <a:avLst/>
          </a:prstGeom>
        </p:spPr>
      </p:pic>
      <p:sp>
        <p:nvSpPr>
          <p:cNvPr id="6" name="anim:2:zoom:0"/>
          <p:cNvSpPr txBox="1"/>
          <p:nvPr/>
        </p:nvSpPr>
        <p:spPr>
          <a:xfrm>
            <a:off x="731520" y="6245352"/>
            <a:ext cx="1712383" cy="347472"/>
          </a:xfrm>
          <a:prstGeom prst="roundRect">
            <a:avLst>
              <a:gd name="adj" fmla="val 21053"/>
            </a:avLst>
          </a:prstGeom>
          <a:solidFill>
            <a:srgbClr val="0000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FFE600"/>
                </a:solidFill>
                <a:latin typeface="Arial" pitchFamily="34" charset="0"/>
                <a:ea typeface="Arial" pitchFamily="34" charset="-122"/>
                <a:cs typeface="Arial" pitchFamily="34" charset="-120"/>
              </a:rPr>
              <a:t>TODAY'S QUEUE</a:t>
            </a:r>
            <a:endParaRPr lang="en-US" sz="1050" dirty="0"/>
          </a:p>
        </p:txBody>
      </p:sp>
      <p:pic>
        <p:nvPicPr>
          <p:cNvPr id="7" name="anim:1:float:1" descr="out/m_pcard.png">    </p:cNvPr>
          <p:cNvPicPr>
            <a:picLocks noChangeAspect="1"/>
          </p:cNvPicPr>
          <p:nvPr/>
        </p:nvPicPr>
        <p:blipFill>
          <a:blip r:embed="rId2"/>
          <a:stretch>
            <a:fillRect/>
          </a:stretch>
        </p:blipFill>
        <p:spPr>
          <a:xfrm>
            <a:off x="3083983" y="1783080"/>
            <a:ext cx="2169583" cy="4572000"/>
          </a:xfrm>
          <a:prstGeom prst="rect">
            <a:avLst/>
          </a:prstGeom>
        </p:spPr>
      </p:pic>
      <p:sp>
        <p:nvSpPr>
          <p:cNvPr id="8" name="anim:2:zoom:1"/>
          <p:cNvSpPr txBox="1"/>
          <p:nvPr/>
        </p:nvSpPr>
        <p:spPr>
          <a:xfrm>
            <a:off x="3266863" y="6245352"/>
            <a:ext cx="1712383" cy="347472"/>
          </a:xfrm>
          <a:prstGeom prst="roundRect">
            <a:avLst>
              <a:gd name="adj" fmla="val 21053"/>
            </a:avLst>
          </a:prstGeom>
          <a:solidFill>
            <a:srgbClr val="EF4444"/>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BEFORE THE CUT</a:t>
            </a:r>
            <a:endParaRPr lang="en-US" sz="1050" dirty="0"/>
          </a:p>
        </p:txBody>
      </p:sp>
      <p:sp>
        <p:nvSpPr>
          <p:cNvPr id="9" name="anim:3:float:0"/>
          <p:cNvSpPr txBox="1"/>
          <p:nvPr/>
        </p:nvSpPr>
        <p:spPr>
          <a:xfrm>
            <a:off x="5756487"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10" name="anim:3:float:0"/>
          <p:cNvSpPr txBox="1"/>
          <p:nvPr/>
        </p:nvSpPr>
        <p:spPr>
          <a:xfrm>
            <a:off x="6350847" y="190195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LIVE QUEUE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New online bookings pop in with a NEW badge.</a:t>
            </a:r>
            <a:endParaRPr lang="en-US" sz="1400" dirty="0"/>
          </a:p>
        </p:txBody>
      </p:sp>
      <p:sp>
        <p:nvSpPr>
          <p:cNvPr id="11" name="anim:3:float:1"/>
          <p:cNvSpPr txBox="1"/>
          <p:nvPr/>
        </p:nvSpPr>
        <p:spPr>
          <a:xfrm>
            <a:off x="5756487" y="288036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anim:3:float:1"/>
          <p:cNvSpPr txBox="1"/>
          <p:nvPr/>
        </p:nvSpPr>
        <p:spPr>
          <a:xfrm>
            <a:off x="6350847" y="286207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STATUS IN ONE TAP</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Confirmed, in chair, done, or no-show.</a:t>
            </a:r>
            <a:endParaRPr lang="en-US" sz="1400" dirty="0"/>
          </a:p>
        </p:txBody>
      </p:sp>
      <p:sp>
        <p:nvSpPr>
          <p:cNvPr id="13" name="anim:3:float:2"/>
          <p:cNvSpPr txBox="1"/>
          <p:nvPr/>
        </p:nvSpPr>
        <p:spPr>
          <a:xfrm>
            <a:off x="5756487" y="38404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4" name="anim:3:float:2"/>
          <p:cNvSpPr txBox="1"/>
          <p:nvPr/>
        </p:nvSpPr>
        <p:spPr>
          <a:xfrm>
            <a:off x="6350847" y="382219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READ BEFORE THE CUT</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The barber sees the style, the guard number, and the notes.</a:t>
            </a:r>
            <a:endParaRPr lang="en-US" sz="1400" dirty="0"/>
          </a:p>
        </p:txBody>
      </p:sp>
      <p:sp>
        <p:nvSpPr>
          <p:cNvPr id="15" name="anim:3:float:3"/>
          <p:cNvSpPr txBox="1"/>
          <p:nvPr/>
        </p:nvSpPr>
        <p:spPr>
          <a:xfrm>
            <a:off x="5756487" y="48006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6" name="anim:3:float:3"/>
          <p:cNvSpPr txBox="1"/>
          <p:nvPr/>
        </p:nvSpPr>
        <p:spPr>
          <a:xfrm>
            <a:off x="6350847" y="4782312"/>
            <a:ext cx="5307753" cy="8686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WALK-INS TOO</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Encoded by the owner so the schedule stays complete.</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p:tgtEl>
                                          <p:spTgt spid="7"/>
                                        </p:tgtEl>
                                        <p:attrNameLst>
                                          <p:attrName>ppt_x</p:attrName>
                                        </p:attrNameLst>
                                      </p:cBhvr>
                                      <p:tavLst>
                                        <p:tav tm="0">
                                          <p:val>
                                            <p:strVal val="#ppt_x"/>
                                          </p:val>
                                        </p:tav>
                                        <p:tav tm="100000">
                                          <p:val>
                                            <p:strVal val="#ppt_x"/>
                                          </p:val>
                                        </p:tav>
                                      </p:tavLst>
                                    </p:anim>
                                    <p:anim calcmode="lin" valueType="num">
                                      <p:cBhvr additive="base">
                                        <p:cTn id="19" dur="550" fill="hold"/>
                                        <p:tgtEl>
                                          <p:spTgt spid="7"/>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9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20" fill="hold"/>
                                        <p:tgtEl>
                                          <p:spTgt spid="6"/>
                                        </p:tgtEl>
                                        <p:attrNameLst>
                                          <p:attrName>ppt_w</p:attrName>
                                        </p:attrNameLst>
                                      </p:cBhvr>
                                      <p:tavLst>
                                        <p:tav tm="0">
                                          <p:val>
                                            <p:fltVal val="0"/>
                                          </p:val>
                                        </p:tav>
                                        <p:tav tm="100000">
                                          <p:val>
                                            <p:strVal val="#ppt_w"/>
                                          </p:val>
                                        </p:tav>
                                      </p:tavLst>
                                    </p:anim>
                                    <p:anim calcmode="lin" valueType="num">
                                      <p:cBhvr additive="base">
                                        <p:cTn id="23" dur="420" fill="hold"/>
                                        <p:tgtEl>
                                          <p:spTgt spid="6"/>
                                        </p:tgtEl>
                                        <p:attrNameLst>
                                          <p:attrName>ppt_h</p:attrName>
                                        </p:attrNameLst>
                                      </p:cBhvr>
                                      <p:tavLst>
                                        <p:tav tm="0">
                                          <p:val>
                                            <p:fltVal val="0"/>
                                          </p:val>
                                        </p:tav>
                                        <p:tav tm="100000">
                                          <p:val>
                                            <p:strVal val="#ppt_h"/>
                                          </p:val>
                                        </p:tav>
                                      </p:tavLst>
                                    </p:anim>
                                    <p:animEffect transition="in" filter="fade">
                                      <p:cBhvr>
                                        <p:cTn id="24" dur="420"/>
                                        <p:tgtEl>
                                          <p:spTgt spid="6"/>
                                        </p:tgtEl>
                                      </p:cBhvr>
                                    </p:animEffect>
                                  </p:childTnLst>
                                </p:cTn>
                              </p:par>
                              <p:par>
                                <p:cTn id="25" presetID="53" presetClass="entr" presetSubtype="16" fill="hold" nodeType="withEffect">
                                  <p:stCondLst>
                                    <p:cond delay="91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42" presetClass="entr" presetSubtype="0" fill="hold" nodeType="withEffect">
                                  <p:stCondLst>
                                    <p:cond delay="1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1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2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42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54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50FF"/>
        </a:solidFill>
      </p:bgPr>
    </p:bg>
    <p:spTree>
      <p:nvGrpSpPr>
        <p:cNvPr id="1" name=""/>
        <p:cNvGrpSpPr/>
        <p:nvPr/>
      </p:nvGrpSpPr>
      <p:grpSpPr>
        <a:xfrm>
          <a:off x="0" y="0"/>
          <a:ext cx="0" cy="0"/>
          <a:chOff x="0" y="0"/>
          <a:chExt cx="0" cy="0"/>
        </a:xfrm>
      </p:grpSpPr>
      <p:pic>
        <p:nvPicPr>
          <p:cNvPr id="2" name="anim:1:float:0" descr="out/w_landing.png">    </p:cNvPr>
          <p:cNvPicPr>
            <a:picLocks noChangeAspect="1"/>
          </p:cNvPicPr>
          <p:nvPr/>
        </p:nvPicPr>
        <p:blipFill>
          <a:blip r:embed="rId1"/>
          <a:stretch>
            <a:fillRect/>
          </a:stretch>
        </p:blipFill>
        <p:spPr>
          <a:xfrm>
            <a:off x="5120640" y="1005840"/>
            <a:ext cx="6675120" cy="4206240"/>
          </a:xfrm>
          <a:prstGeom prst="rect">
            <a:avLst/>
          </a:prstGeom>
        </p:spPr>
      </p:pic>
      <p:sp>
        <p:nvSpPr>
          <p:cNvPr id="3" name="anim:2:zoom:0"/>
          <p:cNvSpPr txBox="1"/>
          <p:nvPr/>
        </p:nvSpPr>
        <p:spPr>
          <a:xfrm rot="-240000">
            <a:off x="548640" y="1463040"/>
            <a:ext cx="1371600" cy="1371600"/>
          </a:xfrm>
          <a:prstGeom prst="roundRect">
            <a:avLst>
              <a:gd name="adj" fmla="val 6667"/>
            </a:avLst>
          </a:prstGeom>
          <a:solidFill>
            <a:srgbClr val="FFE600"/>
          </a:solidFill>
          <a:ln w="38100">
            <a:solidFill>
              <a:srgbClr val="000000"/>
            </a:solidFill>
          </a:ln>
          <a:effectLst>
            <a:outerShdw sx="100000" sy="100000" kx="0" ky="0" algn="bl" rotWithShape="0" blurRad="101600" dist="76200" dir="2700000">
              <a:srgbClr val="000000">
                <a:alpha val="100000"/>
              </a:srgbClr>
            </a:outerShdw>
          </a:effectLst>
        </p:spPr>
        <p:txBody>
          <a:bodyPr wrap="square" lIns="0" tIns="0" rIns="0" bIns="0" rtlCol="0" anchor="ctr"/>
          <a:lstStyle/>
          <a:p>
            <a:pPr algn="ctr" indent="0" marL="0">
              <a:buNone/>
            </a:pPr>
            <a:r>
              <a:rPr lang="en-US" sz="5400" b="1" dirty="0">
                <a:solidFill>
                  <a:srgbClr val="000000"/>
                </a:solidFill>
                <a:latin typeface="Arial" pitchFamily="34" charset="0"/>
                <a:ea typeface="Arial" pitchFamily="34" charset="-122"/>
                <a:cs typeface="Arial" pitchFamily="34" charset="-120"/>
              </a:rPr>
              <a:t>03</a:t>
            </a:r>
            <a:endParaRPr lang="en-US" sz="5400" dirty="0"/>
          </a:p>
        </p:txBody>
      </p:sp>
      <p:sp>
        <p:nvSpPr>
          <p:cNvPr id="4" name="anim:3:float:0"/>
          <p:cNvSpPr txBox="1"/>
          <p:nvPr/>
        </p:nvSpPr>
        <p:spPr>
          <a:xfrm>
            <a:off x="548640" y="3108960"/>
            <a:ext cx="4572000" cy="109728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WEB VERSION</a:t>
            </a:r>
            <a:endParaRPr lang="en-US" sz="4000" dirty="0"/>
          </a:p>
        </p:txBody>
      </p:sp>
      <p:sp>
        <p:nvSpPr>
          <p:cNvPr id="5" name="anim:4:fade:0"/>
          <p:cNvSpPr txBox="1"/>
          <p:nvPr/>
        </p:nvSpPr>
        <p:spPr>
          <a:xfrm>
            <a:off x="548640" y="4343400"/>
            <a:ext cx="4389120" cy="1188720"/>
          </a:xfrm>
          <a:prstGeom prst="rect">
            <a:avLst/>
          </a:prstGeom>
          <a:noFill/>
          <a:ln/>
        </p:spPr>
        <p:txBody>
          <a:bodyPr wrap="square" lIns="0" tIns="0" rIns="0" bIns="0" rtlCol="0" anchor="t"/>
          <a:lstStyle/>
          <a:p>
            <a:pPr indent="0" marL="0">
              <a:buNone/>
            </a:pPr>
            <a:r>
              <a:rPr lang="en-US" sz="1600" b="1" dirty="0">
                <a:solidFill>
                  <a:srgbClr val="DCE6FF"/>
                </a:solidFill>
                <a:latin typeface="Arial" pitchFamily="34" charset="0"/>
                <a:ea typeface="Arial" pitchFamily="34" charset="-122"/>
                <a:cs typeface="Arial" pitchFamily="34" charset="-120"/>
              </a:rPr>
              <a:t>The same system on a laptop: a public landing page, desktop booking, and the full owner dashboard.</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anim calcmode="lin" valueType="num">
                                      <p:cBhvr additive="base">
                                        <p:cTn id="8" dur="550" fill="hold"/>
                                        <p:tgtEl>
                                          <p:spTgt spid="2"/>
                                        </p:tgtEl>
                                        <p:attrNameLst>
                                          <p:attrName>ppt_x</p:attrName>
                                        </p:attrNameLst>
                                      </p:cBhvr>
                                      <p:tavLst>
                                        <p:tav tm="0">
                                          <p:val>
                                            <p:strVal val="#ppt_x"/>
                                          </p:val>
                                        </p:tav>
                                        <p:tav tm="100000">
                                          <p:val>
                                            <p:strVal val="#ppt_x"/>
                                          </p:val>
                                        </p:tav>
                                      </p:tavLst>
                                    </p:anim>
                                    <p:anim calcmode="lin" valueType="num">
                                      <p:cBhvr additive="base">
                                        <p:cTn id="9" dur="550" fill="hold"/>
                                        <p:tgtEl>
                                          <p:spTgt spid="2"/>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40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420" fill="hold"/>
                                        <p:tgtEl>
                                          <p:spTgt spid="3"/>
                                        </p:tgtEl>
                                        <p:attrNameLst>
                                          <p:attrName>ppt_w</p:attrName>
                                        </p:attrNameLst>
                                      </p:cBhvr>
                                      <p:tavLst>
                                        <p:tav tm="0">
                                          <p:val>
                                            <p:fltVal val="0"/>
                                          </p:val>
                                        </p:tav>
                                        <p:tav tm="100000">
                                          <p:val>
                                            <p:strVal val="#ppt_w"/>
                                          </p:val>
                                        </p:tav>
                                      </p:tavLst>
                                    </p:anim>
                                    <p:anim calcmode="lin" valueType="num">
                                      <p:cBhvr additive="base">
                                        <p:cTn id="13" dur="420" fill="hold"/>
                                        <p:tgtEl>
                                          <p:spTgt spid="3"/>
                                        </p:tgtEl>
                                        <p:attrNameLst>
                                          <p:attrName>ppt_h</p:attrName>
                                        </p:attrNameLst>
                                      </p:cBhvr>
                                      <p:tavLst>
                                        <p:tav tm="0">
                                          <p:val>
                                            <p:fltVal val="0"/>
                                          </p:val>
                                        </p:tav>
                                        <p:tav tm="100000">
                                          <p:val>
                                            <p:strVal val="#ppt_h"/>
                                          </p:val>
                                        </p:tav>
                                      </p:tavLst>
                                    </p:anim>
                                    <p:animEffect transition="in" filter="fade">
                                      <p:cBhvr>
                                        <p:cTn id="14" dur="420"/>
                                        <p:tgtEl>
                                          <p:spTgt spid="3"/>
                                        </p:tgtEl>
                                      </p:cBhvr>
                                    </p:animEffect>
                                  </p:childTnLst>
                                </p:cTn>
                              </p:par>
                              <p:par>
                                <p:cTn id="15" presetID="42" presetClass="entr" presetSubtype="0" fill="hold" nodeType="withEffect">
                                  <p:stCondLst>
                                    <p:cond delay="67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50"/>
                                        <p:tgtEl>
                                          <p:spTgt spid="4"/>
                                        </p:tgtEl>
                                      </p:cBhvr>
                                    </p:animEffect>
                                    <p:anim calcmode="lin" valueType="num">
                                      <p:cBhvr additive="base">
                                        <p:cTn id="18" dur="550" fill="hold"/>
                                        <p:tgtEl>
                                          <p:spTgt spid="4"/>
                                        </p:tgtEl>
                                        <p:attrNameLst>
                                          <p:attrName>ppt_x</p:attrName>
                                        </p:attrNameLst>
                                      </p:cBhvr>
                                      <p:tavLst>
                                        <p:tav tm="0">
                                          <p:val>
                                            <p:strVal val="#ppt_x"/>
                                          </p:val>
                                        </p:tav>
                                        <p:tav tm="100000">
                                          <p:val>
                                            <p:strVal val="#ppt_x"/>
                                          </p:val>
                                        </p:tav>
                                      </p:tavLst>
                                    </p:anim>
                                    <p:anim calcmode="lin" valueType="num">
                                      <p:cBhvr additive="base">
                                        <p:cTn id="19" dur="550" fill="hold"/>
                                        <p:tgtEl>
                                          <p:spTgt spid="4"/>
                                        </p:tgtEl>
                                        <p:attrNameLst>
                                          <p:attrName>ppt_y</p:attrName>
                                        </p:attrNameLst>
                                      </p:cBhvr>
                                      <p:tavLst>
                                        <p:tav tm="0">
                                          <p:val>
                                            <p:strVal val="#ppt_y+.1"/>
                                          </p:val>
                                        </p:tav>
                                        <p:tav tm="100000">
                                          <p:val>
                                            <p:strVal val="#ppt_y"/>
                                          </p:val>
                                        </p:tav>
                                      </p:tavLst>
                                    </p:anim>
                                  </p:childTnLst>
                                </p:cTn>
                              </p:par>
                              <p:par>
                                <p:cTn id="20" presetID="10" presetClass="entr" presetSubtype="0" fill="hold" nodeType="withEffect">
                                  <p:stCondLst>
                                    <p:cond delay="107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8288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LANDING PAGE</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BARBERBOOK.PH</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The public website that customers and shop owners see first</a:t>
            </a:r>
            <a:endParaRPr lang="en-US" sz="1400" dirty="0"/>
          </a:p>
        </p:txBody>
      </p:sp>
      <p:pic>
        <p:nvPicPr>
          <p:cNvPr id="5" name="anim:1:float:0" descr="out/w_landing.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BOLD PROMISE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"No more pila. Just your cut."</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TWO PATHS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Book a haircut, or sign up a barbershop.</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PROOF POINTS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Booking time, zero double booking, style count.</a:t>
            </a:r>
            <a:endParaRPr lang="en-US" sz="1400" dirty="0"/>
          </a:p>
        </p:txBody>
      </p:sp>
      <p:sp>
        <p:nvSpPr>
          <p:cNvPr id="12" name="anim:2:float:3"/>
          <p:cNvSpPr txBox="1"/>
          <p:nvPr/>
        </p:nvSpPr>
        <p:spPr>
          <a:xfrm>
            <a:off x="8503920" y="52120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3" name="anim:2:float:3"/>
          <p:cNvSpPr txBox="1"/>
          <p:nvPr/>
        </p:nvSpPr>
        <p:spPr>
          <a:xfrm>
            <a:off x="9098280" y="519379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SAME THEME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Matches the app, so the brand stays consistent.</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3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0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1717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DESKTOP BOOKING</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BOOK ON A BIG SCREEN</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Style grid, step tracker, and a live booking summary</a:t>
            </a:r>
            <a:endParaRPr lang="en-US" sz="1400" dirty="0"/>
          </a:p>
        </p:txBody>
      </p:sp>
      <p:pic>
        <p:nvPicPr>
          <p:cNvPr id="5" name="anim:1:float:0" descr="out/w_book.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4-STEP TRACKER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Style, barber, schedule, review. Always visible.</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BIGGER GALLERY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4 columns of styles with search and filters.</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LIVE SUMMARY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The booking card updates as the customer picks.</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1717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OWNER DASHBOARD</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TODAY'S QUEUE</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Every barber, every booking, one timeline</a:t>
            </a:r>
            <a:endParaRPr lang="en-US" sz="1400" dirty="0"/>
          </a:p>
        </p:txBody>
      </p:sp>
      <p:pic>
        <p:nvPicPr>
          <p:cNvPr id="5" name="anim:1:float:0" descr="out/w_queue.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KPI CARDS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Bookings, open slots, in chair, no-shows.</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BARBER TIMELINE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Color-coded by status, with a live "NOW" line.</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NEW BOOKING ALERT</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Online bookings pop up instantly with a NEW badge.</a:t>
            </a:r>
            <a:endParaRPr lang="en-US" sz="1400" dirty="0"/>
          </a:p>
        </p:txBody>
      </p:sp>
      <p:sp>
        <p:nvSpPr>
          <p:cNvPr id="12" name="anim:2:float:3"/>
          <p:cNvSpPr txBox="1"/>
          <p:nvPr/>
        </p:nvSpPr>
        <p:spPr>
          <a:xfrm>
            <a:off x="8503920" y="52120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3" name="anim:2:float:3"/>
          <p:cNvSpPr txBox="1"/>
          <p:nvPr/>
        </p:nvSpPr>
        <p:spPr>
          <a:xfrm>
            <a:off x="9098280" y="519379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ADD WALK-IN</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One button away, always on top.</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3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0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1717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THE HERO SCREEN</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READ THIS BEFORE THE CUT</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Click any booking and the barber sees exactly what the customer wants</a:t>
            </a:r>
            <a:endParaRPr lang="en-US" sz="1400" dirty="0"/>
          </a:p>
        </p:txBody>
      </p:sp>
      <p:pic>
        <p:nvPicPr>
          <p:cNvPr id="5" name="anim:1:float:0" descr="out/w_pcard.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STYLE REFERENCE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Gallery image or the customer's own photo.</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GUARD IN BIG NUMBERS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#2 is impossible to miss.</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TOP, BEARD, EXTRAS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Clear, one line each.</a:t>
            </a:r>
            <a:endParaRPr lang="en-US" sz="1400" dirty="0"/>
          </a:p>
        </p:txBody>
      </p:sp>
      <p:sp>
        <p:nvSpPr>
          <p:cNvPr id="12" name="anim:2:float:3"/>
          <p:cNvSpPr txBox="1"/>
          <p:nvPr/>
        </p:nvSpPr>
        <p:spPr>
          <a:xfrm>
            <a:off x="8503920" y="52120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3" name="anim:2:float:3"/>
          <p:cNvSpPr txBox="1"/>
          <p:nvPr/>
        </p:nvSpPr>
        <p:spPr>
          <a:xfrm>
            <a:off x="9098280" y="519379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NOTES + HISTORY</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The customer's own words and past visits.</a:t>
            </a:r>
            <a:endParaRPr lang="en-US" sz="1400" dirty="0"/>
          </a:p>
        </p:txBody>
      </p:sp>
      <p:sp>
        <p:nvSpPr>
          <p:cNvPr id="14" name="anim:3:zoom:0"/>
          <p:cNvSpPr txBox="1"/>
          <p:nvPr/>
        </p:nvSpPr>
        <p:spPr>
          <a:xfrm rot="-120000">
            <a:off x="9006840" y="6035040"/>
            <a:ext cx="27432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SOLVES "YUNG DATI LANG PO"</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3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0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53" presetClass="entr" presetSubtype="16" fill="hold" nodeType="withEffect">
                                  <p:stCondLst>
                                    <p:cond delay="143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420" fill="hold"/>
                                        <p:tgtEl>
                                          <p:spTgt spid="14"/>
                                        </p:tgtEl>
                                        <p:attrNameLst>
                                          <p:attrName>ppt_w</p:attrName>
                                        </p:attrNameLst>
                                      </p:cBhvr>
                                      <p:tavLst>
                                        <p:tav tm="0">
                                          <p:val>
                                            <p:fltVal val="0"/>
                                          </p:val>
                                        </p:tav>
                                        <p:tav tm="100000">
                                          <p:val>
                                            <p:strVal val="#ppt_w"/>
                                          </p:val>
                                        </p:tav>
                                      </p:tavLst>
                                    </p:anim>
                                    <p:anim calcmode="lin" valueType="num">
                                      <p:cBhvr additive="base">
                                        <p:cTn id="58" dur="420" fill="hold"/>
                                        <p:tgtEl>
                                          <p:spTgt spid="14"/>
                                        </p:tgtEl>
                                        <p:attrNameLst>
                                          <p:attrName>ppt_h</p:attrName>
                                        </p:attrNameLst>
                                      </p:cBhvr>
                                      <p:tavLst>
                                        <p:tav tm="0">
                                          <p:val>
                                            <p:fltVal val="0"/>
                                          </p:val>
                                        </p:tav>
                                        <p:tav tm="100000">
                                          <p:val>
                                            <p:strVal val="#ppt_h"/>
                                          </p:val>
                                        </p:tav>
                                      </p:tavLst>
                                    </p:anim>
                                    <p:animEffect transition="in" filter="fade">
                                      <p:cBhvr>
                                        <p:cTn id="59"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1717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SHOP MANAGEMENT</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WALK-INS AND BARBER HOURS</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Walk-ins block the slot for online customers, and hours update the calendar instantly</a:t>
            </a:r>
            <a:endParaRPr lang="en-US" sz="1400" dirty="0"/>
          </a:p>
        </p:txBody>
      </p:sp>
      <p:pic>
        <p:nvPicPr>
          <p:cNvPr id="5" name="anim:1:float:0" descr="out/w_walkin.png">    </p:cNvPr>
          <p:cNvPicPr>
            <a:picLocks noChangeAspect="1"/>
          </p:cNvPicPr>
          <p:nvPr/>
        </p:nvPicPr>
        <p:blipFill>
          <a:blip r:embed="rId1"/>
          <a:stretch>
            <a:fillRect/>
          </a:stretch>
        </p:blipFill>
        <p:spPr>
          <a:xfrm>
            <a:off x="548640" y="1828800"/>
            <a:ext cx="5486400" cy="3457184"/>
          </a:xfrm>
          <a:prstGeom prst="rect">
            <a:avLst/>
          </a:prstGeom>
        </p:spPr>
      </p:pic>
      <p:pic>
        <p:nvPicPr>
          <p:cNvPr id="6" name="anim:1:float:1" descr="out/w_barbers.png">    </p:cNvPr>
          <p:cNvPicPr>
            <a:picLocks noChangeAspect="1"/>
          </p:cNvPicPr>
          <p:nvPr/>
        </p:nvPicPr>
        <p:blipFill>
          <a:blip r:embed="rId2"/>
          <a:stretch>
            <a:fillRect/>
          </a:stretch>
        </p:blipFill>
        <p:spPr>
          <a:xfrm>
            <a:off x="6172200" y="1828800"/>
            <a:ext cx="5486400" cy="3457184"/>
          </a:xfrm>
          <a:prstGeom prst="rect">
            <a:avLst/>
          </a:prstGeom>
        </p:spPr>
      </p:pic>
      <p:sp>
        <p:nvSpPr>
          <p:cNvPr id="7" name="anim:2:zoom:0"/>
          <p:cNvSpPr txBox="1"/>
          <p:nvPr/>
        </p:nvSpPr>
        <p:spPr>
          <a:xfrm>
            <a:off x="822960" y="5377424"/>
            <a:ext cx="2011680"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WALK-IN FORM</a:t>
            </a:r>
            <a:endParaRPr lang="en-US" sz="1050" dirty="0"/>
          </a:p>
        </p:txBody>
      </p:sp>
      <p:sp>
        <p:nvSpPr>
          <p:cNvPr id="8" name="anim:2:zoom:1"/>
          <p:cNvSpPr txBox="1"/>
          <p:nvPr/>
        </p:nvSpPr>
        <p:spPr>
          <a:xfrm>
            <a:off x="6446520" y="5377424"/>
            <a:ext cx="2194560"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BARBERS &amp; HOURS</a:t>
            </a:r>
            <a:endParaRPr lang="en-US" sz="1050" dirty="0"/>
          </a:p>
        </p:txBody>
      </p:sp>
      <p:sp>
        <p:nvSpPr>
          <p:cNvPr id="9" name="anim:3:fade:0"/>
          <p:cNvSpPr txBox="1"/>
          <p:nvPr/>
        </p:nvSpPr>
        <p:spPr>
          <a:xfrm>
            <a:off x="548640" y="5806440"/>
            <a:ext cx="11064240" cy="68580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Walk-ins still welcome. </a:t>
            </a:r>
            <a:pPr indent="0" marL="0">
              <a:buNone/>
            </a:pPr>
            <a:r>
              <a:rPr lang="en-US" sz="1300" dirty="0">
                <a:solidFill>
                  <a:srgbClr val="000000"/>
                </a:solidFill>
                <a:latin typeface="Arial" pitchFamily="34" charset="0"/>
                <a:ea typeface="Arial" pitchFamily="34" charset="-122"/>
                <a:cs typeface="Arial" pitchFamily="34" charset="-120"/>
              </a:rPr>
              <a:t>Customers without internet are served as usual. The owner encodes them in seconds so there is never a double booking between walk-ins and online bookings.</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9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9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420" fill="hold"/>
                                        <p:tgtEl>
                                          <p:spTgt spid="7"/>
                                        </p:tgtEl>
                                        <p:attrNameLst>
                                          <p:attrName>ppt_w</p:attrName>
                                        </p:attrNameLst>
                                      </p:cBhvr>
                                      <p:tavLst>
                                        <p:tav tm="0">
                                          <p:val>
                                            <p:fltVal val="0"/>
                                          </p:val>
                                        </p:tav>
                                        <p:tav tm="100000">
                                          <p:val>
                                            <p:strVal val="#ppt_w"/>
                                          </p:val>
                                        </p:tav>
                                      </p:tavLst>
                                    </p:anim>
                                    <p:anim calcmode="lin" valueType="num">
                                      <p:cBhvr additive="base">
                                        <p:cTn id="23" dur="420" fill="hold"/>
                                        <p:tgtEl>
                                          <p:spTgt spid="7"/>
                                        </p:tgtEl>
                                        <p:attrNameLst>
                                          <p:attrName>ppt_h</p:attrName>
                                        </p:attrNameLst>
                                      </p:cBhvr>
                                      <p:tavLst>
                                        <p:tav tm="0">
                                          <p:val>
                                            <p:fltVal val="0"/>
                                          </p:val>
                                        </p:tav>
                                        <p:tav tm="100000">
                                          <p:val>
                                            <p:strVal val="#ppt_h"/>
                                          </p:val>
                                        </p:tav>
                                      </p:tavLst>
                                    </p:anim>
                                    <p:animEffect transition="in" filter="fade">
                                      <p:cBhvr>
                                        <p:cTn id="24" dur="420"/>
                                        <p:tgtEl>
                                          <p:spTgt spid="7"/>
                                        </p:tgtEl>
                                      </p:cBhvr>
                                    </p:animEffect>
                                  </p:childTnLst>
                                </p:cTn>
                              </p:par>
                              <p:par>
                                <p:cTn id="25" presetID="53" presetClass="entr" presetSubtype="16" fill="hold" nodeType="withEffect">
                                  <p:stCondLst>
                                    <p:cond delay="91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10" presetClass="entr" presetSubtype="0" fill="hold" nodeType="withEffect">
                                  <p:stCondLst>
                                    <p:cond delay="118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8575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STYLE GALLERY MANAGER</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THE SHOP CONTROLS THE GALLERY</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Mark styles as trending, hide old ones, add new ones</a:t>
            </a:r>
            <a:endParaRPr lang="en-US" sz="1400" dirty="0"/>
          </a:p>
        </p:txBody>
      </p:sp>
      <p:pic>
        <p:nvPicPr>
          <p:cNvPr id="5" name="anim:1:float:0" descr="out/w_styles.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TRENDING TOGGLE</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Moves a style into the Trending tab for customers.</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HIDE OR SHOW</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Retired styles disappear from the app.</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USAGE COUNT</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See which styles customers book the most.</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3716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REPORTS</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NUMBERS THE OWNER CAN USE</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Bookings per day, per barber, top styles, and busiest hours</a:t>
            </a:r>
            <a:endParaRPr lang="en-US" sz="1400" dirty="0"/>
          </a:p>
        </p:txBody>
      </p:sp>
      <p:pic>
        <p:nvPicPr>
          <p:cNvPr id="5" name="anim:1:float:0" descr="out/w_reports.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WEEKLY KPIS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Bookings, completion rate, no-show rate.</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PER DAY AND PER BARBER</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Helps decide staffing and days off.</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BUSIEST HOURS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A heat map for shop hours and promos.</a:t>
            </a:r>
            <a:endParaRPr lang="en-US" sz="1400" dirty="0"/>
          </a:p>
        </p:txBody>
      </p:sp>
      <p:sp>
        <p:nvSpPr>
          <p:cNvPr id="12" name="anim:2:float:3"/>
          <p:cNvSpPr txBox="1"/>
          <p:nvPr/>
        </p:nvSpPr>
        <p:spPr>
          <a:xfrm>
            <a:off x="8503920" y="521208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13" name="anim:2:float:3"/>
          <p:cNvSpPr txBox="1"/>
          <p:nvPr/>
        </p:nvSpPr>
        <p:spPr>
          <a:xfrm>
            <a:off x="9098280" y="519379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EXPORT CSV</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For records and simple bookkeeping.</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3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0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3716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FEEDBACK</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WHAT CUSTOMERS ARE SAYING</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Ratings and comments after every appointment</a:t>
            </a:r>
            <a:endParaRPr lang="en-US" sz="1400" dirty="0"/>
          </a:p>
        </p:txBody>
      </p:sp>
      <p:pic>
        <p:nvPicPr>
          <p:cNvPr id="5" name="anim:1:float:0" descr="out/w_feedback.png">    </p:cNvPr>
          <p:cNvPicPr>
            <a:picLocks noChangeAspect="1"/>
          </p:cNvPicPr>
          <p:nvPr/>
        </p:nvPicPr>
        <p:blipFill>
          <a:blip r:embed="rId1"/>
          <a:stretch>
            <a:fillRect/>
          </a:stretch>
        </p:blipFill>
        <p:spPr>
          <a:xfrm>
            <a:off x="548640" y="1783080"/>
            <a:ext cx="7589520" cy="4782437"/>
          </a:xfrm>
          <a:prstGeom prst="rect">
            <a:avLst/>
          </a:prstGeom>
        </p:spPr>
      </p:pic>
      <p:sp>
        <p:nvSpPr>
          <p:cNvPr id="6" name="anim:2:float:0"/>
          <p:cNvSpPr txBox="1"/>
          <p:nvPr/>
        </p:nvSpPr>
        <p:spPr>
          <a:xfrm>
            <a:off x="8503920" y="1920240"/>
            <a:ext cx="457200" cy="457200"/>
          </a:xfrm>
          <a:prstGeom prst="ellipse">
            <a:avLst/>
          </a:prstGeom>
          <a:solidFill>
            <a:srgbClr val="FFE600"/>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anim:2:float:0"/>
          <p:cNvSpPr txBox="1"/>
          <p:nvPr/>
        </p:nvSpPr>
        <p:spPr>
          <a:xfrm>
            <a:off x="9098280" y="190195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AVERAGE RATING</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A big, simple score.</a:t>
            </a:r>
            <a:endParaRPr lang="en-US" sz="1400" dirty="0"/>
          </a:p>
        </p:txBody>
      </p:sp>
      <p:sp>
        <p:nvSpPr>
          <p:cNvPr id="8" name="anim:2:float:1"/>
          <p:cNvSpPr txBox="1"/>
          <p:nvPr/>
        </p:nvSpPr>
        <p:spPr>
          <a:xfrm>
            <a:off x="8503920" y="301752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9" name="anim:2:float:1"/>
          <p:cNvSpPr txBox="1"/>
          <p:nvPr/>
        </p:nvSpPr>
        <p:spPr>
          <a:xfrm>
            <a:off x="9098280" y="299923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TOP TAGS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"Exactly what I asked" shows the preference feature works.</a:t>
            </a:r>
            <a:endParaRPr lang="en-US" sz="1400" dirty="0"/>
          </a:p>
        </p:txBody>
      </p:sp>
      <p:sp>
        <p:nvSpPr>
          <p:cNvPr id="10" name="anim:2:float:2"/>
          <p:cNvSpPr txBox="1"/>
          <p:nvPr/>
        </p:nvSpPr>
        <p:spPr>
          <a:xfrm>
            <a:off x="8503920" y="4114800"/>
            <a:ext cx="457200" cy="457200"/>
          </a:xfrm>
          <a:prstGeom prst="ellipse">
            <a:avLst/>
          </a:prstGeom>
          <a:solidFill>
            <a:srgbClr val="FFFFFF"/>
          </a:solidFill>
          <a:ln w="25400">
            <a:solidFill>
              <a:srgbClr val="000000"/>
            </a:solid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1" name="anim:2:float:2"/>
          <p:cNvSpPr txBox="1"/>
          <p:nvPr/>
        </p:nvSpPr>
        <p:spPr>
          <a:xfrm>
            <a:off x="9098280" y="4096512"/>
            <a:ext cx="2560320" cy="10058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PER-BARBER REVIEWS</a:t>
            </a:r>
            <a:endParaRPr lang="en-US" sz="1400" dirty="0"/>
          </a:p>
          <a:p>
            <a:pPr indent="0" marL="0">
              <a:buNone/>
            </a:pPr>
            <a:r>
              <a:rPr lang="en-US" sz="1200" dirty="0">
                <a:solidFill>
                  <a:srgbClr val="333333"/>
                </a:solidFill>
                <a:latin typeface="Arial" pitchFamily="34" charset="0"/>
                <a:ea typeface="Arial" pitchFamily="34" charset="-122"/>
                <a:cs typeface="Arial" pitchFamily="34" charset="-120"/>
              </a:rPr>
              <a:t>Useful for coaching and recognition.</a:t>
            </a:r>
            <a:endParaRPr lang="en-US" sz="14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9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1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50FF"/>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20574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THE WOW MOMENT</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ONE BOOKING, TWO SCREENS, INSTANTLY</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DCE6FF"/>
                </a:solidFill>
                <a:latin typeface="Arial" pitchFamily="34" charset="0"/>
                <a:ea typeface="Arial" pitchFamily="34" charset="-122"/>
                <a:cs typeface="Arial" pitchFamily="34" charset="-120"/>
              </a:rPr>
              <a:t>The customer confirms on the phone, and it appears in the shop dashboard right away</a:t>
            </a:r>
            <a:endParaRPr lang="en-US" sz="1400" dirty="0"/>
          </a:p>
        </p:txBody>
      </p:sp>
      <p:pic>
        <p:nvPicPr>
          <p:cNvPr id="5" name="anim:1:float:0" descr="out/m_confirm.png">    </p:cNvPr>
          <p:cNvPicPr>
            <a:picLocks noChangeAspect="1"/>
          </p:cNvPicPr>
          <p:nvPr/>
        </p:nvPicPr>
        <p:blipFill>
          <a:blip r:embed="rId1"/>
          <a:stretch>
            <a:fillRect/>
          </a:stretch>
        </p:blipFill>
        <p:spPr>
          <a:xfrm>
            <a:off x="822960" y="1783080"/>
            <a:ext cx="2212975" cy="4663440"/>
          </a:xfrm>
          <a:prstGeom prst="rect">
            <a:avLst/>
          </a:prstGeom>
        </p:spPr>
      </p:pic>
      <p:sp>
        <p:nvSpPr>
          <p:cNvPr id="6" name="anim:2:zoom:0"/>
          <p:cNvSpPr txBox="1"/>
          <p:nvPr/>
        </p:nvSpPr>
        <p:spPr>
          <a:xfrm>
            <a:off x="3337560" y="3520440"/>
            <a:ext cx="914400" cy="914400"/>
          </a:xfrm>
          <a:prstGeom prst="ellipse">
            <a:avLst/>
          </a:prstGeom>
          <a:solidFill>
            <a:srgbClr val="FFE600"/>
          </a:solidFill>
          <a:ln w="38100">
            <a:solidFill>
              <a:srgbClr val="000000"/>
            </a:solidFill>
          </a:ln>
          <a:effectLst>
            <a:outerShdw sx="100000" sy="100000" kx="0" ky="0" algn="bl" rotWithShape="0" blurRad="101600" dist="63500" dir="2700000">
              <a:srgbClr val="000000">
                <a:alpha val="100000"/>
              </a:srgbClr>
            </a:outerShdw>
          </a:effectLst>
        </p:spPr>
        <p:txBody>
          <a:bodyPr wrap="square" lIns="0" tIns="0" rIns="0" bIns="0" rtlCol="0" anchor="ctr"/>
          <a:lstStyle/>
          <a:p>
            <a:pPr algn="ctr" indent="0" marL="0">
              <a:buNone/>
            </a:pPr>
            <a:r>
              <a:rPr lang="en-US" sz="3600" b="1" dirty="0">
                <a:solidFill>
                  <a:srgbClr val="000000"/>
                </a:solidFill>
                <a:latin typeface="Arial" pitchFamily="34" charset="0"/>
                <a:ea typeface="Arial" pitchFamily="34" charset="-122"/>
                <a:cs typeface="Arial" pitchFamily="34" charset="-120"/>
              </a:rPr>
              <a:t>→</a:t>
            </a:r>
            <a:endParaRPr lang="en-US" sz="3600" dirty="0"/>
          </a:p>
        </p:txBody>
      </p:sp>
      <p:pic>
        <p:nvPicPr>
          <p:cNvPr id="7" name="anim:3:float:0" descr="out/w_queue.png">    </p:cNvPr>
          <p:cNvPicPr>
            <a:picLocks noChangeAspect="1"/>
          </p:cNvPicPr>
          <p:nvPr/>
        </p:nvPicPr>
        <p:blipFill>
          <a:blip r:embed="rId2"/>
          <a:stretch>
            <a:fillRect/>
          </a:stretch>
        </p:blipFill>
        <p:spPr>
          <a:xfrm>
            <a:off x="4526280" y="1874520"/>
            <a:ext cx="7132320" cy="4494339"/>
          </a:xfrm>
          <a:prstGeom prst="rect">
            <a:avLst/>
          </a:prstGeom>
        </p:spPr>
      </p:pic>
      <p:sp>
        <p:nvSpPr>
          <p:cNvPr id="8" name="anim:4:zoom:0"/>
          <p:cNvSpPr txBox="1"/>
          <p:nvPr/>
        </p:nvSpPr>
        <p:spPr>
          <a:xfrm rot="240000">
            <a:off x="9692640" y="1508760"/>
            <a:ext cx="2011680" cy="384048"/>
          </a:xfrm>
          <a:prstGeom prst="roundRect">
            <a:avLst>
              <a:gd name="adj" fmla="val 1904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LIVE! NO REFRESH</a:t>
            </a:r>
            <a:endParaRPr lang="en-US" sz="1200" dirty="0"/>
          </a:p>
        </p:txBody>
      </p:sp>
      <p:sp>
        <p:nvSpPr>
          <p:cNvPr id="9" name="anim:1:float:0"/>
          <p:cNvSpPr txBox="1"/>
          <p:nvPr/>
        </p:nvSpPr>
        <p:spPr>
          <a:xfrm>
            <a:off x="914400" y="6464808"/>
            <a:ext cx="2011680" cy="347472"/>
          </a:xfrm>
          <a:prstGeom prst="roundRect">
            <a:avLst>
              <a:gd name="adj" fmla="val 21053"/>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CUSTOMER · PHONE</a:t>
            </a:r>
            <a:endParaRPr lang="en-US" sz="1050" dirty="0"/>
          </a:p>
        </p:txBody>
      </p:sp>
      <p:sp>
        <p:nvSpPr>
          <p:cNvPr id="10" name="anim:3:float:0"/>
          <p:cNvSpPr txBox="1"/>
          <p:nvPr/>
        </p:nvSpPr>
        <p:spPr>
          <a:xfrm>
            <a:off x="4754880" y="6460299"/>
            <a:ext cx="2011680" cy="347472"/>
          </a:xfrm>
          <a:prstGeom prst="roundRect">
            <a:avLst>
              <a:gd name="adj" fmla="val 21053"/>
            </a:avLst>
          </a:prstGeom>
          <a:solidFill>
            <a:srgbClr val="0000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FFE600"/>
                </a:solidFill>
                <a:latin typeface="Arial" pitchFamily="34" charset="0"/>
                <a:ea typeface="Arial" pitchFamily="34" charset="-122"/>
                <a:cs typeface="Arial" pitchFamily="34" charset="-120"/>
              </a:rPr>
              <a:t>OWNER · LAPTOP</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50"/>
                                        <p:tgtEl>
                                          <p:spTgt spid="9"/>
                                        </p:tgtEl>
                                      </p:cBhvr>
                                    </p:animEffect>
                                    <p:anim calcmode="lin" valueType="num">
                                      <p:cBhvr additive="base">
                                        <p:cTn id="18" dur="550" fill="hold"/>
                                        <p:tgtEl>
                                          <p:spTgt spid="9"/>
                                        </p:tgtEl>
                                        <p:attrNameLst>
                                          <p:attrName>ppt_x</p:attrName>
                                        </p:attrNameLst>
                                      </p:cBhvr>
                                      <p:tavLst>
                                        <p:tav tm="0">
                                          <p:val>
                                            <p:strVal val="#ppt_x"/>
                                          </p:val>
                                        </p:tav>
                                        <p:tav tm="100000">
                                          <p:val>
                                            <p:strVal val="#ppt_x"/>
                                          </p:val>
                                        </p:tav>
                                      </p:tavLst>
                                    </p:anim>
                                    <p:anim calcmode="lin" valueType="num">
                                      <p:cBhvr additive="base">
                                        <p:cTn id="19" dur="550" fill="hold"/>
                                        <p:tgtEl>
                                          <p:spTgt spid="9"/>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67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20" fill="hold"/>
                                        <p:tgtEl>
                                          <p:spTgt spid="6"/>
                                        </p:tgtEl>
                                        <p:attrNameLst>
                                          <p:attrName>ppt_w</p:attrName>
                                        </p:attrNameLst>
                                      </p:cBhvr>
                                      <p:tavLst>
                                        <p:tav tm="0">
                                          <p:val>
                                            <p:fltVal val="0"/>
                                          </p:val>
                                        </p:tav>
                                        <p:tav tm="100000">
                                          <p:val>
                                            <p:strVal val="#ppt_w"/>
                                          </p:val>
                                        </p:tav>
                                      </p:tavLst>
                                    </p:anim>
                                    <p:anim calcmode="lin" valueType="num">
                                      <p:cBhvr additive="base">
                                        <p:cTn id="23" dur="420" fill="hold"/>
                                        <p:tgtEl>
                                          <p:spTgt spid="6"/>
                                        </p:tgtEl>
                                        <p:attrNameLst>
                                          <p:attrName>ppt_h</p:attrName>
                                        </p:attrNameLst>
                                      </p:cBhvr>
                                      <p:tavLst>
                                        <p:tav tm="0">
                                          <p:val>
                                            <p:fltVal val="0"/>
                                          </p:val>
                                        </p:tav>
                                        <p:tav tm="100000">
                                          <p:val>
                                            <p:strVal val="#ppt_h"/>
                                          </p:val>
                                        </p:tav>
                                      </p:tavLst>
                                    </p:anim>
                                    <p:animEffect transition="in" filter="fade">
                                      <p:cBhvr>
                                        <p:cTn id="24" dur="420"/>
                                        <p:tgtEl>
                                          <p:spTgt spid="6"/>
                                        </p:tgtEl>
                                      </p:cBhvr>
                                    </p:animEffect>
                                  </p:childTnLst>
                                </p:cTn>
                              </p:par>
                              <p:par>
                                <p:cTn id="25" presetID="42" presetClass="entr" presetSubtype="0" fill="hold" nodeType="withEffect">
                                  <p:stCondLst>
                                    <p:cond delay="94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50"/>
                                        <p:tgtEl>
                                          <p:spTgt spid="7"/>
                                        </p:tgtEl>
                                      </p:cBhvr>
                                    </p:animEffect>
                                    <p:anim calcmode="lin" valueType="num">
                                      <p:cBhvr additive="base">
                                        <p:cTn id="28" dur="550" fill="hold"/>
                                        <p:tgtEl>
                                          <p:spTgt spid="7"/>
                                        </p:tgtEl>
                                        <p:attrNameLst>
                                          <p:attrName>ppt_x</p:attrName>
                                        </p:attrNameLst>
                                      </p:cBhvr>
                                      <p:tavLst>
                                        <p:tav tm="0">
                                          <p:val>
                                            <p:strVal val="#ppt_x"/>
                                          </p:val>
                                        </p:tav>
                                        <p:tav tm="100000">
                                          <p:val>
                                            <p:strVal val="#ppt_x"/>
                                          </p:val>
                                        </p:tav>
                                      </p:tavLst>
                                    </p:anim>
                                    <p:anim calcmode="lin" valueType="num">
                                      <p:cBhvr additive="base">
                                        <p:cTn id="29" dur="55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4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50"/>
                                        <p:tgtEl>
                                          <p:spTgt spid="10"/>
                                        </p:tgtEl>
                                      </p:cBhvr>
                                    </p:animEffect>
                                    <p:anim calcmode="lin" valueType="num">
                                      <p:cBhvr additive="base">
                                        <p:cTn id="33" dur="550" fill="hold"/>
                                        <p:tgtEl>
                                          <p:spTgt spid="10"/>
                                        </p:tgtEl>
                                        <p:attrNameLst>
                                          <p:attrName>ppt_x</p:attrName>
                                        </p:attrNameLst>
                                      </p:cBhvr>
                                      <p:tavLst>
                                        <p:tav tm="0">
                                          <p:val>
                                            <p:strVal val="#ppt_x"/>
                                          </p:val>
                                        </p:tav>
                                        <p:tav tm="100000">
                                          <p:val>
                                            <p:strVal val="#ppt_x"/>
                                          </p:val>
                                        </p:tav>
                                      </p:tavLst>
                                    </p:anim>
                                    <p:anim calcmode="lin" valueType="num">
                                      <p:cBhvr additive="base">
                                        <p:cTn id="34" dur="550" fill="hold"/>
                                        <p:tgtEl>
                                          <p:spTgt spid="10"/>
                                        </p:tgtEl>
                                        <p:attrNameLst>
                                          <p:attrName>ppt_y</p:attrName>
                                        </p:attrNameLst>
                                      </p:cBhvr>
                                      <p:tavLst>
                                        <p:tav tm="0">
                                          <p:val>
                                            <p:strVal val="#ppt_y+.1"/>
                                          </p:val>
                                        </p:tav>
                                        <p:tav tm="100000">
                                          <p:val>
                                            <p:strVal val="#ppt_y"/>
                                          </p:val>
                                        </p:tav>
                                      </p:tavLst>
                                    </p:anim>
                                  </p:childTnLst>
                                </p:cTn>
                              </p:par>
                              <p:par>
                                <p:cTn id="35" presetID="53" presetClass="entr" presetSubtype="16" fill="hold" nodeType="withEffect">
                                  <p:stCondLst>
                                    <p:cond delay="134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420" fill="hold"/>
                                        <p:tgtEl>
                                          <p:spTgt spid="8"/>
                                        </p:tgtEl>
                                        <p:attrNameLst>
                                          <p:attrName>ppt_w</p:attrName>
                                        </p:attrNameLst>
                                      </p:cBhvr>
                                      <p:tavLst>
                                        <p:tav tm="0">
                                          <p:val>
                                            <p:fltVal val="0"/>
                                          </p:val>
                                        </p:tav>
                                        <p:tav tm="100000">
                                          <p:val>
                                            <p:strVal val="#ppt_w"/>
                                          </p:val>
                                        </p:tav>
                                      </p:tavLst>
                                    </p:anim>
                                    <p:anim calcmode="lin" valueType="num">
                                      <p:cBhvr additive="base">
                                        <p:cTn id="38" dur="420" fill="hold"/>
                                        <p:tgtEl>
                                          <p:spTgt spid="8"/>
                                        </p:tgtEl>
                                        <p:attrNameLst>
                                          <p:attrName>ppt_h</p:attrName>
                                        </p:attrNameLst>
                                      </p:cBhvr>
                                      <p:tavLst>
                                        <p:tav tm="0">
                                          <p:val>
                                            <p:fltVal val="0"/>
                                          </p:val>
                                        </p:tav>
                                        <p:tav tm="100000">
                                          <p:val>
                                            <p:strVal val="#ppt_h"/>
                                          </p:val>
                                        </p:tav>
                                      </p:tavLst>
                                    </p:anim>
                                    <p:animEffect transition="in" filter="fade">
                                      <p:cBhvr>
                                        <p:cTn id="39" dur="42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274320"/>
            <a:ext cx="18288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EVERY SCREEN</a:t>
            </a:r>
            <a:endParaRPr lang="en-US" sz="1200" dirty="0"/>
          </a:p>
        </p:txBody>
      </p:sp>
      <p:sp>
        <p:nvSpPr>
          <p:cNvPr id="3" name="Text 1"/>
          <p:cNvSpPr txBox="1"/>
          <p:nvPr/>
        </p:nvSpPr>
        <p:spPr>
          <a:xfrm>
            <a:off x="548640" y="713232"/>
            <a:ext cx="11064240" cy="56692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17 MOBILE SCREENS, 9 WEB SCREENS</a:t>
            </a:r>
            <a:endParaRPr lang="en-US" sz="2800" dirty="0"/>
          </a:p>
        </p:txBody>
      </p:sp>
      <p:sp>
        <p:nvSpPr>
          <p:cNvPr id="4" name="Text 2"/>
          <p:cNvSpPr txBox="1"/>
          <p:nvPr/>
        </p:nvSpPr>
        <p:spPr>
          <a:xfrm>
            <a:off x="548640" y="1261872"/>
            <a:ext cx="11064240" cy="329184"/>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A complete, consistent system, customer and shop side</a:t>
            </a:r>
            <a:endParaRPr lang="en-US" sz="1400" dirty="0"/>
          </a:p>
        </p:txBody>
      </p:sp>
      <p:pic>
        <p:nvPicPr>
          <p:cNvPr id="5" name="anim:1:zoom:0" descr="out/m_splash.png">    </p:cNvPr>
          <p:cNvPicPr>
            <a:picLocks noChangeAspect="1"/>
          </p:cNvPicPr>
          <p:nvPr/>
        </p:nvPicPr>
        <p:blipFill>
          <a:blip r:embed="rId1"/>
          <a:stretch>
            <a:fillRect/>
          </a:stretch>
        </p:blipFill>
        <p:spPr>
          <a:xfrm>
            <a:off x="548640" y="1783080"/>
            <a:ext cx="1063096" cy="2240280"/>
          </a:xfrm>
          <a:prstGeom prst="rect">
            <a:avLst/>
          </a:prstGeom>
        </p:spPr>
      </p:pic>
      <p:pic>
        <p:nvPicPr>
          <p:cNvPr id="6" name="anim:1:zoom:1" descr="out/m_home.png">    </p:cNvPr>
          <p:cNvPicPr>
            <a:picLocks noChangeAspect="1"/>
          </p:cNvPicPr>
          <p:nvPr/>
        </p:nvPicPr>
        <p:blipFill>
          <a:blip r:embed="rId2"/>
          <a:stretch>
            <a:fillRect/>
          </a:stretch>
        </p:blipFill>
        <p:spPr>
          <a:xfrm>
            <a:off x="1798783" y="1783080"/>
            <a:ext cx="1063096" cy="2240280"/>
          </a:xfrm>
          <a:prstGeom prst="rect">
            <a:avLst/>
          </a:prstGeom>
        </p:spPr>
      </p:pic>
      <p:pic>
        <p:nvPicPr>
          <p:cNvPr id="7" name="anim:1:zoom:2" descr="out/m_shop.png">    </p:cNvPr>
          <p:cNvPicPr>
            <a:picLocks noChangeAspect="1"/>
          </p:cNvPicPr>
          <p:nvPr/>
        </p:nvPicPr>
        <p:blipFill>
          <a:blip r:embed="rId3"/>
          <a:stretch>
            <a:fillRect/>
          </a:stretch>
        </p:blipFill>
        <p:spPr>
          <a:xfrm>
            <a:off x="3048926" y="1783080"/>
            <a:ext cx="1063096" cy="2240280"/>
          </a:xfrm>
          <a:prstGeom prst="rect">
            <a:avLst/>
          </a:prstGeom>
        </p:spPr>
      </p:pic>
      <p:pic>
        <p:nvPicPr>
          <p:cNvPr id="8" name="anim:1:zoom:3" descr="out/m_gallery.png">    </p:cNvPr>
          <p:cNvPicPr>
            <a:picLocks noChangeAspect="1"/>
          </p:cNvPicPr>
          <p:nvPr/>
        </p:nvPicPr>
        <p:blipFill>
          <a:blip r:embed="rId4"/>
          <a:stretch>
            <a:fillRect/>
          </a:stretch>
        </p:blipFill>
        <p:spPr>
          <a:xfrm>
            <a:off x="4299069" y="1783080"/>
            <a:ext cx="1063096" cy="2240280"/>
          </a:xfrm>
          <a:prstGeom prst="rect">
            <a:avLst/>
          </a:prstGeom>
        </p:spPr>
      </p:pic>
      <p:pic>
        <p:nvPicPr>
          <p:cNvPr id="9" name="anim:1:zoom:4" descr="out/m_upload.png">    </p:cNvPr>
          <p:cNvPicPr>
            <a:picLocks noChangeAspect="1"/>
          </p:cNvPicPr>
          <p:nvPr/>
        </p:nvPicPr>
        <p:blipFill>
          <a:blip r:embed="rId5"/>
          <a:stretch>
            <a:fillRect/>
          </a:stretch>
        </p:blipFill>
        <p:spPr>
          <a:xfrm>
            <a:off x="5549212" y="1783080"/>
            <a:ext cx="1063096" cy="2240280"/>
          </a:xfrm>
          <a:prstGeom prst="rect">
            <a:avLst/>
          </a:prstGeom>
        </p:spPr>
      </p:pic>
      <p:pic>
        <p:nvPicPr>
          <p:cNvPr id="10" name="anim:1:zoom:5" descr="out/m_barber.png">    </p:cNvPr>
          <p:cNvPicPr>
            <a:picLocks noChangeAspect="1"/>
          </p:cNvPicPr>
          <p:nvPr/>
        </p:nvPicPr>
        <p:blipFill>
          <a:blip r:embed="rId6"/>
          <a:stretch>
            <a:fillRect/>
          </a:stretch>
        </p:blipFill>
        <p:spPr>
          <a:xfrm>
            <a:off x="6799355" y="1783080"/>
            <a:ext cx="1063096" cy="2240280"/>
          </a:xfrm>
          <a:prstGeom prst="rect">
            <a:avLst/>
          </a:prstGeom>
        </p:spPr>
      </p:pic>
      <p:pic>
        <p:nvPicPr>
          <p:cNvPr id="11" name="anim:1:zoom:6" descr="out/m_prefs.png">    </p:cNvPr>
          <p:cNvPicPr>
            <a:picLocks noChangeAspect="1"/>
          </p:cNvPicPr>
          <p:nvPr/>
        </p:nvPicPr>
        <p:blipFill>
          <a:blip r:embed="rId7"/>
          <a:stretch>
            <a:fillRect/>
          </a:stretch>
        </p:blipFill>
        <p:spPr>
          <a:xfrm>
            <a:off x="8049498" y="1783080"/>
            <a:ext cx="1063096" cy="2240280"/>
          </a:xfrm>
          <a:prstGeom prst="rect">
            <a:avLst/>
          </a:prstGeom>
        </p:spPr>
      </p:pic>
      <p:pic>
        <p:nvPicPr>
          <p:cNvPr id="12" name="anim:1:zoom:7" descr="out/m_sched.png">    </p:cNvPr>
          <p:cNvPicPr>
            <a:picLocks noChangeAspect="1"/>
          </p:cNvPicPr>
          <p:nvPr/>
        </p:nvPicPr>
        <p:blipFill>
          <a:blip r:embed="rId8"/>
          <a:stretch>
            <a:fillRect/>
          </a:stretch>
        </p:blipFill>
        <p:spPr>
          <a:xfrm>
            <a:off x="9299641" y="1783080"/>
            <a:ext cx="1063096" cy="2240280"/>
          </a:xfrm>
          <a:prstGeom prst="rect">
            <a:avLst/>
          </a:prstGeom>
        </p:spPr>
      </p:pic>
      <p:pic>
        <p:nvPicPr>
          <p:cNvPr id="13" name="anim:1:zoom:8" descr="out/m_review.png">    </p:cNvPr>
          <p:cNvPicPr>
            <a:picLocks noChangeAspect="1"/>
          </p:cNvPicPr>
          <p:nvPr/>
        </p:nvPicPr>
        <p:blipFill>
          <a:blip r:embed="rId9"/>
          <a:stretch>
            <a:fillRect/>
          </a:stretch>
        </p:blipFill>
        <p:spPr>
          <a:xfrm>
            <a:off x="10549784" y="1783080"/>
            <a:ext cx="1063096" cy="2240280"/>
          </a:xfrm>
          <a:prstGeom prst="rect">
            <a:avLst/>
          </a:prstGeom>
        </p:spPr>
      </p:pic>
      <p:pic>
        <p:nvPicPr>
          <p:cNvPr id="14" name="anim:1:zoom:0" descr="out/m_confirm.png">    </p:cNvPr>
          <p:cNvPicPr>
            <a:picLocks noChangeAspect="1"/>
          </p:cNvPicPr>
          <p:nvPr/>
        </p:nvPicPr>
        <p:blipFill>
          <a:blip r:embed="rId10"/>
          <a:stretch>
            <a:fillRect/>
          </a:stretch>
        </p:blipFill>
        <p:spPr>
          <a:xfrm>
            <a:off x="1173712" y="4160520"/>
            <a:ext cx="1063096" cy="2240280"/>
          </a:xfrm>
          <a:prstGeom prst="rect">
            <a:avLst/>
          </a:prstGeom>
        </p:spPr>
      </p:pic>
      <p:pic>
        <p:nvPicPr>
          <p:cNvPr id="15" name="anim:1:zoom:1" descr="out/m_notif.png">    </p:cNvPr>
          <p:cNvPicPr>
            <a:picLocks noChangeAspect="1"/>
          </p:cNvPicPr>
          <p:nvPr/>
        </p:nvPicPr>
        <p:blipFill>
          <a:blip r:embed="rId11"/>
          <a:stretch>
            <a:fillRect/>
          </a:stretch>
        </p:blipFill>
        <p:spPr>
          <a:xfrm>
            <a:off x="2423855" y="4160520"/>
            <a:ext cx="1063096" cy="2240280"/>
          </a:xfrm>
          <a:prstGeom prst="rect">
            <a:avLst/>
          </a:prstGeom>
        </p:spPr>
      </p:pic>
      <p:pic>
        <p:nvPicPr>
          <p:cNvPr id="16" name="anim:1:zoom:2" descr="out/m_bookings.png">    </p:cNvPr>
          <p:cNvPicPr>
            <a:picLocks noChangeAspect="1"/>
          </p:cNvPicPr>
          <p:nvPr/>
        </p:nvPicPr>
        <p:blipFill>
          <a:blip r:embed="rId12"/>
          <a:stretch>
            <a:fillRect/>
          </a:stretch>
        </p:blipFill>
        <p:spPr>
          <a:xfrm>
            <a:off x="3673998" y="4160520"/>
            <a:ext cx="1063096" cy="2240280"/>
          </a:xfrm>
          <a:prstGeom prst="rect">
            <a:avLst/>
          </a:prstGeom>
        </p:spPr>
      </p:pic>
      <p:pic>
        <p:nvPicPr>
          <p:cNvPr id="17" name="anim:1:zoom:3" descr="out/m_cancel.png">    </p:cNvPr>
          <p:cNvPicPr>
            <a:picLocks noChangeAspect="1"/>
          </p:cNvPicPr>
          <p:nvPr/>
        </p:nvPicPr>
        <p:blipFill>
          <a:blip r:embed="rId13"/>
          <a:stretch>
            <a:fillRect/>
          </a:stretch>
        </p:blipFill>
        <p:spPr>
          <a:xfrm>
            <a:off x="4924141" y="4160520"/>
            <a:ext cx="1063096" cy="2240280"/>
          </a:xfrm>
          <a:prstGeom prst="rect">
            <a:avLst/>
          </a:prstGeom>
        </p:spPr>
      </p:pic>
      <p:pic>
        <p:nvPicPr>
          <p:cNvPr id="18" name="anim:1:zoom:4" descr="out/m_profile.png">    </p:cNvPr>
          <p:cNvPicPr>
            <a:picLocks noChangeAspect="1"/>
          </p:cNvPicPr>
          <p:nvPr/>
        </p:nvPicPr>
        <p:blipFill>
          <a:blip r:embed="rId14"/>
          <a:stretch>
            <a:fillRect/>
          </a:stretch>
        </p:blipFill>
        <p:spPr>
          <a:xfrm>
            <a:off x="6174284" y="4160520"/>
            <a:ext cx="1063096" cy="2240280"/>
          </a:xfrm>
          <a:prstGeom prst="rect">
            <a:avLst/>
          </a:prstGeom>
        </p:spPr>
      </p:pic>
      <p:pic>
        <p:nvPicPr>
          <p:cNvPr id="19" name="anim:1:zoom:5" descr="out/m_rate.png">    </p:cNvPr>
          <p:cNvPicPr>
            <a:picLocks noChangeAspect="1"/>
          </p:cNvPicPr>
          <p:nvPr/>
        </p:nvPicPr>
        <p:blipFill>
          <a:blip r:embed="rId15"/>
          <a:stretch>
            <a:fillRect/>
          </a:stretch>
        </p:blipFill>
        <p:spPr>
          <a:xfrm>
            <a:off x="7424427" y="4160520"/>
            <a:ext cx="1063096" cy="2240280"/>
          </a:xfrm>
          <a:prstGeom prst="rect">
            <a:avLst/>
          </a:prstGeom>
        </p:spPr>
      </p:pic>
      <p:pic>
        <p:nvPicPr>
          <p:cNvPr id="20" name="anim:1:zoom:6" descr="out/m_oqueue.png">    </p:cNvPr>
          <p:cNvPicPr>
            <a:picLocks noChangeAspect="1"/>
          </p:cNvPicPr>
          <p:nvPr/>
        </p:nvPicPr>
        <p:blipFill>
          <a:blip r:embed="rId16"/>
          <a:stretch>
            <a:fillRect/>
          </a:stretch>
        </p:blipFill>
        <p:spPr>
          <a:xfrm>
            <a:off x="8674570" y="4160520"/>
            <a:ext cx="1063096" cy="2240280"/>
          </a:xfrm>
          <a:prstGeom prst="rect">
            <a:avLst/>
          </a:prstGeom>
        </p:spPr>
      </p:pic>
      <p:pic>
        <p:nvPicPr>
          <p:cNvPr id="21" name="anim:1:zoom:7" descr="out/m_pcard.png">    </p:cNvPr>
          <p:cNvPicPr>
            <a:picLocks noChangeAspect="1"/>
          </p:cNvPicPr>
          <p:nvPr/>
        </p:nvPicPr>
        <p:blipFill>
          <a:blip r:embed="rId17"/>
          <a:stretch>
            <a:fillRect/>
          </a:stretch>
        </p:blipFill>
        <p:spPr>
          <a:xfrm>
            <a:off x="9924713" y="4160520"/>
            <a:ext cx="1063096" cy="224028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420" fill="hold"/>
                                        <p:tgtEl>
                                          <p:spTgt spid="5"/>
                                        </p:tgtEl>
                                        <p:attrNameLst>
                                          <p:attrName>ppt_w</p:attrName>
                                        </p:attrNameLst>
                                      </p:cBhvr>
                                      <p:tavLst>
                                        <p:tav tm="0">
                                          <p:val>
                                            <p:fltVal val="0"/>
                                          </p:val>
                                        </p:tav>
                                        <p:tav tm="100000">
                                          <p:val>
                                            <p:strVal val="#ppt_w"/>
                                          </p:val>
                                        </p:tav>
                                      </p:tavLst>
                                    </p:anim>
                                    <p:anim calcmode="lin" valueType="num">
                                      <p:cBhvr additive="base">
                                        <p:cTn id="13" dur="420" fill="hold"/>
                                        <p:tgtEl>
                                          <p:spTgt spid="5"/>
                                        </p:tgtEl>
                                        <p:attrNameLst>
                                          <p:attrName>ppt_h</p:attrName>
                                        </p:attrNameLst>
                                      </p:cBhvr>
                                      <p:tavLst>
                                        <p:tav tm="0">
                                          <p:val>
                                            <p:fltVal val="0"/>
                                          </p:val>
                                        </p:tav>
                                        <p:tav tm="100000">
                                          <p:val>
                                            <p:strVal val="#ppt_h"/>
                                          </p:val>
                                        </p:tav>
                                      </p:tavLst>
                                    </p:anim>
                                    <p:animEffect transition="in" filter="fade">
                                      <p:cBhvr>
                                        <p:cTn id="14" dur="420"/>
                                        <p:tgtEl>
                                          <p:spTgt spid="5"/>
                                        </p:tgtEl>
                                      </p:cBhvr>
                                    </p:animEffect>
                                  </p:childTnLst>
                                </p:cTn>
                              </p:par>
                              <p:par>
                                <p:cTn id="15" presetID="53" presetClass="entr" presetSubtype="16" fill="hold" nodeType="withEffect">
                                  <p:stCondLst>
                                    <p:cond delay="39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53" presetClass="entr" presetSubtype="16" fill="hold" nodeType="withEffect">
                                  <p:stCondLst>
                                    <p:cond delay="51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420" fill="hold"/>
                                        <p:tgtEl>
                                          <p:spTgt spid="7"/>
                                        </p:tgtEl>
                                        <p:attrNameLst>
                                          <p:attrName>ppt_w</p:attrName>
                                        </p:attrNameLst>
                                      </p:cBhvr>
                                      <p:tavLst>
                                        <p:tav tm="0">
                                          <p:val>
                                            <p:fltVal val="0"/>
                                          </p:val>
                                        </p:tav>
                                        <p:tav tm="100000">
                                          <p:val>
                                            <p:strVal val="#ppt_w"/>
                                          </p:val>
                                        </p:tav>
                                      </p:tavLst>
                                    </p:anim>
                                    <p:anim calcmode="lin" valueType="num">
                                      <p:cBhvr additive="base">
                                        <p:cTn id="23" dur="420" fill="hold"/>
                                        <p:tgtEl>
                                          <p:spTgt spid="7"/>
                                        </p:tgtEl>
                                        <p:attrNameLst>
                                          <p:attrName>ppt_h</p:attrName>
                                        </p:attrNameLst>
                                      </p:cBhvr>
                                      <p:tavLst>
                                        <p:tav tm="0">
                                          <p:val>
                                            <p:fltVal val="0"/>
                                          </p:val>
                                        </p:tav>
                                        <p:tav tm="100000">
                                          <p:val>
                                            <p:strVal val="#ppt_h"/>
                                          </p:val>
                                        </p:tav>
                                      </p:tavLst>
                                    </p:anim>
                                    <p:animEffect transition="in" filter="fade">
                                      <p:cBhvr>
                                        <p:cTn id="24" dur="420"/>
                                        <p:tgtEl>
                                          <p:spTgt spid="7"/>
                                        </p:tgtEl>
                                      </p:cBhvr>
                                    </p:animEffect>
                                  </p:childTnLst>
                                </p:cTn>
                              </p:par>
                              <p:par>
                                <p:cTn id="25" presetID="53" presetClass="entr" presetSubtype="16" fill="hold" nodeType="withEffect">
                                  <p:stCondLst>
                                    <p:cond delay="63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53" presetClass="entr" presetSubtype="16" fill="hold" nodeType="withEffect">
                                  <p:stCondLst>
                                    <p:cond delay="75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420" fill="hold"/>
                                        <p:tgtEl>
                                          <p:spTgt spid="9"/>
                                        </p:tgtEl>
                                        <p:attrNameLst>
                                          <p:attrName>ppt_w</p:attrName>
                                        </p:attrNameLst>
                                      </p:cBhvr>
                                      <p:tavLst>
                                        <p:tav tm="0">
                                          <p:val>
                                            <p:fltVal val="0"/>
                                          </p:val>
                                        </p:tav>
                                        <p:tav tm="100000">
                                          <p:val>
                                            <p:strVal val="#ppt_w"/>
                                          </p:val>
                                        </p:tav>
                                      </p:tavLst>
                                    </p:anim>
                                    <p:anim calcmode="lin" valueType="num">
                                      <p:cBhvr additive="base">
                                        <p:cTn id="33" dur="420" fill="hold"/>
                                        <p:tgtEl>
                                          <p:spTgt spid="9"/>
                                        </p:tgtEl>
                                        <p:attrNameLst>
                                          <p:attrName>ppt_h</p:attrName>
                                        </p:attrNameLst>
                                      </p:cBhvr>
                                      <p:tavLst>
                                        <p:tav tm="0">
                                          <p:val>
                                            <p:fltVal val="0"/>
                                          </p:val>
                                        </p:tav>
                                        <p:tav tm="100000">
                                          <p:val>
                                            <p:strVal val="#ppt_h"/>
                                          </p:val>
                                        </p:tav>
                                      </p:tavLst>
                                    </p:anim>
                                    <p:animEffect transition="in" filter="fade">
                                      <p:cBhvr>
                                        <p:cTn id="34" dur="420"/>
                                        <p:tgtEl>
                                          <p:spTgt spid="9"/>
                                        </p:tgtEl>
                                      </p:cBhvr>
                                    </p:animEffect>
                                  </p:childTnLst>
                                </p:cTn>
                              </p:par>
                              <p:par>
                                <p:cTn id="35" presetID="53" presetClass="entr" presetSubtype="16" fill="hold" nodeType="withEffect">
                                  <p:stCondLst>
                                    <p:cond delay="87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20" fill="hold"/>
                                        <p:tgtEl>
                                          <p:spTgt spid="10"/>
                                        </p:tgtEl>
                                        <p:attrNameLst>
                                          <p:attrName>ppt_w</p:attrName>
                                        </p:attrNameLst>
                                      </p:cBhvr>
                                      <p:tavLst>
                                        <p:tav tm="0">
                                          <p:val>
                                            <p:fltVal val="0"/>
                                          </p:val>
                                        </p:tav>
                                        <p:tav tm="100000">
                                          <p:val>
                                            <p:strVal val="#ppt_w"/>
                                          </p:val>
                                        </p:tav>
                                      </p:tavLst>
                                    </p:anim>
                                    <p:anim calcmode="lin" valueType="num">
                                      <p:cBhvr additive="base">
                                        <p:cTn id="38" dur="420" fill="hold"/>
                                        <p:tgtEl>
                                          <p:spTgt spid="10"/>
                                        </p:tgtEl>
                                        <p:attrNameLst>
                                          <p:attrName>ppt_h</p:attrName>
                                        </p:attrNameLst>
                                      </p:cBhvr>
                                      <p:tavLst>
                                        <p:tav tm="0">
                                          <p:val>
                                            <p:fltVal val="0"/>
                                          </p:val>
                                        </p:tav>
                                        <p:tav tm="100000">
                                          <p:val>
                                            <p:strVal val="#ppt_h"/>
                                          </p:val>
                                        </p:tav>
                                      </p:tavLst>
                                    </p:anim>
                                    <p:animEffect transition="in" filter="fade">
                                      <p:cBhvr>
                                        <p:cTn id="39" dur="420"/>
                                        <p:tgtEl>
                                          <p:spTgt spid="10"/>
                                        </p:tgtEl>
                                      </p:cBhvr>
                                    </p:animEffect>
                                  </p:childTnLst>
                                </p:cTn>
                              </p:par>
                              <p:par>
                                <p:cTn id="40" presetID="53" presetClass="entr" presetSubtype="16" fill="hold" nodeType="withEffect">
                                  <p:stCondLst>
                                    <p:cond delay="99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420" fill="hold"/>
                                        <p:tgtEl>
                                          <p:spTgt spid="11"/>
                                        </p:tgtEl>
                                        <p:attrNameLst>
                                          <p:attrName>ppt_w</p:attrName>
                                        </p:attrNameLst>
                                      </p:cBhvr>
                                      <p:tavLst>
                                        <p:tav tm="0">
                                          <p:val>
                                            <p:fltVal val="0"/>
                                          </p:val>
                                        </p:tav>
                                        <p:tav tm="100000">
                                          <p:val>
                                            <p:strVal val="#ppt_w"/>
                                          </p:val>
                                        </p:tav>
                                      </p:tavLst>
                                    </p:anim>
                                    <p:anim calcmode="lin" valueType="num">
                                      <p:cBhvr additive="base">
                                        <p:cTn id="43" dur="420" fill="hold"/>
                                        <p:tgtEl>
                                          <p:spTgt spid="11"/>
                                        </p:tgtEl>
                                        <p:attrNameLst>
                                          <p:attrName>ppt_h</p:attrName>
                                        </p:attrNameLst>
                                      </p:cBhvr>
                                      <p:tavLst>
                                        <p:tav tm="0">
                                          <p:val>
                                            <p:fltVal val="0"/>
                                          </p:val>
                                        </p:tav>
                                        <p:tav tm="100000">
                                          <p:val>
                                            <p:strVal val="#ppt_h"/>
                                          </p:val>
                                        </p:tav>
                                      </p:tavLst>
                                    </p:anim>
                                    <p:animEffect transition="in" filter="fade">
                                      <p:cBhvr>
                                        <p:cTn id="44" dur="420"/>
                                        <p:tgtEl>
                                          <p:spTgt spid="11"/>
                                        </p:tgtEl>
                                      </p:cBhvr>
                                    </p:animEffect>
                                  </p:childTnLst>
                                </p:cTn>
                              </p:par>
                              <p:par>
                                <p:cTn id="45" presetID="53" presetClass="entr" presetSubtype="16" fill="hold" nodeType="withEffect">
                                  <p:stCondLst>
                                    <p:cond delay="111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420" fill="hold"/>
                                        <p:tgtEl>
                                          <p:spTgt spid="12"/>
                                        </p:tgtEl>
                                        <p:attrNameLst>
                                          <p:attrName>ppt_w</p:attrName>
                                        </p:attrNameLst>
                                      </p:cBhvr>
                                      <p:tavLst>
                                        <p:tav tm="0">
                                          <p:val>
                                            <p:fltVal val="0"/>
                                          </p:val>
                                        </p:tav>
                                        <p:tav tm="100000">
                                          <p:val>
                                            <p:strVal val="#ppt_w"/>
                                          </p:val>
                                        </p:tav>
                                      </p:tavLst>
                                    </p:anim>
                                    <p:anim calcmode="lin" valueType="num">
                                      <p:cBhvr additive="base">
                                        <p:cTn id="48" dur="420" fill="hold"/>
                                        <p:tgtEl>
                                          <p:spTgt spid="12"/>
                                        </p:tgtEl>
                                        <p:attrNameLst>
                                          <p:attrName>ppt_h</p:attrName>
                                        </p:attrNameLst>
                                      </p:cBhvr>
                                      <p:tavLst>
                                        <p:tav tm="0">
                                          <p:val>
                                            <p:fltVal val="0"/>
                                          </p:val>
                                        </p:tav>
                                        <p:tav tm="100000">
                                          <p:val>
                                            <p:strVal val="#ppt_h"/>
                                          </p:val>
                                        </p:tav>
                                      </p:tavLst>
                                    </p:anim>
                                    <p:animEffect transition="in" filter="fade">
                                      <p:cBhvr>
                                        <p:cTn id="49" dur="420"/>
                                        <p:tgtEl>
                                          <p:spTgt spid="12"/>
                                        </p:tgtEl>
                                      </p:cBhvr>
                                    </p:animEffect>
                                  </p:childTnLst>
                                </p:cTn>
                              </p:par>
                              <p:par>
                                <p:cTn id="50" presetID="53" presetClass="entr" presetSubtype="16" fill="hold" nodeType="withEffect">
                                  <p:stCondLst>
                                    <p:cond delay="123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420" fill="hold"/>
                                        <p:tgtEl>
                                          <p:spTgt spid="13"/>
                                        </p:tgtEl>
                                        <p:attrNameLst>
                                          <p:attrName>ppt_w</p:attrName>
                                        </p:attrNameLst>
                                      </p:cBhvr>
                                      <p:tavLst>
                                        <p:tav tm="0">
                                          <p:val>
                                            <p:fltVal val="0"/>
                                          </p:val>
                                        </p:tav>
                                        <p:tav tm="100000">
                                          <p:val>
                                            <p:strVal val="#ppt_w"/>
                                          </p:val>
                                        </p:tav>
                                      </p:tavLst>
                                    </p:anim>
                                    <p:anim calcmode="lin" valueType="num">
                                      <p:cBhvr additive="base">
                                        <p:cTn id="53" dur="420" fill="hold"/>
                                        <p:tgtEl>
                                          <p:spTgt spid="13"/>
                                        </p:tgtEl>
                                        <p:attrNameLst>
                                          <p:attrName>ppt_h</p:attrName>
                                        </p:attrNameLst>
                                      </p:cBhvr>
                                      <p:tavLst>
                                        <p:tav tm="0">
                                          <p:val>
                                            <p:fltVal val="0"/>
                                          </p:val>
                                        </p:tav>
                                        <p:tav tm="100000">
                                          <p:val>
                                            <p:strVal val="#ppt_h"/>
                                          </p:val>
                                        </p:tav>
                                      </p:tavLst>
                                    </p:anim>
                                    <p:animEffect transition="in" filter="fade">
                                      <p:cBhvr>
                                        <p:cTn id="54" dur="420"/>
                                        <p:tgtEl>
                                          <p:spTgt spid="13"/>
                                        </p:tgtEl>
                                      </p:cBhvr>
                                    </p:animEffect>
                                  </p:childTnLst>
                                </p:cTn>
                              </p:par>
                              <p:par>
                                <p:cTn id="55" presetID="53" presetClass="entr" presetSubtype="16" fill="hold" nodeType="withEffect">
                                  <p:stCondLst>
                                    <p:cond delay="27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420" fill="hold"/>
                                        <p:tgtEl>
                                          <p:spTgt spid="14"/>
                                        </p:tgtEl>
                                        <p:attrNameLst>
                                          <p:attrName>ppt_w</p:attrName>
                                        </p:attrNameLst>
                                      </p:cBhvr>
                                      <p:tavLst>
                                        <p:tav tm="0">
                                          <p:val>
                                            <p:fltVal val="0"/>
                                          </p:val>
                                        </p:tav>
                                        <p:tav tm="100000">
                                          <p:val>
                                            <p:strVal val="#ppt_w"/>
                                          </p:val>
                                        </p:tav>
                                      </p:tavLst>
                                    </p:anim>
                                    <p:anim calcmode="lin" valueType="num">
                                      <p:cBhvr additive="base">
                                        <p:cTn id="58" dur="420" fill="hold"/>
                                        <p:tgtEl>
                                          <p:spTgt spid="14"/>
                                        </p:tgtEl>
                                        <p:attrNameLst>
                                          <p:attrName>ppt_h</p:attrName>
                                        </p:attrNameLst>
                                      </p:cBhvr>
                                      <p:tavLst>
                                        <p:tav tm="0">
                                          <p:val>
                                            <p:fltVal val="0"/>
                                          </p:val>
                                        </p:tav>
                                        <p:tav tm="100000">
                                          <p:val>
                                            <p:strVal val="#ppt_h"/>
                                          </p:val>
                                        </p:tav>
                                      </p:tavLst>
                                    </p:anim>
                                    <p:animEffect transition="in" filter="fade">
                                      <p:cBhvr>
                                        <p:cTn id="59" dur="420"/>
                                        <p:tgtEl>
                                          <p:spTgt spid="14"/>
                                        </p:tgtEl>
                                      </p:cBhvr>
                                    </p:animEffect>
                                  </p:childTnLst>
                                </p:cTn>
                              </p:par>
                              <p:par>
                                <p:cTn id="60" presetID="53" presetClass="entr" presetSubtype="16" fill="hold" nodeType="withEffect">
                                  <p:stCondLst>
                                    <p:cond delay="39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20" fill="hold"/>
                                        <p:tgtEl>
                                          <p:spTgt spid="15"/>
                                        </p:tgtEl>
                                        <p:attrNameLst>
                                          <p:attrName>ppt_w</p:attrName>
                                        </p:attrNameLst>
                                      </p:cBhvr>
                                      <p:tavLst>
                                        <p:tav tm="0">
                                          <p:val>
                                            <p:fltVal val="0"/>
                                          </p:val>
                                        </p:tav>
                                        <p:tav tm="100000">
                                          <p:val>
                                            <p:strVal val="#ppt_w"/>
                                          </p:val>
                                        </p:tav>
                                      </p:tavLst>
                                    </p:anim>
                                    <p:anim calcmode="lin" valueType="num">
                                      <p:cBhvr additive="base">
                                        <p:cTn id="63" dur="420" fill="hold"/>
                                        <p:tgtEl>
                                          <p:spTgt spid="15"/>
                                        </p:tgtEl>
                                        <p:attrNameLst>
                                          <p:attrName>ppt_h</p:attrName>
                                        </p:attrNameLst>
                                      </p:cBhvr>
                                      <p:tavLst>
                                        <p:tav tm="0">
                                          <p:val>
                                            <p:fltVal val="0"/>
                                          </p:val>
                                        </p:tav>
                                        <p:tav tm="100000">
                                          <p:val>
                                            <p:strVal val="#ppt_h"/>
                                          </p:val>
                                        </p:tav>
                                      </p:tavLst>
                                    </p:anim>
                                    <p:animEffect transition="in" filter="fade">
                                      <p:cBhvr>
                                        <p:cTn id="64" dur="420"/>
                                        <p:tgtEl>
                                          <p:spTgt spid="15"/>
                                        </p:tgtEl>
                                      </p:cBhvr>
                                    </p:animEffect>
                                  </p:childTnLst>
                                </p:cTn>
                              </p:par>
                              <p:par>
                                <p:cTn id="65" presetID="53" presetClass="entr" presetSubtype="16" fill="hold" nodeType="withEffect">
                                  <p:stCondLst>
                                    <p:cond delay="51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420" fill="hold"/>
                                        <p:tgtEl>
                                          <p:spTgt spid="16"/>
                                        </p:tgtEl>
                                        <p:attrNameLst>
                                          <p:attrName>ppt_w</p:attrName>
                                        </p:attrNameLst>
                                      </p:cBhvr>
                                      <p:tavLst>
                                        <p:tav tm="0">
                                          <p:val>
                                            <p:fltVal val="0"/>
                                          </p:val>
                                        </p:tav>
                                        <p:tav tm="100000">
                                          <p:val>
                                            <p:strVal val="#ppt_w"/>
                                          </p:val>
                                        </p:tav>
                                      </p:tavLst>
                                    </p:anim>
                                    <p:anim calcmode="lin" valueType="num">
                                      <p:cBhvr additive="base">
                                        <p:cTn id="68" dur="420" fill="hold"/>
                                        <p:tgtEl>
                                          <p:spTgt spid="16"/>
                                        </p:tgtEl>
                                        <p:attrNameLst>
                                          <p:attrName>ppt_h</p:attrName>
                                        </p:attrNameLst>
                                      </p:cBhvr>
                                      <p:tavLst>
                                        <p:tav tm="0">
                                          <p:val>
                                            <p:fltVal val="0"/>
                                          </p:val>
                                        </p:tav>
                                        <p:tav tm="100000">
                                          <p:val>
                                            <p:strVal val="#ppt_h"/>
                                          </p:val>
                                        </p:tav>
                                      </p:tavLst>
                                    </p:anim>
                                    <p:animEffect transition="in" filter="fade">
                                      <p:cBhvr>
                                        <p:cTn id="69" dur="420"/>
                                        <p:tgtEl>
                                          <p:spTgt spid="16"/>
                                        </p:tgtEl>
                                      </p:cBhvr>
                                    </p:animEffect>
                                  </p:childTnLst>
                                </p:cTn>
                              </p:par>
                              <p:par>
                                <p:cTn id="70" presetID="53" presetClass="entr" presetSubtype="16" fill="hold" nodeType="withEffect">
                                  <p:stCondLst>
                                    <p:cond delay="63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420" fill="hold"/>
                                        <p:tgtEl>
                                          <p:spTgt spid="17"/>
                                        </p:tgtEl>
                                        <p:attrNameLst>
                                          <p:attrName>ppt_w</p:attrName>
                                        </p:attrNameLst>
                                      </p:cBhvr>
                                      <p:tavLst>
                                        <p:tav tm="0">
                                          <p:val>
                                            <p:fltVal val="0"/>
                                          </p:val>
                                        </p:tav>
                                        <p:tav tm="100000">
                                          <p:val>
                                            <p:strVal val="#ppt_w"/>
                                          </p:val>
                                        </p:tav>
                                      </p:tavLst>
                                    </p:anim>
                                    <p:anim calcmode="lin" valueType="num">
                                      <p:cBhvr additive="base">
                                        <p:cTn id="73" dur="420" fill="hold"/>
                                        <p:tgtEl>
                                          <p:spTgt spid="17"/>
                                        </p:tgtEl>
                                        <p:attrNameLst>
                                          <p:attrName>ppt_h</p:attrName>
                                        </p:attrNameLst>
                                      </p:cBhvr>
                                      <p:tavLst>
                                        <p:tav tm="0">
                                          <p:val>
                                            <p:fltVal val="0"/>
                                          </p:val>
                                        </p:tav>
                                        <p:tav tm="100000">
                                          <p:val>
                                            <p:strVal val="#ppt_h"/>
                                          </p:val>
                                        </p:tav>
                                      </p:tavLst>
                                    </p:anim>
                                    <p:animEffect transition="in" filter="fade">
                                      <p:cBhvr>
                                        <p:cTn id="74" dur="420"/>
                                        <p:tgtEl>
                                          <p:spTgt spid="17"/>
                                        </p:tgtEl>
                                      </p:cBhvr>
                                    </p:animEffect>
                                  </p:childTnLst>
                                </p:cTn>
                              </p:par>
                              <p:par>
                                <p:cTn id="75" presetID="53" presetClass="entr" presetSubtype="16" fill="hold" nodeType="withEffect">
                                  <p:stCondLst>
                                    <p:cond delay="75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420" fill="hold"/>
                                        <p:tgtEl>
                                          <p:spTgt spid="18"/>
                                        </p:tgtEl>
                                        <p:attrNameLst>
                                          <p:attrName>ppt_w</p:attrName>
                                        </p:attrNameLst>
                                      </p:cBhvr>
                                      <p:tavLst>
                                        <p:tav tm="0">
                                          <p:val>
                                            <p:fltVal val="0"/>
                                          </p:val>
                                        </p:tav>
                                        <p:tav tm="100000">
                                          <p:val>
                                            <p:strVal val="#ppt_w"/>
                                          </p:val>
                                        </p:tav>
                                      </p:tavLst>
                                    </p:anim>
                                    <p:anim calcmode="lin" valueType="num">
                                      <p:cBhvr additive="base">
                                        <p:cTn id="78" dur="420" fill="hold"/>
                                        <p:tgtEl>
                                          <p:spTgt spid="18"/>
                                        </p:tgtEl>
                                        <p:attrNameLst>
                                          <p:attrName>ppt_h</p:attrName>
                                        </p:attrNameLst>
                                      </p:cBhvr>
                                      <p:tavLst>
                                        <p:tav tm="0">
                                          <p:val>
                                            <p:fltVal val="0"/>
                                          </p:val>
                                        </p:tav>
                                        <p:tav tm="100000">
                                          <p:val>
                                            <p:strVal val="#ppt_h"/>
                                          </p:val>
                                        </p:tav>
                                      </p:tavLst>
                                    </p:anim>
                                    <p:animEffect transition="in" filter="fade">
                                      <p:cBhvr>
                                        <p:cTn id="79" dur="420"/>
                                        <p:tgtEl>
                                          <p:spTgt spid="18"/>
                                        </p:tgtEl>
                                      </p:cBhvr>
                                    </p:animEffect>
                                  </p:childTnLst>
                                </p:cTn>
                              </p:par>
                              <p:par>
                                <p:cTn id="80" presetID="53" presetClass="entr" presetSubtype="16" fill="hold" nodeType="withEffect">
                                  <p:stCondLst>
                                    <p:cond delay="87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420" fill="hold"/>
                                        <p:tgtEl>
                                          <p:spTgt spid="19"/>
                                        </p:tgtEl>
                                        <p:attrNameLst>
                                          <p:attrName>ppt_w</p:attrName>
                                        </p:attrNameLst>
                                      </p:cBhvr>
                                      <p:tavLst>
                                        <p:tav tm="0">
                                          <p:val>
                                            <p:fltVal val="0"/>
                                          </p:val>
                                        </p:tav>
                                        <p:tav tm="100000">
                                          <p:val>
                                            <p:strVal val="#ppt_w"/>
                                          </p:val>
                                        </p:tav>
                                      </p:tavLst>
                                    </p:anim>
                                    <p:anim calcmode="lin" valueType="num">
                                      <p:cBhvr additive="base">
                                        <p:cTn id="83" dur="420" fill="hold"/>
                                        <p:tgtEl>
                                          <p:spTgt spid="19"/>
                                        </p:tgtEl>
                                        <p:attrNameLst>
                                          <p:attrName>ppt_h</p:attrName>
                                        </p:attrNameLst>
                                      </p:cBhvr>
                                      <p:tavLst>
                                        <p:tav tm="0">
                                          <p:val>
                                            <p:fltVal val="0"/>
                                          </p:val>
                                        </p:tav>
                                        <p:tav tm="100000">
                                          <p:val>
                                            <p:strVal val="#ppt_h"/>
                                          </p:val>
                                        </p:tav>
                                      </p:tavLst>
                                    </p:anim>
                                    <p:animEffect transition="in" filter="fade">
                                      <p:cBhvr>
                                        <p:cTn id="84" dur="420"/>
                                        <p:tgtEl>
                                          <p:spTgt spid="19"/>
                                        </p:tgtEl>
                                      </p:cBhvr>
                                    </p:animEffect>
                                  </p:childTnLst>
                                </p:cTn>
                              </p:par>
                              <p:par>
                                <p:cTn id="85" presetID="53" presetClass="entr" presetSubtype="16" fill="hold" nodeType="withEffect">
                                  <p:stCondLst>
                                    <p:cond delay="99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420" fill="hold"/>
                                        <p:tgtEl>
                                          <p:spTgt spid="20"/>
                                        </p:tgtEl>
                                        <p:attrNameLst>
                                          <p:attrName>ppt_w</p:attrName>
                                        </p:attrNameLst>
                                      </p:cBhvr>
                                      <p:tavLst>
                                        <p:tav tm="0">
                                          <p:val>
                                            <p:fltVal val="0"/>
                                          </p:val>
                                        </p:tav>
                                        <p:tav tm="100000">
                                          <p:val>
                                            <p:strVal val="#ppt_w"/>
                                          </p:val>
                                        </p:tav>
                                      </p:tavLst>
                                    </p:anim>
                                    <p:anim calcmode="lin" valueType="num">
                                      <p:cBhvr additive="base">
                                        <p:cTn id="88" dur="420" fill="hold"/>
                                        <p:tgtEl>
                                          <p:spTgt spid="20"/>
                                        </p:tgtEl>
                                        <p:attrNameLst>
                                          <p:attrName>ppt_h</p:attrName>
                                        </p:attrNameLst>
                                      </p:cBhvr>
                                      <p:tavLst>
                                        <p:tav tm="0">
                                          <p:val>
                                            <p:fltVal val="0"/>
                                          </p:val>
                                        </p:tav>
                                        <p:tav tm="100000">
                                          <p:val>
                                            <p:strVal val="#ppt_h"/>
                                          </p:val>
                                        </p:tav>
                                      </p:tavLst>
                                    </p:anim>
                                    <p:animEffect transition="in" filter="fade">
                                      <p:cBhvr>
                                        <p:cTn id="89" dur="420"/>
                                        <p:tgtEl>
                                          <p:spTgt spid="20"/>
                                        </p:tgtEl>
                                      </p:cBhvr>
                                    </p:animEffect>
                                  </p:childTnLst>
                                </p:cTn>
                              </p:par>
                              <p:par>
                                <p:cTn id="90" presetID="53" presetClass="entr" presetSubtype="16" fill="hold" nodeType="withEffect">
                                  <p:stCondLst>
                                    <p:cond delay="111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420" fill="hold"/>
                                        <p:tgtEl>
                                          <p:spTgt spid="21"/>
                                        </p:tgtEl>
                                        <p:attrNameLst>
                                          <p:attrName>ppt_w</p:attrName>
                                        </p:attrNameLst>
                                      </p:cBhvr>
                                      <p:tavLst>
                                        <p:tav tm="0">
                                          <p:val>
                                            <p:fltVal val="0"/>
                                          </p:val>
                                        </p:tav>
                                        <p:tav tm="100000">
                                          <p:val>
                                            <p:strVal val="#ppt_w"/>
                                          </p:val>
                                        </p:tav>
                                      </p:tavLst>
                                    </p:anim>
                                    <p:anim calcmode="lin" valueType="num">
                                      <p:cBhvr additive="base">
                                        <p:cTn id="93" dur="420" fill="hold"/>
                                        <p:tgtEl>
                                          <p:spTgt spid="21"/>
                                        </p:tgtEl>
                                        <p:attrNameLst>
                                          <p:attrName>ppt_h</p:attrName>
                                        </p:attrNameLst>
                                      </p:cBhvr>
                                      <p:tavLst>
                                        <p:tav tm="0">
                                          <p:val>
                                            <p:fltVal val="0"/>
                                          </p:val>
                                        </p:tav>
                                        <p:tav tm="100000">
                                          <p:val>
                                            <p:strVal val="#ppt_h"/>
                                          </p:val>
                                        </p:tav>
                                      </p:tavLst>
                                    </p:anim>
                                    <p:animEffect transition="in" filter="fade">
                                      <p:cBhvr>
                                        <p:cTn id="94"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50FF"/>
        </a:solidFill>
      </p:bgPr>
    </p:bg>
    <p:spTree>
      <p:nvGrpSpPr>
        <p:cNvPr id="1" name=""/>
        <p:cNvGrpSpPr/>
        <p:nvPr/>
      </p:nvGrpSpPr>
      <p:grpSpPr>
        <a:xfrm>
          <a:off x="0" y="0"/>
          <a:ext cx="0" cy="0"/>
          <a:chOff x="0" y="0"/>
          <a:chExt cx="0" cy="0"/>
        </a:xfrm>
      </p:grpSpPr>
      <p:pic>
        <p:nvPicPr>
          <p:cNvPr id="2" name="anim:3:float:0" descr="out/m_confirm.png">    </p:cNvPr>
          <p:cNvPicPr>
            <a:picLocks noChangeAspect="1"/>
          </p:cNvPicPr>
          <p:nvPr/>
        </p:nvPicPr>
        <p:blipFill>
          <a:blip r:embed="rId1"/>
          <a:stretch>
            <a:fillRect/>
          </a:stretch>
        </p:blipFill>
        <p:spPr>
          <a:xfrm rot="360000">
            <a:off x="8229600" y="640080"/>
            <a:ext cx="2646892" cy="5577840"/>
          </a:xfrm>
          <a:prstGeom prst="rect">
            <a:avLst/>
          </a:prstGeom>
        </p:spPr>
      </p:pic>
      <p:sp>
        <p:nvSpPr>
          <p:cNvPr id="3" name="anim:1:zoom:0"/>
          <p:cNvSpPr txBox="1"/>
          <p:nvPr/>
        </p:nvSpPr>
        <p:spPr>
          <a:xfrm rot="-120000">
            <a:off x="731520" y="1188720"/>
            <a:ext cx="6766560" cy="2194560"/>
          </a:xfrm>
          <a:prstGeom prst="roundRect">
            <a:avLst>
              <a:gd name="adj" fmla="val 5833"/>
            </a:avLst>
          </a:prstGeom>
          <a:solidFill>
            <a:srgbClr val="FFFFFF"/>
          </a:solidFill>
          <a:ln w="44450">
            <a:solidFill>
              <a:srgbClr val="000000"/>
            </a:solidFill>
          </a:ln>
          <a:effectLst>
            <a:outerShdw sx="100000" sy="100000" kx="0" ky="0" algn="bl" rotWithShape="0" blurRad="101600" dist="127000" dir="2700000">
              <a:srgbClr val="000000">
                <a:alpha val="100000"/>
              </a:srgbClr>
            </a:outerShdw>
          </a:effectLst>
        </p:spPr>
        <p:txBody>
          <a:bodyPr wrap="square" lIns="279400" tIns="279400" rIns="279400" bIns="279400" rtlCol="0" anchor="ctr"/>
          <a:lstStyle/>
          <a:p>
            <a:pPr algn="l" indent="0" marL="0">
              <a:buNone/>
            </a:pPr>
            <a:r>
              <a:rPr lang="en-US" sz="5400" b="1" dirty="0">
                <a:solidFill>
                  <a:srgbClr val="000000"/>
                </a:solidFill>
                <a:latin typeface="Arial" pitchFamily="34" charset="0"/>
                <a:ea typeface="Arial" pitchFamily="34" charset="-122"/>
                <a:cs typeface="Arial" pitchFamily="34" charset="-120"/>
              </a:rPr>
              <a:t>EXCITED?</a:t>
            </a:r>
            <a:endParaRPr lang="en-US" sz="5400" dirty="0"/>
          </a:p>
          <a:p>
            <a:pPr algn="l" indent="0" marL="0">
              <a:buNone/>
            </a:pPr>
            <a:r>
              <a:rPr lang="en-US" sz="5400" b="1" dirty="0">
                <a:solidFill>
                  <a:srgbClr val="1E50FF"/>
                </a:solidFill>
                <a:latin typeface="Arial" pitchFamily="34" charset="0"/>
                <a:ea typeface="Arial" pitchFamily="34" charset="-122"/>
                <a:cs typeface="Arial" pitchFamily="34" charset="-120"/>
              </a:rPr>
              <a:t>SO ARE WE.</a:t>
            </a:r>
            <a:endParaRPr lang="en-US" sz="5400" dirty="0"/>
          </a:p>
        </p:txBody>
      </p:sp>
      <p:sp>
        <p:nvSpPr>
          <p:cNvPr id="4" name="anim:2:float:0"/>
          <p:cNvSpPr txBox="1"/>
          <p:nvPr/>
        </p:nvSpPr>
        <p:spPr>
          <a:xfrm rot="120000">
            <a:off x="1188720" y="3840480"/>
            <a:ext cx="5852160" cy="731520"/>
          </a:xfrm>
          <a:prstGeom prst="roundRect">
            <a:avLst>
              <a:gd name="adj" fmla="val 12500"/>
            </a:avLst>
          </a:prstGeom>
          <a:solidFill>
            <a:srgbClr val="FFE600"/>
          </a:solidFill>
          <a:ln w="31750">
            <a:solidFill>
              <a:srgbClr val="000000"/>
            </a:solidFill>
          </a:ln>
          <a:effectLst>
            <a:outerShdw sx="100000" sy="100000" kx="0" ky="0" algn="bl" rotWithShape="0" blurRad="101600" dist="63500" dir="2700000">
              <a:srgbClr val="000000">
                <a:alpha val="100000"/>
              </a:srgbClr>
            </a:outerShdw>
          </a:effectLst>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Coming to </a:t>
            </a:r>
            <a:pPr algn="ctr" indent="0" marL="0">
              <a:buNone/>
            </a:pPr>
            <a:r>
              <a:rPr lang="en-US" sz="1800" b="1" dirty="0">
                <a:solidFill>
                  <a:srgbClr val="000000"/>
                </a:solidFill>
                <a:highlight>
                  <a:srgbClr val="FFFF00"/>
                </a:highlight>
                <a:latin typeface="Arial" pitchFamily="34" charset="0"/>
                <a:ea typeface="Arial" pitchFamily="34" charset="-122"/>
                <a:cs typeface="Arial" pitchFamily="34" charset="-120"/>
              </a:rPr>
              <a:t>[Partner Barbershop]</a:t>
            </a:r>
            <a:pPr algn="ctr" indent="0" marL="0">
              <a:buNone/>
            </a:pPr>
            <a:r>
              <a:rPr lang="en-US" sz="1800" b="1" dirty="0">
                <a:solidFill>
                  <a:srgbClr val="000000"/>
                </a:solidFill>
                <a:latin typeface="Arial" pitchFamily="34" charset="0"/>
                <a:ea typeface="Arial" pitchFamily="34" charset="-122"/>
                <a:cs typeface="Arial" pitchFamily="34" charset="-120"/>
              </a:rPr>
              <a:t> · 2027</a:t>
            </a:r>
            <a:endParaRPr lang="en-US" sz="1800" dirty="0"/>
          </a:p>
        </p:txBody>
      </p:sp>
      <p:sp>
        <p:nvSpPr>
          <p:cNvPr id="5" name="anim:4:fade:0"/>
          <p:cNvSpPr txBox="1"/>
          <p:nvPr/>
        </p:nvSpPr>
        <p:spPr>
          <a:xfrm>
            <a:off x="731520" y="5120640"/>
            <a:ext cx="6858000" cy="731520"/>
          </a:xfrm>
          <a:prstGeom prst="rect">
            <a:avLst/>
          </a:prstGeom>
          <a:noFill/>
          <a:ln/>
        </p:spPr>
        <p:txBody>
          <a:bodyPr wrap="square" lIns="0" tIns="0" rIns="0" bIns="0" rtlCol="0" anchor="t"/>
          <a:lstStyle/>
          <a:p>
            <a:pPr indent="0" marL="0">
              <a:buNone/>
            </a:pPr>
            <a:r>
              <a:rPr lang="en-US" sz="1300" b="1" dirty="0">
                <a:solidFill>
                  <a:srgbClr val="DCE6FF"/>
                </a:solidFill>
                <a:latin typeface="Arial" pitchFamily="34" charset="0"/>
                <a:ea typeface="Arial" pitchFamily="34" charset="-122"/>
                <a:cs typeface="Arial" pitchFamily="34" charset="-120"/>
              </a:rPr>
              <a:t>Proposed designs only. Final colors, photos, and shop details will follow the interview with the partner barbershop.</a:t>
            </a:r>
            <a:endParaRPr lang="en-US" sz="1300" dirty="0"/>
          </a:p>
        </p:txBody>
      </p:sp>
    </p:spTree>
  </p:cSld>
  <p:clrMapOvr>
    <a:masterClrMapping/>
  </p:clrMapOvr>
  <p:transition spd="med">
    <p:split orient="horz"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420" fill="hold"/>
                                        <p:tgtEl>
                                          <p:spTgt spid="3"/>
                                        </p:tgtEl>
                                        <p:attrNameLst>
                                          <p:attrName>ppt_w</p:attrName>
                                        </p:attrNameLst>
                                      </p:cBhvr>
                                      <p:tavLst>
                                        <p:tav tm="0">
                                          <p:val>
                                            <p:fltVal val="0"/>
                                          </p:val>
                                        </p:tav>
                                        <p:tav tm="100000">
                                          <p:val>
                                            <p:strVal val="#ppt_w"/>
                                          </p:val>
                                        </p:tav>
                                      </p:tavLst>
                                    </p:anim>
                                    <p:anim calcmode="lin" valueType="num">
                                      <p:cBhvr additive="base">
                                        <p:cTn id="8" dur="420" fill="hold"/>
                                        <p:tgtEl>
                                          <p:spTgt spid="3"/>
                                        </p:tgtEl>
                                        <p:attrNameLst>
                                          <p:attrName>ppt_h</p:attrName>
                                        </p:attrNameLst>
                                      </p:cBhvr>
                                      <p:tavLst>
                                        <p:tav tm="0">
                                          <p:val>
                                            <p:fltVal val="0"/>
                                          </p:val>
                                        </p:tav>
                                        <p:tav tm="100000">
                                          <p:val>
                                            <p:strVal val="#ppt_h"/>
                                          </p:val>
                                        </p:tav>
                                      </p:tavLst>
                                    </p:anim>
                                    <p:animEffect transition="in" filter="fade">
                                      <p:cBhvr>
                                        <p:cTn id="9" dur="420"/>
                                        <p:tgtEl>
                                          <p:spTgt spid="3"/>
                                        </p:tgtEl>
                                      </p:cBhvr>
                                    </p:animEffect>
                                  </p:childTnLst>
                                </p:cTn>
                              </p:par>
                              <p:par>
                                <p:cTn id="10" presetID="42" presetClass="entr" presetSubtype="0" fill="hold" nodeType="withEffect">
                                  <p:stCondLst>
                                    <p:cond delay="2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ppt_x</p:attrName>
                                        </p:attrNameLst>
                                      </p:cBhvr>
                                      <p:tavLst>
                                        <p:tav tm="0">
                                          <p:val>
                                            <p:strVal val="#ppt_x"/>
                                          </p:val>
                                        </p:tav>
                                        <p:tav tm="100000">
                                          <p:val>
                                            <p:strVal val="#ppt_x"/>
                                          </p:val>
                                        </p:tav>
                                      </p:tavLst>
                                    </p:anim>
                                    <p:anim calcmode="lin" valueType="num">
                                      <p:cBhvr additive="base">
                                        <p:cTn id="14" dur="5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7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50"/>
                                        <p:tgtEl>
                                          <p:spTgt spid="2"/>
                                        </p:tgtEl>
                                      </p:cBhvr>
                                    </p:animEffect>
                                    <p:anim calcmode="lin" valueType="num">
                                      <p:cBhvr additive="base">
                                        <p:cTn id="18" dur="550" fill="hold"/>
                                        <p:tgtEl>
                                          <p:spTgt spid="2"/>
                                        </p:tgtEl>
                                        <p:attrNameLst>
                                          <p:attrName>ppt_x</p:attrName>
                                        </p:attrNameLst>
                                      </p:cBhvr>
                                      <p:tavLst>
                                        <p:tav tm="0">
                                          <p:val>
                                            <p:strVal val="#ppt_x"/>
                                          </p:val>
                                        </p:tav>
                                        <p:tav tm="100000">
                                          <p:val>
                                            <p:strVal val="#ppt_x"/>
                                          </p:val>
                                        </p:tav>
                                      </p:tavLst>
                                    </p:anim>
                                    <p:anim calcmode="lin" valueType="num">
                                      <p:cBhvr additive="base">
                                        <p:cTn id="19" dur="550" fill="hold"/>
                                        <p:tgtEl>
                                          <p:spTgt spid="2"/>
                                        </p:tgtEl>
                                        <p:attrNameLst>
                                          <p:attrName>ppt_y</p:attrName>
                                        </p:attrNameLst>
                                      </p:cBhvr>
                                      <p:tavLst>
                                        <p:tav tm="0">
                                          <p:val>
                                            <p:strVal val="#ppt_y+.1"/>
                                          </p:val>
                                        </p:tav>
                                        <p:tav tm="100000">
                                          <p:val>
                                            <p:strVal val="#ppt_y"/>
                                          </p:val>
                                        </p:tav>
                                      </p:tavLst>
                                    </p:anim>
                                  </p:childTnLst>
                                </p:cTn>
                              </p:par>
                              <p:par>
                                <p:cTn id="20" presetID="10" presetClass="entr" presetSubtype="0" fill="hold" nodeType="withEffect">
                                  <p:stCondLst>
                                    <p:cond delay="107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BarberBook PH UI Showcase</dc:title>
  <dc:subject>PptxGenJS Presentation</dc:subject>
  <dc:creator>PptxGenJS</dc:creator>
  <cp:lastModifiedBy>PptxGenJS</cp:lastModifiedBy>
  <cp:revision>1</cp:revision>
  <dcterms:created xsi:type="dcterms:W3CDTF">2026-09-30T00:24:28Z</dcterms:created>
  <dcterms:modified xsi:type="dcterms:W3CDTF">2026-09-30T00:24:28Z</dcterms:modified>
</cp:coreProperties>
</file>